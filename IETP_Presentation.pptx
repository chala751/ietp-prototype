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project title, the problem domain (smart lighting), and your team. Mention that this is a full-stack IoT project combining ESP32 hardware, a REST API, and a Next.js web dashboard. Point to the live Wokwi simulation and the deployed web application links shown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core problems: (1) Traditional lighting wastes energy because there is no feedback from the environment. (2) Manual operation is inefficient and unreliable. (3) There is no monitoring or automation capability. The comparison on the right shows how our smart system addresses each of these. Use this slide to justify the need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four objectives. Objective 1 is about sensing: the LDR converts light to voltage, the ESP32 ADC reads it as 0–4095, then converts to percentage. Objective 2 is automation: the firmware compares the reading against the threshold and switches the LED. Objective 3 is the web app: a full Next.js dashboard with charts, controls, and analytics. Objective 4 is the communication layer: HTTP POST from device to cloud, GET from dashboard to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is IN scope: single-room lighting, threshold automation, real-time web monitoring via REST API, and simulation-based testing. Also note what is OUT of scope: multi-room, MQTT, PCB hardware. The application domains on the right show how this prototype can be extended to real-world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layers of the architecture. Software: Next.js web app handles both the frontend dashboard and backend API routes. Hardware: ESP32 reads the LDR via ADC and controls the LED GPIO. Communication: HTTP REST over Wi-Fi is used because it requires no broker, integrates naturally with Next.js, and is easy to debug. The flow diagram at the bottom shows the end-to-end data path from sensor to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 steps in order. Emphasise step 3 — the ADC conversion formula. Step 4 is the threshold comparison — this is the core of the automation. The threshold bar diagram shows the cutoff point visually. The mode table on the bottom-left explains how ledMode (auto/on/off) interacts with the threshold. The ADC range bars on the right map raw percentage values to human-readable intensity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measured performance results. Key highlights: 98% packet success rate confirms reliable Wi-Fi communication; LED response of 300 ms is well within the 1-second acceptable threshold; API latency of 1.2 seconds is caused by polling interval, not network delay. The bar chart shows all percentage-based metrics above 90%, which is excellent. The data snapshot at the bottom shows a representative reading captured during simulation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each limitation. The most critical ones for academic review are: (1) hysteresis — explain what it is (a dead-band to prevent rapid switching near the threshold), (2) security — the REST API uses no device authentication, and (3) simulation-only validation. Emphasise that these are known limitations with planned solutions, not design failures. The note at the bottom links to the next slide's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roadmap. Prioritise: (1) MQTT for real-time push, eliminating polling overhead; (2) TLS/JWT for security before any real deployment; (3) PCB design to replace the breadboard prototype. Machine learning and mobile apps are medium-term. Multi-room scalability is a long-term goal. Sensor calibration should happen as soon as real hardware is tested. This shows the examiner that you have thought beyond the prototype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a strong, confident conclusion. Summarise the four main achievements: (1) working threshold-based automation, (2) reliable REST API communication, (3) real-time web monitoring, (4) scalable architecture. Quote the 98% success rate as evidence of reliability. Invite questions, and if asked, you can demonstrate the live dashboard at ietp-prototype.vercel.app/light or show the Wokwi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583680" cy="6858000"/>
          </a:xfrm>
          <a:prstGeom prst="rect">
            <a:avLst/>
          </a:prstGeom>
          <a:solidFill>
            <a:srgbClr val="0D2B5E"/>
          </a:solidFill>
          <a:ln w="12700">
            <a:solidFill>
              <a:srgbClr val="0D2B5E"/>
            </a:solidFill>
            <a:prstDash val="solid"/>
          </a:ln>
        </p:spPr>
      </p:sp>
      <p:sp>
        <p:nvSpPr>
          <p:cNvPr id="3" name="Shape 1"/>
          <p:cNvSpPr/>
          <p:nvPr/>
        </p:nvSpPr>
        <p:spPr>
          <a:xfrm>
            <a:off x="0" y="0"/>
            <a:ext cx="6583680" cy="54864"/>
          </a:xfrm>
          <a:prstGeom prst="rect">
            <a:avLst/>
          </a:prstGeom>
          <a:solidFill>
            <a:srgbClr val="42A5F5"/>
          </a:solidFill>
          <a:ln w="12700">
            <a:solidFill>
              <a:srgbClr val="42A5F5"/>
            </a:solidFill>
            <a:prstDash val="solid"/>
          </a:ln>
        </p:spPr>
      </p:sp>
      <p:sp>
        <p:nvSpPr>
          <p:cNvPr id="4" name="Shape 2"/>
          <p:cNvSpPr/>
          <p:nvPr/>
        </p:nvSpPr>
        <p:spPr>
          <a:xfrm>
            <a:off x="-1097280" y="4389120"/>
            <a:ext cx="3200400" cy="3200400"/>
          </a:xfrm>
          <a:prstGeom prst="ellipse">
            <a:avLst/>
          </a:prstGeom>
          <a:solidFill>
            <a:srgbClr val="1565C0">
              <a:alpha val="30000"/>
            </a:srgbClr>
          </a:solidFill>
          <a:ln w="6350">
            <a:solidFill>
              <a:srgbClr val="42A5F5">
                <a:alpha val="50000"/>
              </a:srgbClr>
            </a:solidFill>
            <a:prstDash val="solid"/>
          </a:ln>
        </p:spPr>
      </p:sp>
      <p:sp>
        <p:nvSpPr>
          <p:cNvPr id="5" name="Shape 3"/>
          <p:cNvSpPr/>
          <p:nvPr/>
        </p:nvSpPr>
        <p:spPr>
          <a:xfrm>
            <a:off x="4572000" y="-914400"/>
            <a:ext cx="2743200" cy="2743200"/>
          </a:xfrm>
          <a:prstGeom prst="ellipse">
            <a:avLst/>
          </a:prstGeom>
          <a:solidFill>
            <a:srgbClr val="42A5F5">
              <a:alpha val="25000"/>
            </a:srgbClr>
          </a:solidFill>
          <a:ln w="6350">
            <a:solidFill>
              <a:srgbClr val="BBDEFB">
                <a:alpha val="50000"/>
              </a:srgbClr>
            </a:solidFill>
            <a:prstDash val="solid"/>
          </a:ln>
        </p:spPr>
      </p:sp>
      <p:sp>
        <p:nvSpPr>
          <p:cNvPr id="6" name="Shape 4"/>
          <p:cNvSpPr/>
          <p:nvPr/>
        </p:nvSpPr>
        <p:spPr>
          <a:xfrm>
            <a:off x="457200" y="256032"/>
            <a:ext cx="4389120" cy="329184"/>
          </a:xfrm>
          <a:prstGeom prst="roundRect">
            <a:avLst>
              <a:gd name="adj" fmla="val 16667"/>
            </a:avLst>
          </a:prstGeom>
          <a:solidFill>
            <a:srgbClr val="1565C0"/>
          </a:solidFill>
          <a:ln w="6350">
            <a:solidFill>
              <a:srgbClr val="42A5F5"/>
            </a:solidFill>
            <a:prstDash val="solid"/>
          </a:ln>
        </p:spPr>
      </p:sp>
      <p:sp>
        <p:nvSpPr>
          <p:cNvPr id="7" name="Text 5"/>
          <p:cNvSpPr/>
          <p:nvPr/>
        </p:nvSpPr>
        <p:spPr>
          <a:xfrm>
            <a:off x="457200" y="256032"/>
            <a:ext cx="4389120" cy="329184"/>
          </a:xfrm>
          <a:prstGeom prst="rect">
            <a:avLst/>
          </a:prstGeom>
          <a:noFill/>
          <a:ln/>
        </p:spPr>
        <p:txBody>
          <a:bodyPr wrap="square" rtlCol="0" anchor="ctr"/>
          <a:lstStyle/>
          <a:p>
            <a:pPr algn="ctr" indent="0" marL="0">
              <a:buNone/>
            </a:pPr>
            <a:r>
              <a:rPr lang="en-US" sz="1000" b="1" dirty="0">
                <a:solidFill>
                  <a:srgbClr val="BBDEFB"/>
                </a:solidFill>
                <a:latin typeface="Calibri" pitchFamily="34" charset="0"/>
                <a:ea typeface="Calibri" pitchFamily="34" charset="-122"/>
                <a:cs typeface="Calibri" pitchFamily="34" charset="-120"/>
              </a:rPr>
              <a:t>Final Year Engineering Project  ·  2026</a:t>
            </a:r>
            <a:endParaRPr lang="en-US" sz="1000" dirty="0"/>
          </a:p>
        </p:txBody>
      </p:sp>
      <p:sp>
        <p:nvSpPr>
          <p:cNvPr id="8" name="Text 6"/>
          <p:cNvSpPr/>
          <p:nvPr/>
        </p:nvSpPr>
        <p:spPr>
          <a:xfrm>
            <a:off x="365760" y="822960"/>
            <a:ext cx="5943600" cy="713232"/>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IoT-Based Light Intensity</a:t>
            </a:r>
            <a:endParaRPr lang="en-US" sz="3200" dirty="0"/>
          </a:p>
        </p:txBody>
      </p:sp>
      <p:sp>
        <p:nvSpPr>
          <p:cNvPr id="9" name="Text 7"/>
          <p:cNvSpPr/>
          <p:nvPr/>
        </p:nvSpPr>
        <p:spPr>
          <a:xfrm>
            <a:off x="365760" y="1508760"/>
            <a:ext cx="5943600" cy="594360"/>
          </a:xfrm>
          <a:prstGeom prst="rect">
            <a:avLst/>
          </a:prstGeom>
          <a:noFill/>
          <a:ln/>
        </p:spPr>
        <p:txBody>
          <a:bodyPr wrap="square" rtlCol="0" anchor="ctr"/>
          <a:lstStyle/>
          <a:p>
            <a:pPr indent="0" marL="0">
              <a:buNone/>
            </a:pPr>
            <a:r>
              <a:rPr lang="en-US" sz="2800" b="1" dirty="0">
                <a:solidFill>
                  <a:srgbClr val="42A5F5"/>
                </a:solidFill>
                <a:latin typeface="Calibri" pitchFamily="34" charset="0"/>
                <a:ea typeface="Calibri" pitchFamily="34" charset="-122"/>
                <a:cs typeface="Calibri" pitchFamily="34" charset="-120"/>
              </a:rPr>
              <a:t>Monitoring and Smart</a:t>
            </a:r>
            <a:endParaRPr lang="en-US" sz="2800" dirty="0"/>
          </a:p>
        </p:txBody>
      </p:sp>
      <p:sp>
        <p:nvSpPr>
          <p:cNvPr id="10" name="Text 8"/>
          <p:cNvSpPr/>
          <p:nvPr/>
        </p:nvSpPr>
        <p:spPr>
          <a:xfrm>
            <a:off x="365760" y="2084832"/>
            <a:ext cx="5943600" cy="594360"/>
          </a:xfrm>
          <a:prstGeom prst="rect">
            <a:avLst/>
          </a:prstGeom>
          <a:noFill/>
          <a:ln/>
        </p:spPr>
        <p:txBody>
          <a:bodyPr wrap="square" rtlCol="0" anchor="ctr"/>
          <a:lstStyle/>
          <a:p>
            <a:pPr indent="0" marL="0">
              <a:buNone/>
            </a:pPr>
            <a:r>
              <a:rPr lang="en-US" sz="2800" b="1" dirty="0">
                <a:solidFill>
                  <a:srgbClr val="42A5F5"/>
                </a:solidFill>
                <a:latin typeface="Calibri" pitchFamily="34" charset="0"/>
                <a:ea typeface="Calibri" pitchFamily="34" charset="-122"/>
                <a:cs typeface="Calibri" pitchFamily="34" charset="-120"/>
              </a:rPr>
              <a:t>Control System</a:t>
            </a:r>
            <a:endParaRPr lang="en-US" sz="2800" dirty="0"/>
          </a:p>
        </p:txBody>
      </p:sp>
      <p:sp>
        <p:nvSpPr>
          <p:cNvPr id="11" name="Shape 9"/>
          <p:cNvSpPr/>
          <p:nvPr/>
        </p:nvSpPr>
        <p:spPr>
          <a:xfrm>
            <a:off x="365760" y="2788920"/>
            <a:ext cx="3200400" cy="45720"/>
          </a:xfrm>
          <a:prstGeom prst="rect">
            <a:avLst/>
          </a:prstGeom>
          <a:solidFill>
            <a:srgbClr val="42A5F5"/>
          </a:solidFill>
          <a:ln/>
        </p:spPr>
      </p:sp>
      <p:sp>
        <p:nvSpPr>
          <p:cNvPr id="12" name="Text 10"/>
          <p:cNvSpPr/>
          <p:nvPr/>
        </p:nvSpPr>
        <p:spPr>
          <a:xfrm>
            <a:off x="365760" y="2907792"/>
            <a:ext cx="5760720" cy="292608"/>
          </a:xfrm>
          <a:prstGeom prst="rect">
            <a:avLst/>
          </a:prstGeom>
          <a:noFill/>
          <a:ln/>
        </p:spPr>
        <p:txBody>
          <a:bodyPr wrap="square" rtlCol="0" anchor="ctr"/>
          <a:lstStyle/>
          <a:p>
            <a:pPr indent="0" marL="0">
              <a:buNone/>
            </a:pPr>
            <a:r>
              <a:rPr lang="en-US" sz="1400" dirty="0">
                <a:solidFill>
                  <a:srgbClr val="BBDEFB"/>
                </a:solidFill>
                <a:latin typeface="Calibri" pitchFamily="34" charset="0"/>
                <a:ea typeface="Calibri" pitchFamily="34" charset="-122"/>
                <a:cs typeface="Calibri" pitchFamily="34" charset="-120"/>
              </a:rPr>
              <a:t>With Web Application</a:t>
            </a:r>
            <a:endParaRPr lang="en-US" sz="1400" dirty="0"/>
          </a:p>
        </p:txBody>
      </p:sp>
      <p:sp>
        <p:nvSpPr>
          <p:cNvPr id="13" name="Shape 11"/>
          <p:cNvSpPr/>
          <p:nvPr/>
        </p:nvSpPr>
        <p:spPr>
          <a:xfrm>
            <a:off x="365760" y="3401568"/>
            <a:ext cx="4389120" cy="365760"/>
          </a:xfrm>
          <a:prstGeom prst="roundRect">
            <a:avLst>
              <a:gd name="adj" fmla="val 15000"/>
            </a:avLst>
          </a:prstGeom>
          <a:solidFill>
            <a:srgbClr val="1565C0">
              <a:alpha val="70000"/>
            </a:srgbClr>
          </a:solidFill>
          <a:ln w="6350">
            <a:solidFill>
              <a:srgbClr val="42A5F5">
                <a:alpha val="60000"/>
              </a:srgbClr>
            </a:solidFill>
            <a:prstDash val="solid"/>
          </a:ln>
        </p:spPr>
      </p:sp>
      <p:sp>
        <p:nvSpPr>
          <p:cNvPr id="14" name="Text 12"/>
          <p:cNvSpPr/>
          <p:nvPr/>
        </p:nvSpPr>
        <p:spPr>
          <a:xfrm>
            <a:off x="457200" y="3438144"/>
            <a:ext cx="4206240" cy="2926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Real-time Monitoring</a:t>
            </a:r>
            <a:endParaRPr lang="en-US" sz="1200" dirty="0"/>
          </a:p>
        </p:txBody>
      </p:sp>
      <p:sp>
        <p:nvSpPr>
          <p:cNvPr id="15" name="Shape 13"/>
          <p:cNvSpPr/>
          <p:nvPr/>
        </p:nvSpPr>
        <p:spPr>
          <a:xfrm>
            <a:off x="365760" y="3877056"/>
            <a:ext cx="4389120" cy="365760"/>
          </a:xfrm>
          <a:prstGeom prst="roundRect">
            <a:avLst>
              <a:gd name="adj" fmla="val 15000"/>
            </a:avLst>
          </a:prstGeom>
          <a:solidFill>
            <a:srgbClr val="1565C0">
              <a:alpha val="70000"/>
            </a:srgbClr>
          </a:solidFill>
          <a:ln w="6350">
            <a:solidFill>
              <a:srgbClr val="42A5F5">
                <a:alpha val="60000"/>
              </a:srgbClr>
            </a:solidFill>
            <a:prstDash val="solid"/>
          </a:ln>
        </p:spPr>
      </p:sp>
      <p:sp>
        <p:nvSpPr>
          <p:cNvPr id="16" name="Text 14"/>
          <p:cNvSpPr/>
          <p:nvPr/>
        </p:nvSpPr>
        <p:spPr>
          <a:xfrm>
            <a:off x="457200" y="3913632"/>
            <a:ext cx="4206240" cy="2926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Smart Control</a:t>
            </a:r>
            <a:endParaRPr lang="en-US" sz="1200" dirty="0"/>
          </a:p>
        </p:txBody>
      </p:sp>
      <p:sp>
        <p:nvSpPr>
          <p:cNvPr id="17" name="Shape 15"/>
          <p:cNvSpPr/>
          <p:nvPr/>
        </p:nvSpPr>
        <p:spPr>
          <a:xfrm>
            <a:off x="365760" y="4352544"/>
            <a:ext cx="4389120" cy="365760"/>
          </a:xfrm>
          <a:prstGeom prst="roundRect">
            <a:avLst>
              <a:gd name="adj" fmla="val 15000"/>
            </a:avLst>
          </a:prstGeom>
          <a:solidFill>
            <a:srgbClr val="1565C0">
              <a:alpha val="70000"/>
            </a:srgbClr>
          </a:solidFill>
          <a:ln w="6350">
            <a:solidFill>
              <a:srgbClr val="42A5F5">
                <a:alpha val="60000"/>
              </a:srgbClr>
            </a:solidFill>
            <a:prstDash val="solid"/>
          </a:ln>
        </p:spPr>
      </p:sp>
      <p:sp>
        <p:nvSpPr>
          <p:cNvPr id="18" name="Text 16"/>
          <p:cNvSpPr/>
          <p:nvPr/>
        </p:nvSpPr>
        <p:spPr>
          <a:xfrm>
            <a:off x="457200" y="4389120"/>
            <a:ext cx="4206240" cy="2926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Energy Efficient</a:t>
            </a:r>
            <a:endParaRPr lang="en-US" sz="1200" dirty="0"/>
          </a:p>
        </p:txBody>
      </p:sp>
      <p:sp>
        <p:nvSpPr>
          <p:cNvPr id="19" name="Shape 17"/>
          <p:cNvSpPr/>
          <p:nvPr/>
        </p:nvSpPr>
        <p:spPr>
          <a:xfrm>
            <a:off x="365760" y="4828032"/>
            <a:ext cx="4389120" cy="365760"/>
          </a:xfrm>
          <a:prstGeom prst="roundRect">
            <a:avLst>
              <a:gd name="adj" fmla="val 15000"/>
            </a:avLst>
          </a:prstGeom>
          <a:solidFill>
            <a:srgbClr val="1565C0">
              <a:alpha val="70000"/>
            </a:srgbClr>
          </a:solidFill>
          <a:ln w="6350">
            <a:solidFill>
              <a:srgbClr val="42A5F5">
                <a:alpha val="60000"/>
              </a:srgbClr>
            </a:solidFill>
            <a:prstDash val="solid"/>
          </a:ln>
        </p:spPr>
      </p:sp>
      <p:sp>
        <p:nvSpPr>
          <p:cNvPr id="20" name="Text 18"/>
          <p:cNvSpPr/>
          <p:nvPr/>
        </p:nvSpPr>
        <p:spPr>
          <a:xfrm>
            <a:off x="457200" y="4864608"/>
            <a:ext cx="4206240" cy="2926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IoT Enabled</a:t>
            </a:r>
            <a:endParaRPr lang="en-US" sz="1200" dirty="0"/>
          </a:p>
        </p:txBody>
      </p:sp>
      <p:sp>
        <p:nvSpPr>
          <p:cNvPr id="21" name="Text 19"/>
          <p:cNvSpPr/>
          <p:nvPr/>
        </p:nvSpPr>
        <p:spPr>
          <a:xfrm>
            <a:off x="365760" y="5394960"/>
            <a:ext cx="5943600" cy="256032"/>
          </a:xfrm>
          <a:prstGeom prst="rect">
            <a:avLst/>
          </a:prstGeom>
          <a:noFill/>
          <a:ln/>
        </p:spPr>
        <p:txBody>
          <a:bodyPr wrap="square" rtlCol="0" anchor="ctr"/>
          <a:lstStyle/>
          <a:p>
            <a:pPr indent="0" marL="0">
              <a:buNone/>
            </a:pPr>
            <a:r>
              <a:rPr lang="en-US" sz="900" dirty="0">
                <a:solidFill>
                  <a:srgbClr val="BBDEFB"/>
                </a:solidFill>
                <a:latin typeface="Calibri" pitchFamily="34" charset="0"/>
                <a:ea typeface="Calibri" pitchFamily="34" charset="-122"/>
                <a:cs typeface="Calibri" pitchFamily="34" charset="-120"/>
              </a:rPr>
              <a:t>🔗  Wokwi Simulation: wokwi.com/projects/464159002953560065</a:t>
            </a:r>
            <a:endParaRPr lang="en-US" sz="900" dirty="0"/>
          </a:p>
        </p:txBody>
      </p:sp>
      <p:sp>
        <p:nvSpPr>
          <p:cNvPr id="22" name="Text 20"/>
          <p:cNvSpPr/>
          <p:nvPr/>
        </p:nvSpPr>
        <p:spPr>
          <a:xfrm>
            <a:off x="365760" y="5687568"/>
            <a:ext cx="5943600" cy="256032"/>
          </a:xfrm>
          <a:prstGeom prst="rect">
            <a:avLst/>
          </a:prstGeom>
          <a:noFill/>
          <a:ln/>
        </p:spPr>
        <p:txBody>
          <a:bodyPr wrap="square" rtlCol="0" anchor="ctr"/>
          <a:lstStyle/>
          <a:p>
            <a:pPr indent="0" marL="0">
              <a:buNone/>
            </a:pPr>
            <a:r>
              <a:rPr lang="en-US" sz="900" dirty="0">
                <a:solidFill>
                  <a:srgbClr val="BBDEFB"/>
                </a:solidFill>
                <a:latin typeface="Calibri" pitchFamily="34" charset="0"/>
                <a:ea typeface="Calibri" pitchFamily="34" charset="-122"/>
                <a:cs typeface="Calibri" pitchFamily="34" charset="-120"/>
              </a:rPr>
              <a:t>🌐  Web Dashboard: ietp-prototype.vercel.app/light</a:t>
            </a:r>
            <a:endParaRPr lang="en-US" sz="900" dirty="0"/>
          </a:p>
        </p:txBody>
      </p:sp>
      <p:sp>
        <p:nvSpPr>
          <p:cNvPr id="23" name="Text 21"/>
          <p:cNvSpPr/>
          <p:nvPr/>
        </p:nvSpPr>
        <p:spPr>
          <a:xfrm>
            <a:off x="365760" y="6126480"/>
            <a:ext cx="5943600" cy="256032"/>
          </a:xfrm>
          <a:prstGeom prst="rect">
            <a:avLst/>
          </a:prstGeom>
          <a:noFill/>
          <a:ln/>
        </p:spPr>
        <p:txBody>
          <a:bodyPr wrap="square" rtlCol="0" anchor="ctr"/>
          <a:lstStyle/>
          <a:p>
            <a:pPr indent="0" marL="0">
              <a:buNone/>
            </a:pPr>
            <a:r>
              <a:rPr lang="en-US" sz="900" i="1" dirty="0">
                <a:solidFill>
                  <a:srgbClr val="90A4AE"/>
                </a:solidFill>
                <a:latin typeface="Calibri" pitchFamily="34" charset="0"/>
                <a:ea typeface="Calibri" pitchFamily="34" charset="-122"/>
                <a:cs typeface="Calibri" pitchFamily="34" charset="-120"/>
              </a:rPr>
              <a:t>Prepared by the IETP Project Team</a:t>
            </a:r>
            <a:endParaRPr lang="en-US" sz="900" dirty="0"/>
          </a:p>
        </p:txBody>
      </p:sp>
      <p:sp>
        <p:nvSpPr>
          <p:cNvPr id="24" name="Shape 22"/>
          <p:cNvSpPr/>
          <p:nvPr/>
        </p:nvSpPr>
        <p:spPr>
          <a:xfrm>
            <a:off x="6583680" y="0"/>
            <a:ext cx="5605272" cy="6858000"/>
          </a:xfrm>
          <a:prstGeom prst="rect">
            <a:avLst/>
          </a:prstGeom>
          <a:solidFill>
            <a:srgbClr val="F5F8FF"/>
          </a:solidFill>
          <a:ln w="12700">
            <a:solidFill>
              <a:srgbClr val="F5F8FF"/>
            </a:solidFill>
            <a:prstDash val="solid"/>
          </a:ln>
        </p:spPr>
      </p:sp>
      <p:sp>
        <p:nvSpPr>
          <p:cNvPr id="25" name="Shape 23"/>
          <p:cNvSpPr/>
          <p:nvPr/>
        </p:nvSpPr>
        <p:spPr>
          <a:xfrm>
            <a:off x="6995160" y="822960"/>
            <a:ext cx="4754880" cy="3108960"/>
          </a:xfrm>
          <a:prstGeom prst="roundRect">
            <a:avLst>
              <a:gd name="adj" fmla="val 4412"/>
            </a:avLst>
          </a:prstGeom>
          <a:solidFill>
            <a:srgbClr val="FFFFFF"/>
          </a:solidFill>
          <a:ln w="12700">
            <a:solidFill>
              <a:srgbClr val="BBDEFB"/>
            </a:solidFill>
            <a:prstDash val="solid"/>
          </a:ln>
        </p:spPr>
      </p:sp>
      <p:sp>
        <p:nvSpPr>
          <p:cNvPr id="26" name="Shape 24"/>
          <p:cNvSpPr/>
          <p:nvPr/>
        </p:nvSpPr>
        <p:spPr>
          <a:xfrm>
            <a:off x="6995160" y="822960"/>
            <a:ext cx="4754880" cy="411480"/>
          </a:xfrm>
          <a:prstGeom prst="rect">
            <a:avLst/>
          </a:prstGeom>
          <a:solidFill>
            <a:srgbClr val="0D2B5E"/>
          </a:solidFill>
          <a:ln w="12700">
            <a:solidFill>
              <a:srgbClr val="0D2B5E"/>
            </a:solidFill>
            <a:prstDash val="solid"/>
          </a:ln>
        </p:spPr>
      </p:sp>
      <p:sp>
        <p:nvSpPr>
          <p:cNvPr id="27" name="Shape 25"/>
          <p:cNvSpPr/>
          <p:nvPr/>
        </p:nvSpPr>
        <p:spPr>
          <a:xfrm>
            <a:off x="6995160" y="822960"/>
            <a:ext cx="4754880" cy="411480"/>
          </a:xfrm>
          <a:prstGeom prst="roundRect">
            <a:avLst>
              <a:gd name="adj" fmla="val 22222"/>
            </a:avLst>
          </a:prstGeom>
          <a:solidFill>
            <a:srgbClr val="0D2B5E"/>
          </a:solidFill>
          <a:ln w="12700">
            <a:solidFill>
              <a:srgbClr val="0D2B5E"/>
            </a:solidFill>
            <a:prstDash val="solid"/>
          </a:ln>
        </p:spPr>
      </p:sp>
      <p:sp>
        <p:nvSpPr>
          <p:cNvPr id="28" name="Shape 26"/>
          <p:cNvSpPr/>
          <p:nvPr/>
        </p:nvSpPr>
        <p:spPr>
          <a:xfrm>
            <a:off x="6995160" y="1005840"/>
            <a:ext cx="4754880" cy="228600"/>
          </a:xfrm>
          <a:prstGeom prst="rect">
            <a:avLst/>
          </a:prstGeom>
          <a:solidFill>
            <a:srgbClr val="0D2B5E"/>
          </a:solidFill>
          <a:ln w="12700">
            <a:solidFill>
              <a:srgbClr val="0D2B5E"/>
            </a:solidFill>
            <a:prstDash val="solid"/>
          </a:ln>
        </p:spPr>
      </p:sp>
      <p:sp>
        <p:nvSpPr>
          <p:cNvPr id="29" name="Text 27"/>
          <p:cNvSpPr/>
          <p:nvPr/>
        </p:nvSpPr>
        <p:spPr>
          <a:xfrm>
            <a:off x="6995160" y="841248"/>
            <a:ext cx="47548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IoT Light Dashboard</a:t>
            </a:r>
            <a:endParaRPr lang="en-US" sz="1100" dirty="0"/>
          </a:p>
        </p:txBody>
      </p:sp>
      <p:sp>
        <p:nvSpPr>
          <p:cNvPr id="30" name="Shape 28"/>
          <p:cNvSpPr/>
          <p:nvPr/>
        </p:nvSpPr>
        <p:spPr>
          <a:xfrm>
            <a:off x="7132320" y="1298448"/>
            <a:ext cx="4480560" cy="502920"/>
          </a:xfrm>
          <a:prstGeom prst="rect">
            <a:avLst/>
          </a:prstGeom>
          <a:solidFill>
            <a:srgbClr val="E8F4FD"/>
          </a:solidFill>
          <a:ln w="3810">
            <a:solidFill>
              <a:srgbClr val="BBDEFB"/>
            </a:solidFill>
            <a:prstDash val="solid"/>
          </a:ln>
        </p:spPr>
      </p:sp>
      <p:sp>
        <p:nvSpPr>
          <p:cNvPr id="31" name="Text 29"/>
          <p:cNvSpPr/>
          <p:nvPr/>
        </p:nvSpPr>
        <p:spPr>
          <a:xfrm>
            <a:off x="7223760" y="1325880"/>
            <a:ext cx="1645920" cy="182880"/>
          </a:xfrm>
          <a:prstGeom prst="rect">
            <a:avLst/>
          </a:prstGeom>
          <a:noFill/>
          <a:ln/>
        </p:spPr>
        <p:txBody>
          <a:bodyPr wrap="square" rtlCol="0" anchor="ctr"/>
          <a:lstStyle/>
          <a:p>
            <a:pPr indent="0" marL="0">
              <a:buNone/>
            </a:pPr>
            <a:r>
              <a:rPr lang="en-US" sz="700" dirty="0">
                <a:solidFill>
                  <a:srgbClr val="78909C"/>
                </a:solidFill>
                <a:latin typeface="Calibri" pitchFamily="34" charset="0"/>
                <a:ea typeface="Calibri" pitchFamily="34" charset="-122"/>
                <a:cs typeface="Calibri" pitchFamily="34" charset="-120"/>
              </a:rPr>
              <a:t>Current Intensity</a:t>
            </a:r>
            <a:endParaRPr lang="en-US" sz="700" dirty="0"/>
          </a:p>
        </p:txBody>
      </p:sp>
      <p:sp>
        <p:nvSpPr>
          <p:cNvPr id="32" name="Text 30"/>
          <p:cNvSpPr/>
          <p:nvPr/>
        </p:nvSpPr>
        <p:spPr>
          <a:xfrm>
            <a:off x="7223760" y="1490472"/>
            <a:ext cx="914400" cy="228600"/>
          </a:xfrm>
          <a:prstGeom prst="rect">
            <a:avLst/>
          </a:prstGeom>
          <a:noFill/>
          <a:ln/>
        </p:spPr>
        <p:txBody>
          <a:bodyPr wrap="square" rtlCol="0" anchor="ctr"/>
          <a:lstStyle/>
          <a:p>
            <a:pPr indent="0" marL="0">
              <a:buNone/>
            </a:pPr>
            <a:r>
              <a:rPr lang="en-US" sz="1400" b="1" dirty="0">
                <a:solidFill>
                  <a:srgbClr val="1565C0"/>
                </a:solidFill>
                <a:latin typeface="Calibri" pitchFamily="34" charset="0"/>
                <a:ea typeface="Calibri" pitchFamily="34" charset="-122"/>
                <a:cs typeface="Calibri" pitchFamily="34" charset="-120"/>
              </a:rPr>
              <a:t>68%</a:t>
            </a:r>
            <a:endParaRPr lang="en-US" sz="1400" dirty="0"/>
          </a:p>
        </p:txBody>
      </p:sp>
      <p:sp>
        <p:nvSpPr>
          <p:cNvPr id="33" name="Text 31"/>
          <p:cNvSpPr/>
          <p:nvPr/>
        </p:nvSpPr>
        <p:spPr>
          <a:xfrm>
            <a:off x="8229600" y="1325880"/>
            <a:ext cx="1097280" cy="182880"/>
          </a:xfrm>
          <a:prstGeom prst="rect">
            <a:avLst/>
          </a:prstGeom>
          <a:noFill/>
          <a:ln/>
        </p:spPr>
        <p:txBody>
          <a:bodyPr wrap="square" rtlCol="0" anchor="ctr"/>
          <a:lstStyle/>
          <a:p>
            <a:pPr indent="0" marL="0">
              <a:buNone/>
            </a:pPr>
            <a:r>
              <a:rPr lang="en-US" sz="700" dirty="0">
                <a:solidFill>
                  <a:srgbClr val="78909C"/>
                </a:solidFill>
                <a:latin typeface="Calibri" pitchFamily="34" charset="0"/>
                <a:ea typeface="Calibri" pitchFamily="34" charset="-122"/>
                <a:cs typeface="Calibri" pitchFamily="34" charset="-120"/>
              </a:rPr>
              <a:t>Threshold</a:t>
            </a:r>
            <a:endParaRPr lang="en-US" sz="700" dirty="0"/>
          </a:p>
        </p:txBody>
      </p:sp>
      <p:sp>
        <p:nvSpPr>
          <p:cNvPr id="34" name="Text 32"/>
          <p:cNvSpPr/>
          <p:nvPr/>
        </p:nvSpPr>
        <p:spPr>
          <a:xfrm>
            <a:off x="8229600" y="1490472"/>
            <a:ext cx="914400" cy="22860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40%</a:t>
            </a:r>
            <a:endParaRPr lang="en-US" sz="1400" dirty="0"/>
          </a:p>
        </p:txBody>
      </p:sp>
      <p:sp>
        <p:nvSpPr>
          <p:cNvPr id="35" name="Text 33"/>
          <p:cNvSpPr/>
          <p:nvPr/>
        </p:nvSpPr>
        <p:spPr>
          <a:xfrm>
            <a:off x="9326880" y="1325880"/>
            <a:ext cx="1097280" cy="182880"/>
          </a:xfrm>
          <a:prstGeom prst="rect">
            <a:avLst/>
          </a:prstGeom>
          <a:noFill/>
          <a:ln/>
        </p:spPr>
        <p:txBody>
          <a:bodyPr wrap="square" rtlCol="0" anchor="ctr"/>
          <a:lstStyle/>
          <a:p>
            <a:pPr indent="0" marL="0">
              <a:buNone/>
            </a:pPr>
            <a:r>
              <a:rPr lang="en-US" sz="700" dirty="0">
                <a:solidFill>
                  <a:srgbClr val="78909C"/>
                </a:solidFill>
                <a:latin typeface="Calibri" pitchFamily="34" charset="0"/>
                <a:ea typeface="Calibri" pitchFamily="34" charset="-122"/>
                <a:cs typeface="Calibri" pitchFamily="34" charset="-120"/>
              </a:rPr>
              <a:t>Status</a:t>
            </a:r>
            <a:endParaRPr lang="en-US" sz="700" dirty="0"/>
          </a:p>
        </p:txBody>
      </p:sp>
      <p:sp>
        <p:nvSpPr>
          <p:cNvPr id="36" name="Shape 34"/>
          <p:cNvSpPr/>
          <p:nvPr/>
        </p:nvSpPr>
        <p:spPr>
          <a:xfrm>
            <a:off x="9326880" y="1463040"/>
            <a:ext cx="1097280" cy="256032"/>
          </a:xfrm>
          <a:prstGeom prst="roundRect">
            <a:avLst>
              <a:gd name="adj" fmla="val 14286"/>
            </a:avLst>
          </a:prstGeom>
          <a:solidFill>
            <a:srgbClr val="4CAF50"/>
          </a:solidFill>
          <a:ln/>
        </p:spPr>
      </p:sp>
      <p:sp>
        <p:nvSpPr>
          <p:cNvPr id="37" name="Text 35"/>
          <p:cNvSpPr/>
          <p:nvPr/>
        </p:nvSpPr>
        <p:spPr>
          <a:xfrm>
            <a:off x="9326880" y="1463040"/>
            <a:ext cx="10972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BRIGHT</a:t>
            </a:r>
            <a:endParaRPr lang="en-US" sz="800" dirty="0"/>
          </a:p>
        </p:txBody>
      </p:sp>
      <p:sp>
        <p:nvSpPr>
          <p:cNvPr id="38" name="Shape 36"/>
          <p:cNvSpPr/>
          <p:nvPr/>
        </p:nvSpPr>
        <p:spPr>
          <a:xfrm>
            <a:off x="7178040" y="2482596"/>
            <a:ext cx="310896" cy="352044"/>
          </a:xfrm>
          <a:prstGeom prst="rect">
            <a:avLst/>
          </a:prstGeom>
          <a:solidFill>
            <a:srgbClr val="BBDEFB"/>
          </a:solidFill>
          <a:ln w="12700">
            <a:solidFill>
              <a:srgbClr val="BBDEFB"/>
            </a:solidFill>
            <a:prstDash val="solid"/>
          </a:ln>
        </p:spPr>
      </p:sp>
      <p:sp>
        <p:nvSpPr>
          <p:cNvPr id="39" name="Shape 37"/>
          <p:cNvSpPr/>
          <p:nvPr/>
        </p:nvSpPr>
        <p:spPr>
          <a:xfrm>
            <a:off x="7598664" y="2281428"/>
            <a:ext cx="310896" cy="553212"/>
          </a:xfrm>
          <a:prstGeom prst="rect">
            <a:avLst/>
          </a:prstGeom>
          <a:solidFill>
            <a:srgbClr val="BBDEFB"/>
          </a:solidFill>
          <a:ln w="12700">
            <a:solidFill>
              <a:srgbClr val="BBDEFB"/>
            </a:solidFill>
            <a:prstDash val="solid"/>
          </a:ln>
        </p:spPr>
      </p:sp>
      <p:sp>
        <p:nvSpPr>
          <p:cNvPr id="40" name="Shape 38"/>
          <p:cNvSpPr/>
          <p:nvPr/>
        </p:nvSpPr>
        <p:spPr>
          <a:xfrm>
            <a:off x="8019288" y="2382012"/>
            <a:ext cx="310896" cy="452628"/>
          </a:xfrm>
          <a:prstGeom prst="rect">
            <a:avLst/>
          </a:prstGeom>
          <a:solidFill>
            <a:srgbClr val="BBDEFB"/>
          </a:solidFill>
          <a:ln w="12700">
            <a:solidFill>
              <a:srgbClr val="BBDEFB"/>
            </a:solidFill>
            <a:prstDash val="solid"/>
          </a:ln>
        </p:spPr>
      </p:sp>
      <p:sp>
        <p:nvSpPr>
          <p:cNvPr id="41" name="Shape 39"/>
          <p:cNvSpPr/>
          <p:nvPr/>
        </p:nvSpPr>
        <p:spPr>
          <a:xfrm>
            <a:off x="8439912" y="2130552"/>
            <a:ext cx="310896" cy="704088"/>
          </a:xfrm>
          <a:prstGeom prst="rect">
            <a:avLst/>
          </a:prstGeom>
          <a:solidFill>
            <a:srgbClr val="BBDEFB"/>
          </a:solidFill>
          <a:ln w="12700">
            <a:solidFill>
              <a:srgbClr val="BBDEFB"/>
            </a:solidFill>
            <a:prstDash val="solid"/>
          </a:ln>
        </p:spPr>
      </p:sp>
      <p:sp>
        <p:nvSpPr>
          <p:cNvPr id="42" name="Shape 40"/>
          <p:cNvSpPr/>
          <p:nvPr/>
        </p:nvSpPr>
        <p:spPr>
          <a:xfrm>
            <a:off x="8860536" y="1979676"/>
            <a:ext cx="310896" cy="854964"/>
          </a:xfrm>
          <a:prstGeom prst="rect">
            <a:avLst/>
          </a:prstGeom>
          <a:solidFill>
            <a:srgbClr val="BBDEFB"/>
          </a:solidFill>
          <a:ln w="12700">
            <a:solidFill>
              <a:srgbClr val="BBDEFB"/>
            </a:solidFill>
            <a:prstDash val="solid"/>
          </a:ln>
        </p:spPr>
      </p:sp>
      <p:sp>
        <p:nvSpPr>
          <p:cNvPr id="43" name="Shape 41"/>
          <p:cNvSpPr/>
          <p:nvPr/>
        </p:nvSpPr>
        <p:spPr>
          <a:xfrm>
            <a:off x="9281160" y="2150669"/>
            <a:ext cx="310896" cy="683971"/>
          </a:xfrm>
          <a:prstGeom prst="rect">
            <a:avLst/>
          </a:prstGeom>
          <a:solidFill>
            <a:srgbClr val="BBDEFB"/>
          </a:solidFill>
          <a:ln w="12700">
            <a:solidFill>
              <a:srgbClr val="BBDEFB"/>
            </a:solidFill>
            <a:prstDash val="solid"/>
          </a:ln>
        </p:spPr>
      </p:sp>
      <p:sp>
        <p:nvSpPr>
          <p:cNvPr id="44" name="Shape 42"/>
          <p:cNvSpPr/>
          <p:nvPr/>
        </p:nvSpPr>
        <p:spPr>
          <a:xfrm>
            <a:off x="9701784" y="2231136"/>
            <a:ext cx="310896" cy="603504"/>
          </a:xfrm>
          <a:prstGeom prst="rect">
            <a:avLst/>
          </a:prstGeom>
          <a:solidFill>
            <a:srgbClr val="1565C0"/>
          </a:solidFill>
          <a:ln w="12700">
            <a:solidFill>
              <a:srgbClr val="BBDEFB"/>
            </a:solidFill>
            <a:prstDash val="solid"/>
          </a:ln>
        </p:spPr>
      </p:sp>
      <p:sp>
        <p:nvSpPr>
          <p:cNvPr id="45" name="Shape 43"/>
          <p:cNvSpPr/>
          <p:nvPr/>
        </p:nvSpPr>
        <p:spPr>
          <a:xfrm>
            <a:off x="10122408" y="2080260"/>
            <a:ext cx="310896" cy="754380"/>
          </a:xfrm>
          <a:prstGeom prst="rect">
            <a:avLst/>
          </a:prstGeom>
          <a:solidFill>
            <a:srgbClr val="BBDEFB"/>
          </a:solidFill>
          <a:ln w="12700">
            <a:solidFill>
              <a:srgbClr val="BBDEFB"/>
            </a:solidFill>
            <a:prstDash val="solid"/>
          </a:ln>
        </p:spPr>
      </p:sp>
      <p:sp>
        <p:nvSpPr>
          <p:cNvPr id="46" name="Shape 44"/>
          <p:cNvSpPr/>
          <p:nvPr/>
        </p:nvSpPr>
        <p:spPr>
          <a:xfrm>
            <a:off x="10543032" y="2331720"/>
            <a:ext cx="310896" cy="502920"/>
          </a:xfrm>
          <a:prstGeom prst="rect">
            <a:avLst/>
          </a:prstGeom>
          <a:solidFill>
            <a:srgbClr val="BBDEFB"/>
          </a:solidFill>
          <a:ln w="12700">
            <a:solidFill>
              <a:srgbClr val="BBDEFB"/>
            </a:solidFill>
            <a:prstDash val="solid"/>
          </a:ln>
        </p:spPr>
      </p:sp>
      <p:sp>
        <p:nvSpPr>
          <p:cNvPr id="47" name="Shape 45"/>
          <p:cNvSpPr/>
          <p:nvPr/>
        </p:nvSpPr>
        <p:spPr>
          <a:xfrm>
            <a:off x="10963656" y="2029968"/>
            <a:ext cx="310896" cy="804672"/>
          </a:xfrm>
          <a:prstGeom prst="rect">
            <a:avLst/>
          </a:prstGeom>
          <a:solidFill>
            <a:srgbClr val="BBDEFB"/>
          </a:solidFill>
          <a:ln w="12700">
            <a:solidFill>
              <a:srgbClr val="BBDEFB"/>
            </a:solidFill>
            <a:prstDash val="solid"/>
          </a:ln>
        </p:spPr>
      </p:sp>
      <p:sp>
        <p:nvSpPr>
          <p:cNvPr id="48" name="Shape 46"/>
          <p:cNvSpPr/>
          <p:nvPr/>
        </p:nvSpPr>
        <p:spPr>
          <a:xfrm>
            <a:off x="7178040" y="2834640"/>
            <a:ext cx="4206240" cy="13716"/>
          </a:xfrm>
          <a:prstGeom prst="rect">
            <a:avLst/>
          </a:prstGeom>
          <a:solidFill>
            <a:srgbClr val="BBDEFB"/>
          </a:solidFill>
          <a:ln/>
        </p:spPr>
      </p:sp>
      <p:sp>
        <p:nvSpPr>
          <p:cNvPr id="49" name="Text 47"/>
          <p:cNvSpPr/>
          <p:nvPr/>
        </p:nvSpPr>
        <p:spPr>
          <a:xfrm>
            <a:off x="7178040" y="2862072"/>
            <a:ext cx="4206240" cy="164592"/>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Light Intensity Over Time</a:t>
            </a:r>
            <a:endParaRPr lang="en-US" sz="750" dirty="0"/>
          </a:p>
        </p:txBody>
      </p:sp>
      <p:sp>
        <p:nvSpPr>
          <p:cNvPr id="50" name="Shape 48"/>
          <p:cNvSpPr/>
          <p:nvPr/>
        </p:nvSpPr>
        <p:spPr>
          <a:xfrm>
            <a:off x="8778240" y="3931920"/>
            <a:ext cx="411480" cy="411480"/>
          </a:xfrm>
          <a:prstGeom prst="rect">
            <a:avLst/>
          </a:prstGeom>
          <a:solidFill>
            <a:srgbClr val="90A4AE"/>
          </a:solidFill>
          <a:ln w="12700">
            <a:solidFill>
              <a:srgbClr val="90A4AE"/>
            </a:solidFill>
            <a:prstDash val="solid"/>
          </a:ln>
        </p:spPr>
      </p:sp>
      <p:sp>
        <p:nvSpPr>
          <p:cNvPr id="51" name="Shape 49"/>
          <p:cNvSpPr/>
          <p:nvPr/>
        </p:nvSpPr>
        <p:spPr>
          <a:xfrm>
            <a:off x="8275320" y="4315968"/>
            <a:ext cx="1417320" cy="109728"/>
          </a:xfrm>
          <a:prstGeom prst="rect">
            <a:avLst/>
          </a:prstGeom>
          <a:solidFill>
            <a:srgbClr val="90A4AE"/>
          </a:solidFill>
          <a:ln w="12700">
            <a:solidFill>
              <a:srgbClr val="90A4AE"/>
            </a:solidFill>
            <a:prstDash val="solid"/>
          </a:ln>
        </p:spPr>
      </p:sp>
      <p:sp>
        <p:nvSpPr>
          <p:cNvPr id="52" name="Shape 50"/>
          <p:cNvSpPr/>
          <p:nvPr/>
        </p:nvSpPr>
        <p:spPr>
          <a:xfrm>
            <a:off x="7040880" y="4663440"/>
            <a:ext cx="1005840" cy="822960"/>
          </a:xfrm>
          <a:prstGeom prst="roundRect">
            <a:avLst>
              <a:gd name="adj" fmla="val 11111"/>
            </a:avLst>
          </a:prstGeom>
          <a:solidFill>
            <a:srgbClr val="E8F4FD"/>
          </a:solidFill>
          <a:ln w="9525">
            <a:solidFill>
              <a:srgbClr val="D84315"/>
            </a:solidFill>
            <a:prstDash val="solid"/>
          </a:ln>
        </p:spPr>
      </p:sp>
      <p:sp>
        <p:nvSpPr>
          <p:cNvPr id="53" name="Text 51"/>
          <p:cNvSpPr/>
          <p:nvPr/>
        </p:nvSpPr>
        <p:spPr>
          <a:xfrm>
            <a:off x="7040880" y="4681728"/>
            <a:ext cx="1005840" cy="384048"/>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4" name="Text 52"/>
          <p:cNvSpPr/>
          <p:nvPr/>
        </p:nvSpPr>
        <p:spPr>
          <a:xfrm>
            <a:off x="7040880" y="5074920"/>
            <a:ext cx="1005840" cy="256032"/>
          </a:xfrm>
          <a:prstGeom prst="rect">
            <a:avLst/>
          </a:prstGeom>
          <a:noFill/>
          <a:ln/>
        </p:spPr>
        <p:txBody>
          <a:bodyPr wrap="square" rtlCol="0" anchor="ctr"/>
          <a:lstStyle/>
          <a:p>
            <a:pPr algn="ctr" indent="0" marL="0">
              <a:buNone/>
            </a:pPr>
            <a:r>
              <a:rPr lang="en-US" sz="900" b="1" dirty="0">
                <a:solidFill>
                  <a:srgbClr val="D84315"/>
                </a:solidFill>
                <a:latin typeface="Calibri" pitchFamily="34" charset="0"/>
                <a:ea typeface="Calibri" pitchFamily="34" charset="-122"/>
                <a:cs typeface="Calibri" pitchFamily="34" charset="-120"/>
              </a:rPr>
              <a:t>ESP32</a:t>
            </a:r>
            <a:endParaRPr lang="en-US" sz="900" dirty="0"/>
          </a:p>
        </p:txBody>
      </p:sp>
      <p:sp>
        <p:nvSpPr>
          <p:cNvPr id="55" name="Shape 53"/>
          <p:cNvSpPr/>
          <p:nvPr/>
        </p:nvSpPr>
        <p:spPr>
          <a:xfrm>
            <a:off x="8046720" y="4974336"/>
            <a:ext cx="219456" cy="164592"/>
          </a:xfrm>
          <a:prstGeom prst="rightArrow">
            <a:avLst/>
          </a:prstGeom>
          <a:solidFill>
            <a:srgbClr val="42A5F5"/>
          </a:solidFill>
          <a:ln w="12700">
            <a:solidFill>
              <a:srgbClr val="42A5F5"/>
            </a:solidFill>
            <a:prstDash val="solid"/>
          </a:ln>
        </p:spPr>
      </p:sp>
      <p:sp>
        <p:nvSpPr>
          <p:cNvPr id="56" name="Shape 54"/>
          <p:cNvSpPr/>
          <p:nvPr/>
        </p:nvSpPr>
        <p:spPr>
          <a:xfrm>
            <a:off x="8275320" y="4663440"/>
            <a:ext cx="1005840" cy="822960"/>
          </a:xfrm>
          <a:prstGeom prst="roundRect">
            <a:avLst>
              <a:gd name="adj" fmla="val 11111"/>
            </a:avLst>
          </a:prstGeom>
          <a:solidFill>
            <a:srgbClr val="E8F4FD"/>
          </a:solidFill>
          <a:ln w="9525">
            <a:solidFill>
              <a:srgbClr val="F57F17"/>
            </a:solidFill>
            <a:prstDash val="solid"/>
          </a:ln>
        </p:spPr>
      </p:sp>
      <p:sp>
        <p:nvSpPr>
          <p:cNvPr id="57" name="Text 55"/>
          <p:cNvSpPr/>
          <p:nvPr/>
        </p:nvSpPr>
        <p:spPr>
          <a:xfrm>
            <a:off x="8275320" y="4681728"/>
            <a:ext cx="1005840" cy="384048"/>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8" name="Text 56"/>
          <p:cNvSpPr/>
          <p:nvPr/>
        </p:nvSpPr>
        <p:spPr>
          <a:xfrm>
            <a:off x="8275320" y="5074920"/>
            <a:ext cx="1005840" cy="256032"/>
          </a:xfrm>
          <a:prstGeom prst="rect">
            <a:avLst/>
          </a:prstGeom>
          <a:noFill/>
          <a:ln/>
        </p:spPr>
        <p:txBody>
          <a:bodyPr wrap="square" rtlCol="0" anchor="ctr"/>
          <a:lstStyle/>
          <a:p>
            <a:pPr algn="ctr" indent="0" marL="0">
              <a:buNone/>
            </a:pPr>
            <a:r>
              <a:rPr lang="en-US" sz="900" b="1" dirty="0">
                <a:solidFill>
                  <a:srgbClr val="F57F17"/>
                </a:solidFill>
                <a:latin typeface="Calibri" pitchFamily="34" charset="0"/>
                <a:ea typeface="Calibri" pitchFamily="34" charset="-122"/>
                <a:cs typeface="Calibri" pitchFamily="34" charset="-120"/>
              </a:rPr>
              <a:t>LDR</a:t>
            </a:r>
            <a:endParaRPr lang="en-US" sz="900" dirty="0"/>
          </a:p>
        </p:txBody>
      </p:sp>
      <p:sp>
        <p:nvSpPr>
          <p:cNvPr id="59" name="Shape 57"/>
          <p:cNvSpPr/>
          <p:nvPr/>
        </p:nvSpPr>
        <p:spPr>
          <a:xfrm>
            <a:off x="9281160" y="4974336"/>
            <a:ext cx="219456" cy="164592"/>
          </a:xfrm>
          <a:prstGeom prst="rightArrow">
            <a:avLst/>
          </a:prstGeom>
          <a:solidFill>
            <a:srgbClr val="42A5F5"/>
          </a:solidFill>
          <a:ln w="12700">
            <a:solidFill>
              <a:srgbClr val="42A5F5"/>
            </a:solidFill>
            <a:prstDash val="solid"/>
          </a:ln>
        </p:spPr>
      </p:sp>
      <p:sp>
        <p:nvSpPr>
          <p:cNvPr id="60" name="Shape 58"/>
          <p:cNvSpPr/>
          <p:nvPr/>
        </p:nvSpPr>
        <p:spPr>
          <a:xfrm>
            <a:off x="9509760" y="4663440"/>
            <a:ext cx="1005840" cy="822960"/>
          </a:xfrm>
          <a:prstGeom prst="roundRect">
            <a:avLst>
              <a:gd name="adj" fmla="val 11111"/>
            </a:avLst>
          </a:prstGeom>
          <a:solidFill>
            <a:srgbClr val="E8F4FD"/>
          </a:solidFill>
          <a:ln w="9525">
            <a:solidFill>
              <a:srgbClr val="388E3C"/>
            </a:solidFill>
            <a:prstDash val="solid"/>
          </a:ln>
        </p:spPr>
      </p:sp>
      <p:sp>
        <p:nvSpPr>
          <p:cNvPr id="61" name="Text 59"/>
          <p:cNvSpPr/>
          <p:nvPr/>
        </p:nvSpPr>
        <p:spPr>
          <a:xfrm>
            <a:off x="9509760" y="4681728"/>
            <a:ext cx="1005840" cy="384048"/>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2" name="Text 60"/>
          <p:cNvSpPr/>
          <p:nvPr/>
        </p:nvSpPr>
        <p:spPr>
          <a:xfrm>
            <a:off x="9509760" y="5074920"/>
            <a:ext cx="1005840" cy="256032"/>
          </a:xfrm>
          <a:prstGeom prst="rect">
            <a:avLst/>
          </a:prstGeom>
          <a:noFill/>
          <a:ln/>
        </p:spPr>
        <p:txBody>
          <a:bodyPr wrap="square" rtlCol="0" anchor="ctr"/>
          <a:lstStyle/>
          <a:p>
            <a:pPr algn="ctr" indent="0" marL="0">
              <a:buNone/>
            </a:pPr>
            <a:r>
              <a:rPr lang="en-US" sz="900" b="1" dirty="0">
                <a:solidFill>
                  <a:srgbClr val="388E3C"/>
                </a:solidFill>
                <a:latin typeface="Calibri" pitchFamily="34" charset="0"/>
                <a:ea typeface="Calibri" pitchFamily="34" charset="-122"/>
                <a:cs typeface="Calibri" pitchFamily="34" charset="-120"/>
              </a:rPr>
              <a:t>LED</a:t>
            </a:r>
            <a:endParaRPr lang="en-US" sz="900" dirty="0"/>
          </a:p>
        </p:txBody>
      </p:sp>
      <p:sp>
        <p:nvSpPr>
          <p:cNvPr id="63" name="Shape 61"/>
          <p:cNvSpPr/>
          <p:nvPr/>
        </p:nvSpPr>
        <p:spPr>
          <a:xfrm>
            <a:off x="10515600" y="4974336"/>
            <a:ext cx="219456" cy="164592"/>
          </a:xfrm>
          <a:prstGeom prst="rightArrow">
            <a:avLst/>
          </a:prstGeom>
          <a:solidFill>
            <a:srgbClr val="42A5F5"/>
          </a:solidFill>
          <a:ln w="12700">
            <a:solidFill>
              <a:srgbClr val="42A5F5"/>
            </a:solidFill>
            <a:prstDash val="solid"/>
          </a:ln>
        </p:spPr>
      </p:sp>
      <p:sp>
        <p:nvSpPr>
          <p:cNvPr id="64" name="Shape 62"/>
          <p:cNvSpPr/>
          <p:nvPr/>
        </p:nvSpPr>
        <p:spPr>
          <a:xfrm>
            <a:off x="10744200" y="4663440"/>
            <a:ext cx="1005840" cy="822960"/>
          </a:xfrm>
          <a:prstGeom prst="roundRect">
            <a:avLst>
              <a:gd name="adj" fmla="val 11111"/>
            </a:avLst>
          </a:prstGeom>
          <a:solidFill>
            <a:srgbClr val="E8F4FD"/>
          </a:solidFill>
          <a:ln w="9525">
            <a:solidFill>
              <a:srgbClr val="1565C0"/>
            </a:solidFill>
            <a:prstDash val="solid"/>
          </a:ln>
        </p:spPr>
      </p:sp>
      <p:sp>
        <p:nvSpPr>
          <p:cNvPr id="65" name="Text 63"/>
          <p:cNvSpPr/>
          <p:nvPr/>
        </p:nvSpPr>
        <p:spPr>
          <a:xfrm>
            <a:off x="10744200" y="4681728"/>
            <a:ext cx="1005840" cy="384048"/>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6" name="Text 64"/>
          <p:cNvSpPr/>
          <p:nvPr/>
        </p:nvSpPr>
        <p:spPr>
          <a:xfrm>
            <a:off x="10744200" y="5074920"/>
            <a:ext cx="1005840" cy="256032"/>
          </a:xfrm>
          <a:prstGeom prst="rect">
            <a:avLst/>
          </a:prstGeom>
          <a:noFill/>
          <a:ln/>
        </p:spPr>
        <p:txBody>
          <a:bodyPr wrap="square"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Cloud</a:t>
            </a:r>
            <a:endParaRPr lang="en-US" sz="900" dirty="0"/>
          </a:p>
        </p:txBody>
      </p:sp>
      <p:sp>
        <p:nvSpPr>
          <p:cNvPr id="67" name="Text 65"/>
          <p:cNvSpPr/>
          <p:nvPr/>
        </p:nvSpPr>
        <p:spPr>
          <a:xfrm>
            <a:off x="6858000" y="5669280"/>
            <a:ext cx="5120640" cy="256032"/>
          </a:xfrm>
          <a:prstGeom prst="rect">
            <a:avLst/>
          </a:prstGeom>
          <a:noFill/>
          <a:ln/>
        </p:spPr>
        <p:txBody>
          <a:bodyPr wrap="square" rtlCol="0" anchor="ctr"/>
          <a:lstStyle/>
          <a:p>
            <a:pPr algn="ctr" indent="0" marL="0">
              <a:buNone/>
            </a:pPr>
            <a:r>
              <a:rPr lang="en-US" sz="850" i="1" dirty="0">
                <a:solidFill>
                  <a:srgbClr val="78909C"/>
                </a:solidFill>
                <a:latin typeface="Calibri" pitchFamily="34" charset="0"/>
                <a:ea typeface="Calibri" pitchFamily="34" charset="-122"/>
                <a:cs typeface="Calibri" pitchFamily="34" charset="-120"/>
              </a:rPr>
              <a:t>System Performance: Reliable  ·  Uptime: 98 %  ·  Latency: 1.2 s</a:t>
            </a:r>
            <a:endParaRPr lang="en-US" sz="850" dirty="0"/>
          </a:p>
        </p:txBody>
      </p:sp>
      <p:sp>
        <p:nvSpPr>
          <p:cNvPr id="68" name="Shape 66"/>
          <p:cNvSpPr/>
          <p:nvPr/>
        </p:nvSpPr>
        <p:spPr>
          <a:xfrm>
            <a:off x="6903720" y="6080760"/>
            <a:ext cx="914400" cy="274320"/>
          </a:xfrm>
          <a:prstGeom prst="roundRect">
            <a:avLst>
              <a:gd name="adj" fmla="val 16667"/>
            </a:avLst>
          </a:prstGeom>
          <a:solidFill>
            <a:srgbClr val="0D2B5E"/>
          </a:solidFill>
          <a:ln/>
        </p:spPr>
      </p:sp>
      <p:sp>
        <p:nvSpPr>
          <p:cNvPr id="69" name="Text 67"/>
          <p:cNvSpPr/>
          <p:nvPr/>
        </p:nvSpPr>
        <p:spPr>
          <a:xfrm>
            <a:off x="6903720" y="608076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Next.js</a:t>
            </a:r>
            <a:endParaRPr lang="en-US" sz="850" dirty="0"/>
          </a:p>
        </p:txBody>
      </p:sp>
      <p:sp>
        <p:nvSpPr>
          <p:cNvPr id="70" name="Shape 68"/>
          <p:cNvSpPr/>
          <p:nvPr/>
        </p:nvSpPr>
        <p:spPr>
          <a:xfrm>
            <a:off x="7936992" y="6080760"/>
            <a:ext cx="914400" cy="274320"/>
          </a:xfrm>
          <a:prstGeom prst="roundRect">
            <a:avLst>
              <a:gd name="adj" fmla="val 16667"/>
            </a:avLst>
          </a:prstGeom>
          <a:solidFill>
            <a:srgbClr val="D84315"/>
          </a:solidFill>
          <a:ln/>
        </p:spPr>
      </p:sp>
      <p:sp>
        <p:nvSpPr>
          <p:cNvPr id="71" name="Text 69"/>
          <p:cNvSpPr/>
          <p:nvPr/>
        </p:nvSpPr>
        <p:spPr>
          <a:xfrm>
            <a:off x="7936992" y="608076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ESP32</a:t>
            </a:r>
            <a:endParaRPr lang="en-US" sz="850" dirty="0"/>
          </a:p>
        </p:txBody>
      </p:sp>
      <p:sp>
        <p:nvSpPr>
          <p:cNvPr id="72" name="Shape 70"/>
          <p:cNvSpPr/>
          <p:nvPr/>
        </p:nvSpPr>
        <p:spPr>
          <a:xfrm>
            <a:off x="8970264" y="6080760"/>
            <a:ext cx="914400" cy="274320"/>
          </a:xfrm>
          <a:prstGeom prst="roundRect">
            <a:avLst>
              <a:gd name="adj" fmla="val 16667"/>
            </a:avLst>
          </a:prstGeom>
          <a:solidFill>
            <a:srgbClr val="388E3C"/>
          </a:solidFill>
          <a:ln/>
        </p:spPr>
      </p:sp>
      <p:sp>
        <p:nvSpPr>
          <p:cNvPr id="73" name="Text 71"/>
          <p:cNvSpPr/>
          <p:nvPr/>
        </p:nvSpPr>
        <p:spPr>
          <a:xfrm>
            <a:off x="8970264" y="608076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MongoDB</a:t>
            </a:r>
            <a:endParaRPr lang="en-US" sz="850" dirty="0"/>
          </a:p>
        </p:txBody>
      </p:sp>
      <p:sp>
        <p:nvSpPr>
          <p:cNvPr id="74" name="Shape 72"/>
          <p:cNvSpPr/>
          <p:nvPr/>
        </p:nvSpPr>
        <p:spPr>
          <a:xfrm>
            <a:off x="10003536" y="6080760"/>
            <a:ext cx="914400" cy="274320"/>
          </a:xfrm>
          <a:prstGeom prst="roundRect">
            <a:avLst>
              <a:gd name="adj" fmla="val 16667"/>
            </a:avLst>
          </a:prstGeom>
          <a:solidFill>
            <a:srgbClr val="42A5F5"/>
          </a:solidFill>
          <a:ln/>
        </p:spPr>
      </p:sp>
      <p:sp>
        <p:nvSpPr>
          <p:cNvPr id="75" name="Text 73"/>
          <p:cNvSpPr/>
          <p:nvPr/>
        </p:nvSpPr>
        <p:spPr>
          <a:xfrm>
            <a:off x="10003536" y="608076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Vercel</a:t>
            </a:r>
            <a:endParaRPr lang="en-US" sz="850" dirty="0"/>
          </a:p>
        </p:txBody>
      </p:sp>
      <p:sp>
        <p:nvSpPr>
          <p:cNvPr id="76" name="Shape 74"/>
          <p:cNvSpPr/>
          <p:nvPr/>
        </p:nvSpPr>
        <p:spPr>
          <a:xfrm>
            <a:off x="11036808" y="6080760"/>
            <a:ext cx="914400" cy="274320"/>
          </a:xfrm>
          <a:prstGeom prst="roundRect">
            <a:avLst>
              <a:gd name="adj" fmla="val 16667"/>
            </a:avLst>
          </a:prstGeom>
          <a:solidFill>
            <a:srgbClr val="1976D2"/>
          </a:solidFill>
          <a:ln/>
        </p:spPr>
      </p:sp>
      <p:sp>
        <p:nvSpPr>
          <p:cNvPr id="77" name="Text 75"/>
          <p:cNvSpPr/>
          <p:nvPr/>
        </p:nvSpPr>
        <p:spPr>
          <a:xfrm>
            <a:off x="11036808" y="608076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REST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2</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2 of 10</a:t>
            </a:r>
            <a:endParaRPr lang="en-US" sz="750" dirty="0"/>
          </a:p>
        </p:txBody>
      </p:sp>
      <p:sp>
        <p:nvSpPr>
          <p:cNvPr id="10" name="Text 8"/>
          <p:cNvSpPr/>
          <p:nvPr/>
        </p:nvSpPr>
        <p:spPr>
          <a:xfrm>
            <a:off x="320040" y="1005840"/>
            <a:ext cx="5486400" cy="320040"/>
          </a:xfrm>
          <a:prstGeom prst="rect">
            <a:avLst/>
          </a:prstGeom>
          <a:noFill/>
          <a:ln/>
        </p:spPr>
        <p:txBody>
          <a:bodyPr wrap="square" rtlCol="0" anchor="ctr"/>
          <a:lstStyle/>
          <a:p>
            <a:pPr indent="0" marL="0">
              <a:buNone/>
            </a:pPr>
            <a:r>
              <a:rPr lang="en-US" sz="1300" b="1" dirty="0">
                <a:solidFill>
                  <a:srgbClr val="0D2B5E"/>
                </a:solidFill>
                <a:latin typeface="Calibri" pitchFamily="34" charset="0"/>
                <a:ea typeface="Calibri" pitchFamily="34" charset="-122"/>
                <a:cs typeface="Calibri" pitchFamily="34" charset="-120"/>
              </a:rPr>
              <a:t>Why do we need this system?</a:t>
            </a:r>
            <a:endParaRPr lang="en-US" sz="1300" dirty="0"/>
          </a:p>
        </p:txBody>
      </p:sp>
      <p:sp>
        <p:nvSpPr>
          <p:cNvPr id="11" name="Shape 9"/>
          <p:cNvSpPr/>
          <p:nvPr/>
        </p:nvSpPr>
        <p:spPr>
          <a:xfrm>
            <a:off x="320040" y="1325880"/>
            <a:ext cx="5303520" cy="16459"/>
          </a:xfrm>
          <a:prstGeom prst="rect">
            <a:avLst/>
          </a:prstGeom>
          <a:solidFill>
            <a:srgbClr val="BBDEFB"/>
          </a:solidFill>
          <a:ln/>
        </p:spPr>
      </p:sp>
      <p:sp>
        <p:nvSpPr>
          <p:cNvPr id="12" name="Shape 10"/>
          <p:cNvSpPr/>
          <p:nvPr/>
        </p:nvSpPr>
        <p:spPr>
          <a:xfrm>
            <a:off x="320040" y="1463040"/>
            <a:ext cx="5577840" cy="1024128"/>
          </a:xfrm>
          <a:prstGeom prst="roundRect">
            <a:avLst>
              <a:gd name="adj" fmla="val 8929"/>
            </a:avLst>
          </a:prstGeom>
          <a:solidFill>
            <a:srgbClr val="FFEBEE"/>
          </a:solidFill>
          <a:ln w="6350">
            <a:solidFill>
              <a:srgbClr val="B71C1C"/>
            </a:solidFill>
            <a:prstDash val="solid"/>
          </a:ln>
        </p:spPr>
      </p:sp>
      <p:sp>
        <p:nvSpPr>
          <p:cNvPr id="13" name="Shape 11"/>
          <p:cNvSpPr/>
          <p:nvPr/>
        </p:nvSpPr>
        <p:spPr>
          <a:xfrm>
            <a:off x="320040" y="1463040"/>
            <a:ext cx="658368" cy="1024128"/>
          </a:xfrm>
          <a:prstGeom prst="roundRect">
            <a:avLst>
              <a:gd name="adj" fmla="val 13889"/>
            </a:avLst>
          </a:prstGeom>
          <a:solidFill>
            <a:srgbClr val="B71C1C"/>
          </a:solidFill>
          <a:ln w="12700">
            <a:solidFill>
              <a:srgbClr val="B71C1C"/>
            </a:solidFill>
            <a:prstDash val="solid"/>
          </a:ln>
        </p:spPr>
      </p:sp>
      <p:sp>
        <p:nvSpPr>
          <p:cNvPr id="14" name="Shape 12"/>
          <p:cNvSpPr/>
          <p:nvPr/>
        </p:nvSpPr>
        <p:spPr>
          <a:xfrm>
            <a:off x="658368" y="1463040"/>
            <a:ext cx="320040" cy="1024128"/>
          </a:xfrm>
          <a:prstGeom prst="rect">
            <a:avLst/>
          </a:prstGeom>
          <a:solidFill>
            <a:srgbClr val="B71C1C"/>
          </a:solidFill>
          <a:ln w="12700">
            <a:solidFill>
              <a:srgbClr val="B71C1C"/>
            </a:solidFill>
            <a:prstDash val="solid"/>
          </a:ln>
        </p:spPr>
      </p:sp>
      <p:sp>
        <p:nvSpPr>
          <p:cNvPr id="15" name="Text 13"/>
          <p:cNvSpPr/>
          <p:nvPr/>
        </p:nvSpPr>
        <p:spPr>
          <a:xfrm>
            <a:off x="320040" y="1682496"/>
            <a:ext cx="658368"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051560" y="1554480"/>
            <a:ext cx="4663440"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Energy Wastage</a:t>
            </a:r>
            <a:endParaRPr lang="en-US" sz="1200" dirty="0"/>
          </a:p>
        </p:txBody>
      </p:sp>
      <p:sp>
        <p:nvSpPr>
          <p:cNvPr id="17" name="Text 15"/>
          <p:cNvSpPr/>
          <p:nvPr/>
        </p:nvSpPr>
        <p:spPr>
          <a:xfrm>
            <a:off x="1051560" y="1874520"/>
            <a:ext cx="4663440" cy="53035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Traditional lighting remains ON regardless of natural light levels, leading to unnecessary electricity consumption.</a:t>
            </a:r>
            <a:endParaRPr lang="en-US" sz="1050" dirty="0"/>
          </a:p>
        </p:txBody>
      </p:sp>
      <p:sp>
        <p:nvSpPr>
          <p:cNvPr id="18" name="Shape 16"/>
          <p:cNvSpPr/>
          <p:nvPr/>
        </p:nvSpPr>
        <p:spPr>
          <a:xfrm>
            <a:off x="320040" y="2651760"/>
            <a:ext cx="5577840" cy="1024128"/>
          </a:xfrm>
          <a:prstGeom prst="roundRect">
            <a:avLst>
              <a:gd name="adj" fmla="val 8929"/>
            </a:avLst>
          </a:prstGeom>
          <a:solidFill>
            <a:srgbClr val="FFEBEE"/>
          </a:solidFill>
          <a:ln w="6350">
            <a:solidFill>
              <a:srgbClr val="B71C1C"/>
            </a:solidFill>
            <a:prstDash val="solid"/>
          </a:ln>
        </p:spPr>
      </p:sp>
      <p:sp>
        <p:nvSpPr>
          <p:cNvPr id="19" name="Shape 17"/>
          <p:cNvSpPr/>
          <p:nvPr/>
        </p:nvSpPr>
        <p:spPr>
          <a:xfrm>
            <a:off x="320040" y="2651760"/>
            <a:ext cx="658368" cy="1024128"/>
          </a:xfrm>
          <a:prstGeom prst="roundRect">
            <a:avLst>
              <a:gd name="adj" fmla="val 13889"/>
            </a:avLst>
          </a:prstGeom>
          <a:solidFill>
            <a:srgbClr val="B71C1C"/>
          </a:solidFill>
          <a:ln w="12700">
            <a:solidFill>
              <a:srgbClr val="B71C1C"/>
            </a:solidFill>
            <a:prstDash val="solid"/>
          </a:ln>
        </p:spPr>
      </p:sp>
      <p:sp>
        <p:nvSpPr>
          <p:cNvPr id="20" name="Shape 18"/>
          <p:cNvSpPr/>
          <p:nvPr/>
        </p:nvSpPr>
        <p:spPr>
          <a:xfrm>
            <a:off x="658368" y="2651760"/>
            <a:ext cx="320040" cy="1024128"/>
          </a:xfrm>
          <a:prstGeom prst="rect">
            <a:avLst/>
          </a:prstGeom>
          <a:solidFill>
            <a:srgbClr val="B71C1C"/>
          </a:solidFill>
          <a:ln w="12700">
            <a:solidFill>
              <a:srgbClr val="B71C1C"/>
            </a:solidFill>
            <a:prstDash val="solid"/>
          </a:ln>
        </p:spPr>
      </p:sp>
      <p:sp>
        <p:nvSpPr>
          <p:cNvPr id="21" name="Text 19"/>
          <p:cNvSpPr/>
          <p:nvPr/>
        </p:nvSpPr>
        <p:spPr>
          <a:xfrm>
            <a:off x="320040" y="2871216"/>
            <a:ext cx="658368"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1051560" y="2743200"/>
            <a:ext cx="4663440"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Manual Operation</a:t>
            </a:r>
            <a:endParaRPr lang="en-US" sz="1200" dirty="0"/>
          </a:p>
        </p:txBody>
      </p:sp>
      <p:sp>
        <p:nvSpPr>
          <p:cNvPr id="23" name="Text 21"/>
          <p:cNvSpPr/>
          <p:nvPr/>
        </p:nvSpPr>
        <p:spPr>
          <a:xfrm>
            <a:off x="1051560" y="3063240"/>
            <a:ext cx="4663440" cy="53035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Occupants must physically switch lights ON/OFF, causing inconvenience and human error.</a:t>
            </a:r>
            <a:endParaRPr lang="en-US" sz="1050" dirty="0"/>
          </a:p>
        </p:txBody>
      </p:sp>
      <p:sp>
        <p:nvSpPr>
          <p:cNvPr id="24" name="Shape 22"/>
          <p:cNvSpPr/>
          <p:nvPr/>
        </p:nvSpPr>
        <p:spPr>
          <a:xfrm>
            <a:off x="320040" y="3840480"/>
            <a:ext cx="5577840" cy="1024128"/>
          </a:xfrm>
          <a:prstGeom prst="roundRect">
            <a:avLst>
              <a:gd name="adj" fmla="val 8929"/>
            </a:avLst>
          </a:prstGeom>
          <a:solidFill>
            <a:srgbClr val="FFEBEE"/>
          </a:solidFill>
          <a:ln w="6350">
            <a:solidFill>
              <a:srgbClr val="B71C1C"/>
            </a:solidFill>
            <a:prstDash val="solid"/>
          </a:ln>
        </p:spPr>
      </p:sp>
      <p:sp>
        <p:nvSpPr>
          <p:cNvPr id="25" name="Shape 23"/>
          <p:cNvSpPr/>
          <p:nvPr/>
        </p:nvSpPr>
        <p:spPr>
          <a:xfrm>
            <a:off x="320040" y="3840480"/>
            <a:ext cx="658368" cy="1024128"/>
          </a:xfrm>
          <a:prstGeom prst="roundRect">
            <a:avLst>
              <a:gd name="adj" fmla="val 13889"/>
            </a:avLst>
          </a:prstGeom>
          <a:solidFill>
            <a:srgbClr val="B71C1C"/>
          </a:solidFill>
          <a:ln w="12700">
            <a:solidFill>
              <a:srgbClr val="B71C1C"/>
            </a:solidFill>
            <a:prstDash val="solid"/>
          </a:ln>
        </p:spPr>
      </p:sp>
      <p:sp>
        <p:nvSpPr>
          <p:cNvPr id="26" name="Shape 24"/>
          <p:cNvSpPr/>
          <p:nvPr/>
        </p:nvSpPr>
        <p:spPr>
          <a:xfrm>
            <a:off x="658368" y="3840480"/>
            <a:ext cx="320040" cy="1024128"/>
          </a:xfrm>
          <a:prstGeom prst="rect">
            <a:avLst/>
          </a:prstGeom>
          <a:solidFill>
            <a:srgbClr val="B71C1C"/>
          </a:solidFill>
          <a:ln w="12700">
            <a:solidFill>
              <a:srgbClr val="B71C1C"/>
            </a:solidFill>
            <a:prstDash val="solid"/>
          </a:ln>
        </p:spPr>
      </p:sp>
      <p:sp>
        <p:nvSpPr>
          <p:cNvPr id="27" name="Text 25"/>
          <p:cNvSpPr/>
          <p:nvPr/>
        </p:nvSpPr>
        <p:spPr>
          <a:xfrm>
            <a:off x="320040" y="4059936"/>
            <a:ext cx="658368"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1051560" y="3931920"/>
            <a:ext cx="4663440"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No Real-Time Monitor</a:t>
            </a:r>
            <a:endParaRPr lang="en-US" sz="1200" dirty="0"/>
          </a:p>
        </p:txBody>
      </p:sp>
      <p:sp>
        <p:nvSpPr>
          <p:cNvPr id="29" name="Text 27"/>
          <p:cNvSpPr/>
          <p:nvPr/>
        </p:nvSpPr>
        <p:spPr>
          <a:xfrm>
            <a:off x="1051560" y="4251960"/>
            <a:ext cx="4663440" cy="53035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Facility managers have no visibility into current light conditions or historical usage patterns.</a:t>
            </a:r>
            <a:endParaRPr lang="en-US" sz="1050" dirty="0"/>
          </a:p>
        </p:txBody>
      </p:sp>
      <p:sp>
        <p:nvSpPr>
          <p:cNvPr id="30" name="Shape 28"/>
          <p:cNvSpPr/>
          <p:nvPr/>
        </p:nvSpPr>
        <p:spPr>
          <a:xfrm>
            <a:off x="320040" y="5029200"/>
            <a:ext cx="5577840" cy="1024128"/>
          </a:xfrm>
          <a:prstGeom prst="roundRect">
            <a:avLst>
              <a:gd name="adj" fmla="val 8929"/>
            </a:avLst>
          </a:prstGeom>
          <a:solidFill>
            <a:srgbClr val="FFEBEE"/>
          </a:solidFill>
          <a:ln w="6350">
            <a:solidFill>
              <a:srgbClr val="B71C1C"/>
            </a:solidFill>
            <a:prstDash val="solid"/>
          </a:ln>
        </p:spPr>
      </p:sp>
      <p:sp>
        <p:nvSpPr>
          <p:cNvPr id="31" name="Shape 29"/>
          <p:cNvSpPr/>
          <p:nvPr/>
        </p:nvSpPr>
        <p:spPr>
          <a:xfrm>
            <a:off x="320040" y="5029200"/>
            <a:ext cx="658368" cy="1024128"/>
          </a:xfrm>
          <a:prstGeom prst="roundRect">
            <a:avLst>
              <a:gd name="adj" fmla="val 13889"/>
            </a:avLst>
          </a:prstGeom>
          <a:solidFill>
            <a:srgbClr val="B71C1C"/>
          </a:solidFill>
          <a:ln w="12700">
            <a:solidFill>
              <a:srgbClr val="B71C1C"/>
            </a:solidFill>
            <a:prstDash val="solid"/>
          </a:ln>
        </p:spPr>
      </p:sp>
      <p:sp>
        <p:nvSpPr>
          <p:cNvPr id="32" name="Shape 30"/>
          <p:cNvSpPr/>
          <p:nvPr/>
        </p:nvSpPr>
        <p:spPr>
          <a:xfrm>
            <a:off x="658368" y="5029200"/>
            <a:ext cx="320040" cy="1024128"/>
          </a:xfrm>
          <a:prstGeom prst="rect">
            <a:avLst/>
          </a:prstGeom>
          <a:solidFill>
            <a:srgbClr val="B71C1C"/>
          </a:solidFill>
          <a:ln w="12700">
            <a:solidFill>
              <a:srgbClr val="B71C1C"/>
            </a:solidFill>
            <a:prstDash val="solid"/>
          </a:ln>
        </p:spPr>
      </p:sp>
      <p:sp>
        <p:nvSpPr>
          <p:cNvPr id="33" name="Text 31"/>
          <p:cNvSpPr/>
          <p:nvPr/>
        </p:nvSpPr>
        <p:spPr>
          <a:xfrm>
            <a:off x="320040" y="5248656"/>
            <a:ext cx="658368"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4" name="Text 32"/>
          <p:cNvSpPr/>
          <p:nvPr/>
        </p:nvSpPr>
        <p:spPr>
          <a:xfrm>
            <a:off x="1051560" y="5120640"/>
            <a:ext cx="4663440"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Lack of Automation</a:t>
            </a:r>
            <a:endParaRPr lang="en-US" sz="1200" dirty="0"/>
          </a:p>
        </p:txBody>
      </p:sp>
      <p:sp>
        <p:nvSpPr>
          <p:cNvPr id="35" name="Text 33"/>
          <p:cNvSpPr/>
          <p:nvPr/>
        </p:nvSpPr>
        <p:spPr>
          <a:xfrm>
            <a:off x="1051560" y="5440680"/>
            <a:ext cx="4663440" cy="53035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No threshold-based logic exists to automatically adjust lighting based on ambient conditions.</a:t>
            </a:r>
            <a:endParaRPr lang="en-US" sz="1050" dirty="0"/>
          </a:p>
        </p:txBody>
      </p:sp>
      <p:sp>
        <p:nvSpPr>
          <p:cNvPr id="36" name="Text 34"/>
          <p:cNvSpPr/>
          <p:nvPr/>
        </p:nvSpPr>
        <p:spPr>
          <a:xfrm>
            <a:off x="6400800" y="1005840"/>
            <a:ext cx="5394960" cy="320040"/>
          </a:xfrm>
          <a:prstGeom prst="rect">
            <a:avLst/>
          </a:prstGeom>
          <a:noFill/>
          <a:ln/>
        </p:spPr>
        <p:txBody>
          <a:bodyPr wrap="square" rtlCol="0" anchor="ctr"/>
          <a:lstStyle/>
          <a:p>
            <a:pPr algn="ctr" indent="0" marL="0">
              <a:buNone/>
            </a:pPr>
            <a:r>
              <a:rPr lang="en-US" sz="1300" b="1" dirty="0">
                <a:solidFill>
                  <a:srgbClr val="0D2B5E"/>
                </a:solidFill>
                <a:latin typeface="Calibri" pitchFamily="34" charset="0"/>
                <a:ea typeface="Calibri" pitchFamily="34" charset="-122"/>
                <a:cs typeface="Calibri" pitchFamily="34" charset="-120"/>
              </a:rPr>
              <a:t>System Comparison</a:t>
            </a:r>
            <a:endParaRPr lang="en-US" sz="1300" dirty="0"/>
          </a:p>
        </p:txBody>
      </p:sp>
      <p:sp>
        <p:nvSpPr>
          <p:cNvPr id="37" name="Shape 35"/>
          <p:cNvSpPr/>
          <p:nvPr/>
        </p:nvSpPr>
        <p:spPr>
          <a:xfrm>
            <a:off x="6400800" y="1325880"/>
            <a:ext cx="5394960" cy="16459"/>
          </a:xfrm>
          <a:prstGeom prst="rect">
            <a:avLst/>
          </a:prstGeom>
          <a:solidFill>
            <a:srgbClr val="BBDEFB"/>
          </a:solidFill>
          <a:ln/>
        </p:spPr>
      </p:sp>
      <p:sp>
        <p:nvSpPr>
          <p:cNvPr id="38" name="Shape 36"/>
          <p:cNvSpPr/>
          <p:nvPr/>
        </p:nvSpPr>
        <p:spPr>
          <a:xfrm>
            <a:off x="6492240" y="1463040"/>
            <a:ext cx="2468880" cy="4251960"/>
          </a:xfrm>
          <a:prstGeom prst="roundRect">
            <a:avLst>
              <a:gd name="adj" fmla="val 3704"/>
            </a:avLst>
          </a:prstGeom>
          <a:solidFill>
            <a:srgbClr val="FFEBEE"/>
          </a:solidFill>
          <a:ln w="12700">
            <a:solidFill>
              <a:srgbClr val="B71C1C"/>
            </a:solidFill>
            <a:prstDash val="solid"/>
          </a:ln>
        </p:spPr>
      </p:sp>
      <p:sp>
        <p:nvSpPr>
          <p:cNvPr id="39" name="Shape 37"/>
          <p:cNvSpPr/>
          <p:nvPr/>
        </p:nvSpPr>
        <p:spPr>
          <a:xfrm>
            <a:off x="6492240" y="1463040"/>
            <a:ext cx="2468880" cy="384048"/>
          </a:xfrm>
          <a:prstGeom prst="rect">
            <a:avLst/>
          </a:prstGeom>
          <a:solidFill>
            <a:srgbClr val="B71C1C"/>
          </a:solidFill>
          <a:ln w="12700">
            <a:solidFill>
              <a:srgbClr val="B71C1C"/>
            </a:solidFill>
            <a:prstDash val="solid"/>
          </a:ln>
        </p:spPr>
      </p:sp>
      <p:sp>
        <p:nvSpPr>
          <p:cNvPr id="40" name="Shape 38"/>
          <p:cNvSpPr/>
          <p:nvPr/>
        </p:nvSpPr>
        <p:spPr>
          <a:xfrm>
            <a:off x="6492240" y="1463040"/>
            <a:ext cx="2468880" cy="384048"/>
          </a:xfrm>
          <a:prstGeom prst="roundRect">
            <a:avLst>
              <a:gd name="adj" fmla="val 23810"/>
            </a:avLst>
          </a:prstGeom>
          <a:solidFill>
            <a:srgbClr val="B71C1C"/>
          </a:solidFill>
          <a:ln w="12700">
            <a:solidFill>
              <a:srgbClr val="B71C1C"/>
            </a:solidFill>
            <a:prstDash val="solid"/>
          </a:ln>
        </p:spPr>
      </p:sp>
      <p:sp>
        <p:nvSpPr>
          <p:cNvPr id="41" name="Shape 39"/>
          <p:cNvSpPr/>
          <p:nvPr/>
        </p:nvSpPr>
        <p:spPr>
          <a:xfrm>
            <a:off x="6492240" y="1645920"/>
            <a:ext cx="2468880" cy="201168"/>
          </a:xfrm>
          <a:prstGeom prst="rect">
            <a:avLst/>
          </a:prstGeom>
          <a:solidFill>
            <a:srgbClr val="B71C1C"/>
          </a:solidFill>
          <a:ln w="12700">
            <a:solidFill>
              <a:srgbClr val="B71C1C"/>
            </a:solidFill>
            <a:prstDash val="solid"/>
          </a:ln>
        </p:spPr>
      </p:sp>
      <p:sp>
        <p:nvSpPr>
          <p:cNvPr id="42" name="Text 40"/>
          <p:cNvSpPr/>
          <p:nvPr/>
        </p:nvSpPr>
        <p:spPr>
          <a:xfrm>
            <a:off x="6492240" y="1481328"/>
            <a:ext cx="24688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Traditional System</a:t>
            </a:r>
            <a:endParaRPr lang="en-US" sz="1100" dirty="0"/>
          </a:p>
        </p:txBody>
      </p:sp>
      <p:sp>
        <p:nvSpPr>
          <p:cNvPr id="43" name="Shape 41"/>
          <p:cNvSpPr/>
          <p:nvPr/>
        </p:nvSpPr>
        <p:spPr>
          <a:xfrm>
            <a:off x="6675120" y="2084832"/>
            <a:ext cx="109728" cy="109728"/>
          </a:xfrm>
          <a:prstGeom prst="ellipse">
            <a:avLst/>
          </a:prstGeom>
          <a:solidFill>
            <a:srgbClr val="B71C1C"/>
          </a:solidFill>
          <a:ln/>
        </p:spPr>
      </p:sp>
      <p:sp>
        <p:nvSpPr>
          <p:cNvPr id="44" name="Text 42"/>
          <p:cNvSpPr/>
          <p:nvPr/>
        </p:nvSpPr>
        <p:spPr>
          <a:xfrm>
            <a:off x="6858000" y="2011680"/>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Always ON</a:t>
            </a:r>
            <a:endParaRPr lang="en-US" sz="1050" dirty="0"/>
          </a:p>
        </p:txBody>
      </p:sp>
      <p:sp>
        <p:nvSpPr>
          <p:cNvPr id="45" name="Shape 43"/>
          <p:cNvSpPr/>
          <p:nvPr/>
        </p:nvSpPr>
        <p:spPr>
          <a:xfrm>
            <a:off x="6675120" y="2560320"/>
            <a:ext cx="109728" cy="109728"/>
          </a:xfrm>
          <a:prstGeom prst="ellipse">
            <a:avLst/>
          </a:prstGeom>
          <a:solidFill>
            <a:srgbClr val="B71C1C"/>
          </a:solidFill>
          <a:ln/>
        </p:spPr>
      </p:sp>
      <p:sp>
        <p:nvSpPr>
          <p:cNvPr id="46" name="Text 44"/>
          <p:cNvSpPr/>
          <p:nvPr/>
        </p:nvSpPr>
        <p:spPr>
          <a:xfrm>
            <a:off x="6858000" y="2487168"/>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Manual switches only</a:t>
            </a:r>
            <a:endParaRPr lang="en-US" sz="1050" dirty="0"/>
          </a:p>
        </p:txBody>
      </p:sp>
      <p:sp>
        <p:nvSpPr>
          <p:cNvPr id="47" name="Shape 45"/>
          <p:cNvSpPr/>
          <p:nvPr/>
        </p:nvSpPr>
        <p:spPr>
          <a:xfrm>
            <a:off x="6675120" y="3035808"/>
            <a:ext cx="109728" cy="109728"/>
          </a:xfrm>
          <a:prstGeom prst="ellipse">
            <a:avLst/>
          </a:prstGeom>
          <a:solidFill>
            <a:srgbClr val="B71C1C"/>
          </a:solidFill>
          <a:ln/>
        </p:spPr>
      </p:sp>
      <p:sp>
        <p:nvSpPr>
          <p:cNvPr id="48" name="Text 46"/>
          <p:cNvSpPr/>
          <p:nvPr/>
        </p:nvSpPr>
        <p:spPr>
          <a:xfrm>
            <a:off x="6858000" y="2962656"/>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No data collection</a:t>
            </a:r>
            <a:endParaRPr lang="en-US" sz="1050" dirty="0"/>
          </a:p>
        </p:txBody>
      </p:sp>
      <p:sp>
        <p:nvSpPr>
          <p:cNvPr id="49" name="Shape 47"/>
          <p:cNvSpPr/>
          <p:nvPr/>
        </p:nvSpPr>
        <p:spPr>
          <a:xfrm>
            <a:off x="6675120" y="3511296"/>
            <a:ext cx="109728" cy="109728"/>
          </a:xfrm>
          <a:prstGeom prst="ellipse">
            <a:avLst/>
          </a:prstGeom>
          <a:solidFill>
            <a:srgbClr val="B71C1C"/>
          </a:solidFill>
          <a:ln/>
        </p:spPr>
      </p:sp>
      <p:sp>
        <p:nvSpPr>
          <p:cNvPr id="50" name="Text 48"/>
          <p:cNvSpPr/>
          <p:nvPr/>
        </p:nvSpPr>
        <p:spPr>
          <a:xfrm>
            <a:off x="6858000" y="3438144"/>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No remote access</a:t>
            </a:r>
            <a:endParaRPr lang="en-US" sz="1050" dirty="0"/>
          </a:p>
        </p:txBody>
      </p:sp>
      <p:sp>
        <p:nvSpPr>
          <p:cNvPr id="51" name="Shape 49"/>
          <p:cNvSpPr/>
          <p:nvPr/>
        </p:nvSpPr>
        <p:spPr>
          <a:xfrm>
            <a:off x="6675120" y="3986784"/>
            <a:ext cx="109728" cy="109728"/>
          </a:xfrm>
          <a:prstGeom prst="ellipse">
            <a:avLst/>
          </a:prstGeom>
          <a:solidFill>
            <a:srgbClr val="B71C1C"/>
          </a:solidFill>
          <a:ln/>
        </p:spPr>
      </p:sp>
      <p:sp>
        <p:nvSpPr>
          <p:cNvPr id="52" name="Text 50"/>
          <p:cNvSpPr/>
          <p:nvPr/>
        </p:nvSpPr>
        <p:spPr>
          <a:xfrm>
            <a:off x="6858000" y="3913632"/>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High energy bills</a:t>
            </a:r>
            <a:endParaRPr lang="en-US" sz="1050" dirty="0"/>
          </a:p>
        </p:txBody>
      </p:sp>
      <p:sp>
        <p:nvSpPr>
          <p:cNvPr id="53" name="Shape 51"/>
          <p:cNvSpPr/>
          <p:nvPr/>
        </p:nvSpPr>
        <p:spPr>
          <a:xfrm>
            <a:off x="6675120" y="4462272"/>
            <a:ext cx="109728" cy="109728"/>
          </a:xfrm>
          <a:prstGeom prst="ellipse">
            <a:avLst/>
          </a:prstGeom>
          <a:solidFill>
            <a:srgbClr val="B71C1C"/>
          </a:solidFill>
          <a:ln/>
        </p:spPr>
      </p:sp>
      <p:sp>
        <p:nvSpPr>
          <p:cNvPr id="54" name="Text 52"/>
          <p:cNvSpPr/>
          <p:nvPr/>
        </p:nvSpPr>
        <p:spPr>
          <a:xfrm>
            <a:off x="6858000" y="4389120"/>
            <a:ext cx="20116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No automation</a:t>
            </a:r>
            <a:endParaRPr lang="en-US" sz="1050" dirty="0"/>
          </a:p>
        </p:txBody>
      </p:sp>
      <p:sp>
        <p:nvSpPr>
          <p:cNvPr id="55" name="Shape 53"/>
          <p:cNvSpPr/>
          <p:nvPr/>
        </p:nvSpPr>
        <p:spPr>
          <a:xfrm>
            <a:off x="6629400" y="5349240"/>
            <a:ext cx="2194560" cy="274320"/>
          </a:xfrm>
          <a:prstGeom prst="roundRect">
            <a:avLst>
              <a:gd name="adj" fmla="val 16667"/>
            </a:avLst>
          </a:prstGeom>
          <a:solidFill>
            <a:srgbClr val="B71C1C"/>
          </a:solidFill>
          <a:ln/>
        </p:spPr>
      </p:sp>
      <p:sp>
        <p:nvSpPr>
          <p:cNvPr id="56" name="Text 54"/>
          <p:cNvSpPr/>
          <p:nvPr/>
        </p:nvSpPr>
        <p:spPr>
          <a:xfrm>
            <a:off x="6629400" y="5349240"/>
            <a:ext cx="21945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Energy Wastage</a:t>
            </a:r>
            <a:endParaRPr lang="en-US" sz="1000" dirty="0"/>
          </a:p>
        </p:txBody>
      </p:sp>
      <p:sp>
        <p:nvSpPr>
          <p:cNvPr id="57" name="Shape 55"/>
          <p:cNvSpPr/>
          <p:nvPr/>
        </p:nvSpPr>
        <p:spPr>
          <a:xfrm>
            <a:off x="9125712" y="3291840"/>
            <a:ext cx="512064" cy="457200"/>
          </a:xfrm>
          <a:prstGeom prst="rightArrow">
            <a:avLst/>
          </a:prstGeom>
          <a:solidFill>
            <a:srgbClr val="42A5F5"/>
          </a:solidFill>
          <a:ln w="12700">
            <a:solidFill>
              <a:srgbClr val="42A5F5"/>
            </a:solidFill>
            <a:prstDash val="solid"/>
          </a:ln>
        </p:spPr>
      </p:sp>
      <p:sp>
        <p:nvSpPr>
          <p:cNvPr id="58" name="Shape 56"/>
          <p:cNvSpPr/>
          <p:nvPr/>
        </p:nvSpPr>
        <p:spPr>
          <a:xfrm>
            <a:off x="9738360" y="1463040"/>
            <a:ext cx="2194560" cy="4251960"/>
          </a:xfrm>
          <a:prstGeom prst="roundRect">
            <a:avLst>
              <a:gd name="adj" fmla="val 4167"/>
            </a:avLst>
          </a:prstGeom>
          <a:solidFill>
            <a:srgbClr val="E8F5E9"/>
          </a:solidFill>
          <a:ln w="12700">
            <a:solidFill>
              <a:srgbClr val="388E3C"/>
            </a:solidFill>
            <a:prstDash val="solid"/>
          </a:ln>
        </p:spPr>
      </p:sp>
      <p:sp>
        <p:nvSpPr>
          <p:cNvPr id="59" name="Shape 57"/>
          <p:cNvSpPr/>
          <p:nvPr/>
        </p:nvSpPr>
        <p:spPr>
          <a:xfrm>
            <a:off x="9738360" y="1463040"/>
            <a:ext cx="2194560" cy="384048"/>
          </a:xfrm>
          <a:prstGeom prst="rect">
            <a:avLst/>
          </a:prstGeom>
          <a:solidFill>
            <a:srgbClr val="388E3C"/>
          </a:solidFill>
          <a:ln w="12700">
            <a:solidFill>
              <a:srgbClr val="388E3C"/>
            </a:solidFill>
            <a:prstDash val="solid"/>
          </a:ln>
        </p:spPr>
      </p:sp>
      <p:sp>
        <p:nvSpPr>
          <p:cNvPr id="60" name="Shape 58"/>
          <p:cNvSpPr/>
          <p:nvPr/>
        </p:nvSpPr>
        <p:spPr>
          <a:xfrm>
            <a:off x="9738360" y="1463040"/>
            <a:ext cx="2194560" cy="384048"/>
          </a:xfrm>
          <a:prstGeom prst="roundRect">
            <a:avLst>
              <a:gd name="adj" fmla="val 23810"/>
            </a:avLst>
          </a:prstGeom>
          <a:solidFill>
            <a:srgbClr val="388E3C"/>
          </a:solidFill>
          <a:ln w="12700">
            <a:solidFill>
              <a:srgbClr val="388E3C"/>
            </a:solidFill>
            <a:prstDash val="solid"/>
          </a:ln>
        </p:spPr>
      </p:sp>
      <p:sp>
        <p:nvSpPr>
          <p:cNvPr id="61" name="Shape 59"/>
          <p:cNvSpPr/>
          <p:nvPr/>
        </p:nvSpPr>
        <p:spPr>
          <a:xfrm>
            <a:off x="9738360" y="1645920"/>
            <a:ext cx="2194560" cy="201168"/>
          </a:xfrm>
          <a:prstGeom prst="rect">
            <a:avLst/>
          </a:prstGeom>
          <a:solidFill>
            <a:srgbClr val="388E3C"/>
          </a:solidFill>
          <a:ln w="12700">
            <a:solidFill>
              <a:srgbClr val="388E3C"/>
            </a:solidFill>
            <a:prstDash val="solid"/>
          </a:ln>
        </p:spPr>
      </p:sp>
      <p:sp>
        <p:nvSpPr>
          <p:cNvPr id="62" name="Text 60"/>
          <p:cNvSpPr/>
          <p:nvPr/>
        </p:nvSpPr>
        <p:spPr>
          <a:xfrm>
            <a:off x="9738360" y="1481328"/>
            <a:ext cx="219456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Smart System</a:t>
            </a:r>
            <a:endParaRPr lang="en-US" sz="1100" dirty="0"/>
          </a:p>
        </p:txBody>
      </p:sp>
      <p:sp>
        <p:nvSpPr>
          <p:cNvPr id="63" name="Shape 61"/>
          <p:cNvSpPr/>
          <p:nvPr/>
        </p:nvSpPr>
        <p:spPr>
          <a:xfrm>
            <a:off x="9893808" y="2084832"/>
            <a:ext cx="109728" cy="109728"/>
          </a:xfrm>
          <a:prstGeom prst="ellipse">
            <a:avLst/>
          </a:prstGeom>
          <a:solidFill>
            <a:srgbClr val="388E3C"/>
          </a:solidFill>
          <a:ln/>
        </p:spPr>
      </p:sp>
      <p:sp>
        <p:nvSpPr>
          <p:cNvPr id="64" name="Text 62"/>
          <p:cNvSpPr/>
          <p:nvPr/>
        </p:nvSpPr>
        <p:spPr>
          <a:xfrm>
            <a:off x="10058400" y="2011680"/>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Threshold-based</a:t>
            </a:r>
            <a:endParaRPr lang="en-US" sz="1050" dirty="0"/>
          </a:p>
        </p:txBody>
      </p:sp>
      <p:sp>
        <p:nvSpPr>
          <p:cNvPr id="65" name="Shape 63"/>
          <p:cNvSpPr/>
          <p:nvPr/>
        </p:nvSpPr>
        <p:spPr>
          <a:xfrm>
            <a:off x="9893808" y="2560320"/>
            <a:ext cx="109728" cy="109728"/>
          </a:xfrm>
          <a:prstGeom prst="ellipse">
            <a:avLst/>
          </a:prstGeom>
          <a:solidFill>
            <a:srgbClr val="388E3C"/>
          </a:solidFill>
          <a:ln/>
        </p:spPr>
      </p:sp>
      <p:sp>
        <p:nvSpPr>
          <p:cNvPr id="66" name="Text 64"/>
          <p:cNvSpPr/>
          <p:nvPr/>
        </p:nvSpPr>
        <p:spPr>
          <a:xfrm>
            <a:off x="10058400" y="2487168"/>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Remote web control</a:t>
            </a:r>
            <a:endParaRPr lang="en-US" sz="1050" dirty="0"/>
          </a:p>
        </p:txBody>
      </p:sp>
      <p:sp>
        <p:nvSpPr>
          <p:cNvPr id="67" name="Shape 65"/>
          <p:cNvSpPr/>
          <p:nvPr/>
        </p:nvSpPr>
        <p:spPr>
          <a:xfrm>
            <a:off x="9893808" y="3035808"/>
            <a:ext cx="109728" cy="109728"/>
          </a:xfrm>
          <a:prstGeom prst="ellipse">
            <a:avLst/>
          </a:prstGeom>
          <a:solidFill>
            <a:srgbClr val="388E3C"/>
          </a:solidFill>
          <a:ln/>
        </p:spPr>
      </p:sp>
      <p:sp>
        <p:nvSpPr>
          <p:cNvPr id="68" name="Text 66"/>
          <p:cNvSpPr/>
          <p:nvPr/>
        </p:nvSpPr>
        <p:spPr>
          <a:xfrm>
            <a:off x="10058400" y="2962656"/>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Real-time dashboard</a:t>
            </a:r>
            <a:endParaRPr lang="en-US" sz="1050" dirty="0"/>
          </a:p>
        </p:txBody>
      </p:sp>
      <p:sp>
        <p:nvSpPr>
          <p:cNvPr id="69" name="Shape 67"/>
          <p:cNvSpPr/>
          <p:nvPr/>
        </p:nvSpPr>
        <p:spPr>
          <a:xfrm>
            <a:off x="9893808" y="3511296"/>
            <a:ext cx="109728" cy="109728"/>
          </a:xfrm>
          <a:prstGeom prst="ellipse">
            <a:avLst/>
          </a:prstGeom>
          <a:solidFill>
            <a:srgbClr val="388E3C"/>
          </a:solidFill>
          <a:ln/>
        </p:spPr>
      </p:sp>
      <p:sp>
        <p:nvSpPr>
          <p:cNvPr id="70" name="Text 68"/>
          <p:cNvSpPr/>
          <p:nvPr/>
        </p:nvSpPr>
        <p:spPr>
          <a:xfrm>
            <a:off x="10058400" y="3438144"/>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REST API driven</a:t>
            </a:r>
            <a:endParaRPr lang="en-US" sz="1050" dirty="0"/>
          </a:p>
        </p:txBody>
      </p:sp>
      <p:sp>
        <p:nvSpPr>
          <p:cNvPr id="71" name="Shape 69"/>
          <p:cNvSpPr/>
          <p:nvPr/>
        </p:nvSpPr>
        <p:spPr>
          <a:xfrm>
            <a:off x="9893808" y="3986784"/>
            <a:ext cx="109728" cy="109728"/>
          </a:xfrm>
          <a:prstGeom prst="ellipse">
            <a:avLst/>
          </a:prstGeom>
          <a:solidFill>
            <a:srgbClr val="388E3C"/>
          </a:solidFill>
          <a:ln/>
        </p:spPr>
      </p:sp>
      <p:sp>
        <p:nvSpPr>
          <p:cNvPr id="72" name="Text 70"/>
          <p:cNvSpPr/>
          <p:nvPr/>
        </p:nvSpPr>
        <p:spPr>
          <a:xfrm>
            <a:off x="10058400" y="3913632"/>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Energy efficient</a:t>
            </a:r>
            <a:endParaRPr lang="en-US" sz="1050" dirty="0"/>
          </a:p>
        </p:txBody>
      </p:sp>
      <p:sp>
        <p:nvSpPr>
          <p:cNvPr id="73" name="Shape 71"/>
          <p:cNvSpPr/>
          <p:nvPr/>
        </p:nvSpPr>
        <p:spPr>
          <a:xfrm>
            <a:off x="9893808" y="4462272"/>
            <a:ext cx="109728" cy="109728"/>
          </a:xfrm>
          <a:prstGeom prst="ellipse">
            <a:avLst/>
          </a:prstGeom>
          <a:solidFill>
            <a:srgbClr val="388E3C"/>
          </a:solidFill>
          <a:ln/>
        </p:spPr>
      </p:sp>
      <p:sp>
        <p:nvSpPr>
          <p:cNvPr id="74" name="Text 72"/>
          <p:cNvSpPr/>
          <p:nvPr/>
        </p:nvSpPr>
        <p:spPr>
          <a:xfrm>
            <a:off x="10058400" y="4389120"/>
            <a:ext cx="1783080" cy="347472"/>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Fully automated</a:t>
            </a:r>
            <a:endParaRPr lang="en-US" sz="1050" dirty="0"/>
          </a:p>
        </p:txBody>
      </p:sp>
      <p:sp>
        <p:nvSpPr>
          <p:cNvPr id="75" name="Shape 73"/>
          <p:cNvSpPr/>
          <p:nvPr/>
        </p:nvSpPr>
        <p:spPr>
          <a:xfrm>
            <a:off x="9875520" y="5349240"/>
            <a:ext cx="1920240" cy="274320"/>
          </a:xfrm>
          <a:prstGeom prst="roundRect">
            <a:avLst>
              <a:gd name="adj" fmla="val 16667"/>
            </a:avLst>
          </a:prstGeom>
          <a:solidFill>
            <a:srgbClr val="388E3C"/>
          </a:solidFill>
          <a:ln/>
        </p:spPr>
      </p:sp>
      <p:sp>
        <p:nvSpPr>
          <p:cNvPr id="76" name="Text 74"/>
          <p:cNvSpPr/>
          <p:nvPr/>
        </p:nvSpPr>
        <p:spPr>
          <a:xfrm>
            <a:off x="9875520" y="5349240"/>
            <a:ext cx="192024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Saves Energy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3</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Objectives</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3 of 10</a:t>
            </a:r>
            <a:endParaRPr lang="en-US" sz="750" dirty="0"/>
          </a:p>
        </p:txBody>
      </p:sp>
      <p:sp>
        <p:nvSpPr>
          <p:cNvPr id="10" name="Text 8"/>
          <p:cNvSpPr/>
          <p:nvPr/>
        </p:nvSpPr>
        <p:spPr>
          <a:xfrm>
            <a:off x="320040" y="960120"/>
            <a:ext cx="11521440" cy="292608"/>
          </a:xfrm>
          <a:prstGeom prst="rect">
            <a:avLst/>
          </a:prstGeom>
          <a:noFill/>
          <a:ln/>
        </p:spPr>
        <p:txBody>
          <a:bodyPr wrap="square" rtlCol="0" anchor="ctr"/>
          <a:lstStyle/>
          <a:p>
            <a:pPr indent="0" marL="0">
              <a:buNone/>
            </a:pPr>
            <a:r>
              <a:rPr lang="en-US" sz="1200" i="1" dirty="0">
                <a:solidFill>
                  <a:srgbClr val="78909C"/>
                </a:solidFill>
                <a:latin typeface="Calibri" pitchFamily="34" charset="0"/>
                <a:ea typeface="Calibri" pitchFamily="34" charset="-122"/>
                <a:cs typeface="Calibri" pitchFamily="34" charset="-120"/>
              </a:rPr>
              <a:t>Four clearly defined engineering objectives guide this project:</a:t>
            </a:r>
            <a:endParaRPr lang="en-US" sz="1200" dirty="0"/>
          </a:p>
        </p:txBody>
      </p:sp>
      <p:sp>
        <p:nvSpPr>
          <p:cNvPr id="11" name="Shape 9"/>
          <p:cNvSpPr/>
          <p:nvPr/>
        </p:nvSpPr>
        <p:spPr>
          <a:xfrm>
            <a:off x="320040" y="1371600"/>
            <a:ext cx="5669280" cy="2267712"/>
          </a:xfrm>
          <a:prstGeom prst="roundRect">
            <a:avLst>
              <a:gd name="adj" fmla="val 4032"/>
            </a:avLst>
          </a:prstGeom>
          <a:solidFill>
            <a:srgbClr val="FFF8E1"/>
          </a:solidFill>
          <a:ln w="9525">
            <a:solidFill>
              <a:srgbClr val="F57F17"/>
            </a:solidFill>
            <a:prstDash val="solid"/>
          </a:ln>
        </p:spPr>
      </p:sp>
      <p:sp>
        <p:nvSpPr>
          <p:cNvPr id="12" name="Shape 10"/>
          <p:cNvSpPr/>
          <p:nvPr/>
        </p:nvSpPr>
        <p:spPr>
          <a:xfrm>
            <a:off x="484632" y="1536192"/>
            <a:ext cx="621792" cy="621792"/>
          </a:xfrm>
          <a:prstGeom prst="roundRect">
            <a:avLst>
              <a:gd name="adj" fmla="val 14706"/>
            </a:avLst>
          </a:prstGeom>
          <a:solidFill>
            <a:srgbClr val="F57F17"/>
          </a:solidFill>
          <a:ln w="12700">
            <a:solidFill>
              <a:srgbClr val="F57F17"/>
            </a:solidFill>
            <a:prstDash val="solid"/>
          </a:ln>
        </p:spPr>
      </p:sp>
      <p:sp>
        <p:nvSpPr>
          <p:cNvPr id="13" name="Text 11"/>
          <p:cNvSpPr/>
          <p:nvPr/>
        </p:nvSpPr>
        <p:spPr>
          <a:xfrm>
            <a:off x="484632" y="1536192"/>
            <a:ext cx="621792" cy="62179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4" name="Shape 12"/>
          <p:cNvSpPr/>
          <p:nvPr/>
        </p:nvSpPr>
        <p:spPr>
          <a:xfrm>
            <a:off x="1216152" y="1572768"/>
            <a:ext cx="512064" cy="512064"/>
          </a:xfrm>
          <a:prstGeom prst="ellipse">
            <a:avLst/>
          </a:prstGeom>
          <a:solidFill>
            <a:srgbClr val="FFFFFF"/>
          </a:solidFill>
          <a:ln w="6350">
            <a:solidFill>
              <a:srgbClr val="F57F17"/>
            </a:solidFill>
            <a:prstDash val="solid"/>
          </a:ln>
        </p:spPr>
      </p:sp>
      <p:sp>
        <p:nvSpPr>
          <p:cNvPr id="15" name="Text 13"/>
          <p:cNvSpPr/>
          <p:nvPr/>
        </p:nvSpPr>
        <p:spPr>
          <a:xfrm>
            <a:off x="1216152" y="1572768"/>
            <a:ext cx="512064" cy="51206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1828800" y="1572768"/>
            <a:ext cx="3977640" cy="502920"/>
          </a:xfrm>
          <a:prstGeom prst="rect">
            <a:avLst/>
          </a:prstGeom>
          <a:noFill/>
          <a:ln/>
        </p:spPr>
        <p:txBody>
          <a:bodyPr wrap="square" rtlCol="0" anchor="ctr"/>
          <a:lstStyle/>
          <a:p>
            <a:pPr indent="0" marL="0">
              <a:buNone/>
            </a:pPr>
            <a:r>
              <a:rPr lang="en-US" sz="1400" b="1" dirty="0">
                <a:solidFill>
                  <a:srgbClr val="F57F17"/>
                </a:solidFill>
                <a:latin typeface="Calibri" pitchFamily="34" charset="0"/>
                <a:ea typeface="Calibri" pitchFamily="34" charset="-122"/>
                <a:cs typeface="Calibri" pitchFamily="34" charset="-120"/>
              </a:rPr>
              <a:t>Measure Ambient Light</a:t>
            </a:r>
            <a:endParaRPr lang="en-US" sz="1400" dirty="0"/>
          </a:p>
        </p:txBody>
      </p:sp>
      <p:sp>
        <p:nvSpPr>
          <p:cNvPr id="17" name="Shape 15"/>
          <p:cNvSpPr/>
          <p:nvPr/>
        </p:nvSpPr>
        <p:spPr>
          <a:xfrm>
            <a:off x="484632" y="2240280"/>
            <a:ext cx="5340096" cy="16459"/>
          </a:xfrm>
          <a:prstGeom prst="rect">
            <a:avLst/>
          </a:prstGeom>
          <a:solidFill>
            <a:srgbClr val="F57F17"/>
          </a:solidFill>
          <a:ln/>
        </p:spPr>
      </p:sp>
      <p:sp>
        <p:nvSpPr>
          <p:cNvPr id="18" name="Text 16"/>
          <p:cNvSpPr/>
          <p:nvPr/>
        </p:nvSpPr>
        <p:spPr>
          <a:xfrm>
            <a:off x="484632" y="2331720"/>
            <a:ext cx="5340096"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Use an LDR / BH750 photoresistor connected to the ESP32 ADC (12-bit, 0–4095 range) to continuously sense and convert ambient light intensity into a percentage (0–100 %).</a:t>
            </a:r>
            <a:endParaRPr lang="en-US" sz="1050" dirty="0"/>
          </a:p>
        </p:txBody>
      </p:sp>
      <p:sp>
        <p:nvSpPr>
          <p:cNvPr id="19" name="Shape 17"/>
          <p:cNvSpPr/>
          <p:nvPr/>
        </p:nvSpPr>
        <p:spPr>
          <a:xfrm>
            <a:off x="484632" y="3246120"/>
            <a:ext cx="5340096" cy="256032"/>
          </a:xfrm>
          <a:prstGeom prst="roundRect">
            <a:avLst>
              <a:gd name="adj" fmla="val 21429"/>
            </a:avLst>
          </a:prstGeom>
          <a:solidFill>
            <a:srgbClr val="F57F17"/>
          </a:solidFill>
          <a:ln/>
        </p:spPr>
      </p:sp>
      <p:sp>
        <p:nvSpPr>
          <p:cNvPr id="20" name="Text 18"/>
          <p:cNvSpPr/>
          <p:nvPr/>
        </p:nvSpPr>
        <p:spPr>
          <a:xfrm>
            <a:off x="576072" y="3255264"/>
            <a:ext cx="5157216"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ESP32  ·  LDR Sensor  ·  ADC</a:t>
            </a:r>
            <a:endParaRPr lang="en-US" sz="900" dirty="0"/>
          </a:p>
        </p:txBody>
      </p:sp>
      <p:sp>
        <p:nvSpPr>
          <p:cNvPr id="21" name="Shape 19"/>
          <p:cNvSpPr/>
          <p:nvPr/>
        </p:nvSpPr>
        <p:spPr>
          <a:xfrm>
            <a:off x="6309360" y="1371600"/>
            <a:ext cx="5669280" cy="2267712"/>
          </a:xfrm>
          <a:prstGeom prst="roundRect">
            <a:avLst>
              <a:gd name="adj" fmla="val 4032"/>
            </a:avLst>
          </a:prstGeom>
          <a:solidFill>
            <a:srgbClr val="FBE9E7"/>
          </a:solidFill>
          <a:ln w="9525">
            <a:solidFill>
              <a:srgbClr val="D84315"/>
            </a:solidFill>
            <a:prstDash val="solid"/>
          </a:ln>
        </p:spPr>
      </p:sp>
      <p:sp>
        <p:nvSpPr>
          <p:cNvPr id="22" name="Shape 20"/>
          <p:cNvSpPr/>
          <p:nvPr/>
        </p:nvSpPr>
        <p:spPr>
          <a:xfrm>
            <a:off x="6473952" y="1536192"/>
            <a:ext cx="621792" cy="621792"/>
          </a:xfrm>
          <a:prstGeom prst="roundRect">
            <a:avLst>
              <a:gd name="adj" fmla="val 14706"/>
            </a:avLst>
          </a:prstGeom>
          <a:solidFill>
            <a:srgbClr val="D84315"/>
          </a:solidFill>
          <a:ln w="12700">
            <a:solidFill>
              <a:srgbClr val="D84315"/>
            </a:solidFill>
            <a:prstDash val="solid"/>
          </a:ln>
        </p:spPr>
      </p:sp>
      <p:sp>
        <p:nvSpPr>
          <p:cNvPr id="23" name="Text 21"/>
          <p:cNvSpPr/>
          <p:nvPr/>
        </p:nvSpPr>
        <p:spPr>
          <a:xfrm>
            <a:off x="6473952" y="1536192"/>
            <a:ext cx="621792" cy="62179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24" name="Shape 22"/>
          <p:cNvSpPr/>
          <p:nvPr/>
        </p:nvSpPr>
        <p:spPr>
          <a:xfrm>
            <a:off x="7205472" y="1572768"/>
            <a:ext cx="512064" cy="512064"/>
          </a:xfrm>
          <a:prstGeom prst="ellipse">
            <a:avLst/>
          </a:prstGeom>
          <a:solidFill>
            <a:srgbClr val="FFFFFF"/>
          </a:solidFill>
          <a:ln w="6350">
            <a:solidFill>
              <a:srgbClr val="D84315"/>
            </a:solidFill>
            <a:prstDash val="solid"/>
          </a:ln>
        </p:spPr>
      </p:sp>
      <p:sp>
        <p:nvSpPr>
          <p:cNvPr id="25" name="Text 23"/>
          <p:cNvSpPr/>
          <p:nvPr/>
        </p:nvSpPr>
        <p:spPr>
          <a:xfrm>
            <a:off x="7205472" y="1572768"/>
            <a:ext cx="512064" cy="51206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7818120" y="1572768"/>
            <a:ext cx="3977640" cy="502920"/>
          </a:xfrm>
          <a:prstGeom prst="rect">
            <a:avLst/>
          </a:prstGeom>
          <a:noFill/>
          <a:ln/>
        </p:spPr>
        <p:txBody>
          <a:bodyPr wrap="square" rtlCol="0" anchor="ctr"/>
          <a:lstStyle/>
          <a:p>
            <a:pPr indent="0" marL="0">
              <a:buNone/>
            </a:pPr>
            <a:r>
              <a:rPr lang="en-US" sz="1400" b="1" dirty="0">
                <a:solidFill>
                  <a:srgbClr val="D84315"/>
                </a:solidFill>
                <a:latin typeface="Calibri" pitchFamily="34" charset="0"/>
                <a:ea typeface="Calibri" pitchFamily="34" charset="-122"/>
                <a:cs typeface="Calibri" pitchFamily="34" charset="-120"/>
              </a:rPr>
              <a:t>Automatic LED Control</a:t>
            </a:r>
            <a:endParaRPr lang="en-US" sz="1400" dirty="0"/>
          </a:p>
        </p:txBody>
      </p:sp>
      <p:sp>
        <p:nvSpPr>
          <p:cNvPr id="27" name="Shape 25"/>
          <p:cNvSpPr/>
          <p:nvPr/>
        </p:nvSpPr>
        <p:spPr>
          <a:xfrm>
            <a:off x="6473952" y="2240280"/>
            <a:ext cx="5340096" cy="16459"/>
          </a:xfrm>
          <a:prstGeom prst="rect">
            <a:avLst/>
          </a:prstGeom>
          <a:solidFill>
            <a:srgbClr val="D84315"/>
          </a:solidFill>
          <a:ln/>
        </p:spPr>
      </p:sp>
      <p:sp>
        <p:nvSpPr>
          <p:cNvPr id="28" name="Text 26"/>
          <p:cNvSpPr/>
          <p:nvPr/>
        </p:nvSpPr>
        <p:spPr>
          <a:xfrm>
            <a:off x="6473952" y="2331720"/>
            <a:ext cx="5340096"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Implement threshold-based logic so the LED turns ON when ambient light falls below the user-defined threshold and OFF when sufficient natural light is available.</a:t>
            </a:r>
            <a:endParaRPr lang="en-US" sz="1050" dirty="0"/>
          </a:p>
        </p:txBody>
      </p:sp>
      <p:sp>
        <p:nvSpPr>
          <p:cNvPr id="29" name="Shape 27"/>
          <p:cNvSpPr/>
          <p:nvPr/>
        </p:nvSpPr>
        <p:spPr>
          <a:xfrm>
            <a:off x="6473952" y="3246120"/>
            <a:ext cx="5340096" cy="256032"/>
          </a:xfrm>
          <a:prstGeom prst="roundRect">
            <a:avLst>
              <a:gd name="adj" fmla="val 21429"/>
            </a:avLst>
          </a:prstGeom>
          <a:solidFill>
            <a:srgbClr val="D84315"/>
          </a:solidFill>
          <a:ln/>
        </p:spPr>
      </p:sp>
      <p:sp>
        <p:nvSpPr>
          <p:cNvPr id="30" name="Text 28"/>
          <p:cNvSpPr/>
          <p:nvPr/>
        </p:nvSpPr>
        <p:spPr>
          <a:xfrm>
            <a:off x="6565392" y="3255264"/>
            <a:ext cx="5157216"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GPIO  ·  Threshold Logic  ·  Auto/Manual Modes</a:t>
            </a:r>
            <a:endParaRPr lang="en-US" sz="900" dirty="0"/>
          </a:p>
        </p:txBody>
      </p:sp>
      <p:sp>
        <p:nvSpPr>
          <p:cNvPr id="31" name="Shape 29"/>
          <p:cNvSpPr/>
          <p:nvPr/>
        </p:nvSpPr>
        <p:spPr>
          <a:xfrm>
            <a:off x="320040" y="3840480"/>
            <a:ext cx="5669280" cy="2267712"/>
          </a:xfrm>
          <a:prstGeom prst="roundRect">
            <a:avLst>
              <a:gd name="adj" fmla="val 4032"/>
            </a:avLst>
          </a:prstGeom>
          <a:solidFill>
            <a:srgbClr val="E8F4FD"/>
          </a:solidFill>
          <a:ln w="9525">
            <a:solidFill>
              <a:srgbClr val="1565C0"/>
            </a:solidFill>
            <a:prstDash val="solid"/>
          </a:ln>
        </p:spPr>
      </p:sp>
      <p:sp>
        <p:nvSpPr>
          <p:cNvPr id="32" name="Shape 30"/>
          <p:cNvSpPr/>
          <p:nvPr/>
        </p:nvSpPr>
        <p:spPr>
          <a:xfrm>
            <a:off x="484632" y="4005072"/>
            <a:ext cx="621792" cy="621792"/>
          </a:xfrm>
          <a:prstGeom prst="roundRect">
            <a:avLst>
              <a:gd name="adj" fmla="val 14706"/>
            </a:avLst>
          </a:prstGeom>
          <a:solidFill>
            <a:srgbClr val="1565C0"/>
          </a:solidFill>
          <a:ln w="12700">
            <a:solidFill>
              <a:srgbClr val="1565C0"/>
            </a:solidFill>
            <a:prstDash val="solid"/>
          </a:ln>
        </p:spPr>
      </p:sp>
      <p:sp>
        <p:nvSpPr>
          <p:cNvPr id="33" name="Text 31"/>
          <p:cNvSpPr/>
          <p:nvPr/>
        </p:nvSpPr>
        <p:spPr>
          <a:xfrm>
            <a:off x="484632" y="4005072"/>
            <a:ext cx="621792" cy="62179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34" name="Shape 32"/>
          <p:cNvSpPr/>
          <p:nvPr/>
        </p:nvSpPr>
        <p:spPr>
          <a:xfrm>
            <a:off x="1216152" y="4041648"/>
            <a:ext cx="512064" cy="512064"/>
          </a:xfrm>
          <a:prstGeom prst="ellipse">
            <a:avLst/>
          </a:prstGeom>
          <a:solidFill>
            <a:srgbClr val="FFFFFF"/>
          </a:solidFill>
          <a:ln w="6350">
            <a:solidFill>
              <a:srgbClr val="1565C0"/>
            </a:solidFill>
            <a:prstDash val="solid"/>
          </a:ln>
        </p:spPr>
      </p:sp>
      <p:sp>
        <p:nvSpPr>
          <p:cNvPr id="35" name="Text 33"/>
          <p:cNvSpPr/>
          <p:nvPr/>
        </p:nvSpPr>
        <p:spPr>
          <a:xfrm>
            <a:off x="1216152" y="4041648"/>
            <a:ext cx="512064" cy="51206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6" name="Text 34"/>
          <p:cNvSpPr/>
          <p:nvPr/>
        </p:nvSpPr>
        <p:spPr>
          <a:xfrm>
            <a:off x="1828800" y="4041648"/>
            <a:ext cx="3977640" cy="502920"/>
          </a:xfrm>
          <a:prstGeom prst="rect">
            <a:avLst/>
          </a:prstGeom>
          <a:noFill/>
          <a:ln/>
        </p:spPr>
        <p:txBody>
          <a:bodyPr wrap="square" rtlCol="0" anchor="ctr"/>
          <a:lstStyle/>
          <a:p>
            <a:pPr indent="0" marL="0">
              <a:buNone/>
            </a:pPr>
            <a:r>
              <a:rPr lang="en-US" sz="1400" b="1" dirty="0">
                <a:solidFill>
                  <a:srgbClr val="1565C0"/>
                </a:solidFill>
                <a:latin typeface="Calibri" pitchFamily="34" charset="0"/>
                <a:ea typeface="Calibri" pitchFamily="34" charset="-122"/>
                <a:cs typeface="Calibri" pitchFamily="34" charset="-120"/>
              </a:rPr>
              <a:t>Web-Based Dashboard</a:t>
            </a:r>
            <a:endParaRPr lang="en-US" sz="1400" dirty="0"/>
          </a:p>
        </p:txBody>
      </p:sp>
      <p:sp>
        <p:nvSpPr>
          <p:cNvPr id="37" name="Shape 35"/>
          <p:cNvSpPr/>
          <p:nvPr/>
        </p:nvSpPr>
        <p:spPr>
          <a:xfrm>
            <a:off x="484632" y="4709160"/>
            <a:ext cx="5340096" cy="16459"/>
          </a:xfrm>
          <a:prstGeom prst="rect">
            <a:avLst/>
          </a:prstGeom>
          <a:solidFill>
            <a:srgbClr val="1565C0"/>
          </a:solidFill>
          <a:ln/>
        </p:spPr>
      </p:sp>
      <p:sp>
        <p:nvSpPr>
          <p:cNvPr id="38" name="Text 36"/>
          <p:cNvSpPr/>
          <p:nvPr/>
        </p:nvSpPr>
        <p:spPr>
          <a:xfrm>
            <a:off x="484632" y="4800600"/>
            <a:ext cx="5340096"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Build a Next.js web application providing real-time light readings, threshold configuration, analytics charts, history table, and system health metrics accessible from any browser.</a:t>
            </a:r>
            <a:endParaRPr lang="en-US" sz="1050" dirty="0"/>
          </a:p>
        </p:txBody>
      </p:sp>
      <p:sp>
        <p:nvSpPr>
          <p:cNvPr id="39" name="Shape 37"/>
          <p:cNvSpPr/>
          <p:nvPr/>
        </p:nvSpPr>
        <p:spPr>
          <a:xfrm>
            <a:off x="484632" y="5715000"/>
            <a:ext cx="5340096" cy="256032"/>
          </a:xfrm>
          <a:prstGeom prst="roundRect">
            <a:avLst>
              <a:gd name="adj" fmla="val 21429"/>
            </a:avLst>
          </a:prstGeom>
          <a:solidFill>
            <a:srgbClr val="1565C0"/>
          </a:solidFill>
          <a:ln/>
        </p:spPr>
      </p:sp>
      <p:sp>
        <p:nvSpPr>
          <p:cNvPr id="40" name="Text 38"/>
          <p:cNvSpPr/>
          <p:nvPr/>
        </p:nvSpPr>
        <p:spPr>
          <a:xfrm>
            <a:off x="576072" y="5724144"/>
            <a:ext cx="5157216"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Next.js  ·  React  ·  Tailwind CSS  ·  MongoDB</a:t>
            </a:r>
            <a:endParaRPr lang="en-US" sz="900" dirty="0"/>
          </a:p>
        </p:txBody>
      </p:sp>
      <p:sp>
        <p:nvSpPr>
          <p:cNvPr id="41" name="Shape 39"/>
          <p:cNvSpPr/>
          <p:nvPr/>
        </p:nvSpPr>
        <p:spPr>
          <a:xfrm>
            <a:off x="6309360" y="3840480"/>
            <a:ext cx="5669280" cy="2267712"/>
          </a:xfrm>
          <a:prstGeom prst="roundRect">
            <a:avLst>
              <a:gd name="adj" fmla="val 4032"/>
            </a:avLst>
          </a:prstGeom>
          <a:solidFill>
            <a:srgbClr val="E8F5E9"/>
          </a:solidFill>
          <a:ln w="9525">
            <a:solidFill>
              <a:srgbClr val="388E3C"/>
            </a:solidFill>
            <a:prstDash val="solid"/>
          </a:ln>
        </p:spPr>
      </p:sp>
      <p:sp>
        <p:nvSpPr>
          <p:cNvPr id="42" name="Shape 40"/>
          <p:cNvSpPr/>
          <p:nvPr/>
        </p:nvSpPr>
        <p:spPr>
          <a:xfrm>
            <a:off x="6473952" y="4005072"/>
            <a:ext cx="621792" cy="621792"/>
          </a:xfrm>
          <a:prstGeom prst="roundRect">
            <a:avLst>
              <a:gd name="adj" fmla="val 14706"/>
            </a:avLst>
          </a:prstGeom>
          <a:solidFill>
            <a:srgbClr val="388E3C"/>
          </a:solidFill>
          <a:ln w="12700">
            <a:solidFill>
              <a:srgbClr val="388E3C"/>
            </a:solidFill>
            <a:prstDash val="solid"/>
          </a:ln>
        </p:spPr>
      </p:sp>
      <p:sp>
        <p:nvSpPr>
          <p:cNvPr id="43" name="Text 41"/>
          <p:cNvSpPr/>
          <p:nvPr/>
        </p:nvSpPr>
        <p:spPr>
          <a:xfrm>
            <a:off x="6473952" y="4005072"/>
            <a:ext cx="621792" cy="62179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44" name="Shape 42"/>
          <p:cNvSpPr/>
          <p:nvPr/>
        </p:nvSpPr>
        <p:spPr>
          <a:xfrm>
            <a:off x="7205472" y="4041648"/>
            <a:ext cx="512064" cy="512064"/>
          </a:xfrm>
          <a:prstGeom prst="ellipse">
            <a:avLst/>
          </a:prstGeom>
          <a:solidFill>
            <a:srgbClr val="FFFFFF"/>
          </a:solidFill>
          <a:ln w="6350">
            <a:solidFill>
              <a:srgbClr val="388E3C"/>
            </a:solidFill>
            <a:prstDash val="solid"/>
          </a:ln>
        </p:spPr>
      </p:sp>
      <p:sp>
        <p:nvSpPr>
          <p:cNvPr id="45" name="Text 43"/>
          <p:cNvSpPr/>
          <p:nvPr/>
        </p:nvSpPr>
        <p:spPr>
          <a:xfrm>
            <a:off x="7205472" y="4041648"/>
            <a:ext cx="512064" cy="51206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6" name="Text 44"/>
          <p:cNvSpPr/>
          <p:nvPr/>
        </p:nvSpPr>
        <p:spPr>
          <a:xfrm>
            <a:off x="7818120" y="4041648"/>
            <a:ext cx="3977640" cy="502920"/>
          </a:xfrm>
          <a:prstGeom prst="rect">
            <a:avLst/>
          </a:prstGeom>
          <a:noFill/>
          <a:ln/>
        </p:spPr>
        <p:txBody>
          <a:bodyPr wrap="square" rtlCol="0" anchor="ctr"/>
          <a:lstStyle/>
          <a:p>
            <a:pPr indent="0" marL="0">
              <a:buNone/>
            </a:pPr>
            <a:r>
              <a:rPr lang="en-US" sz="1400" b="1" dirty="0">
                <a:solidFill>
                  <a:srgbClr val="388E3C"/>
                </a:solidFill>
                <a:latin typeface="Calibri" pitchFamily="34" charset="0"/>
                <a:ea typeface="Calibri" pitchFamily="34" charset="-122"/>
                <a:cs typeface="Calibri" pitchFamily="34" charset="-120"/>
              </a:rPr>
              <a:t>REST API Communication</a:t>
            </a:r>
            <a:endParaRPr lang="en-US" sz="1400" dirty="0"/>
          </a:p>
        </p:txBody>
      </p:sp>
      <p:sp>
        <p:nvSpPr>
          <p:cNvPr id="47" name="Shape 45"/>
          <p:cNvSpPr/>
          <p:nvPr/>
        </p:nvSpPr>
        <p:spPr>
          <a:xfrm>
            <a:off x="6473952" y="4709160"/>
            <a:ext cx="5340096" cy="16459"/>
          </a:xfrm>
          <a:prstGeom prst="rect">
            <a:avLst/>
          </a:prstGeom>
          <a:solidFill>
            <a:srgbClr val="388E3C"/>
          </a:solidFill>
          <a:ln/>
        </p:spPr>
      </p:sp>
      <p:sp>
        <p:nvSpPr>
          <p:cNvPr id="48" name="Text 46"/>
          <p:cNvSpPr/>
          <p:nvPr/>
        </p:nvSpPr>
        <p:spPr>
          <a:xfrm>
            <a:off x="6473952" y="4800600"/>
            <a:ext cx="5340096"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Enable bidirectional communication between the ESP32 firmware and the web dashboard using HTTP REST endpoints — the device POSTs sensor data, the dashboard GETs state updates.</a:t>
            </a:r>
            <a:endParaRPr lang="en-US" sz="1050" dirty="0"/>
          </a:p>
        </p:txBody>
      </p:sp>
      <p:sp>
        <p:nvSpPr>
          <p:cNvPr id="49" name="Shape 47"/>
          <p:cNvSpPr/>
          <p:nvPr/>
        </p:nvSpPr>
        <p:spPr>
          <a:xfrm>
            <a:off x="6473952" y="5715000"/>
            <a:ext cx="5340096" cy="256032"/>
          </a:xfrm>
          <a:prstGeom prst="roundRect">
            <a:avLst>
              <a:gd name="adj" fmla="val 21429"/>
            </a:avLst>
          </a:prstGeom>
          <a:solidFill>
            <a:srgbClr val="388E3C"/>
          </a:solidFill>
          <a:ln/>
        </p:spPr>
      </p:sp>
      <p:sp>
        <p:nvSpPr>
          <p:cNvPr id="50" name="Text 48"/>
          <p:cNvSpPr/>
          <p:nvPr/>
        </p:nvSpPr>
        <p:spPr>
          <a:xfrm>
            <a:off x="6565392" y="5724144"/>
            <a:ext cx="5157216"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HTTP REST  ·  JSON  ·  Next.js API Routes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4</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Scope</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4 of 10</a:t>
            </a:r>
            <a:endParaRPr lang="en-US" sz="750" dirty="0"/>
          </a:p>
        </p:txBody>
      </p:sp>
      <p:sp>
        <p:nvSpPr>
          <p:cNvPr id="10" name="Text 8"/>
          <p:cNvSpPr/>
          <p:nvPr/>
        </p:nvSpPr>
        <p:spPr>
          <a:xfrm>
            <a:off x="320040" y="960120"/>
            <a:ext cx="5943600" cy="320040"/>
          </a:xfrm>
          <a:prstGeom prst="rect">
            <a:avLst/>
          </a:prstGeom>
          <a:noFill/>
          <a:ln/>
        </p:spPr>
        <p:txBody>
          <a:bodyPr wrap="square" rtlCol="0" anchor="ctr"/>
          <a:lstStyle/>
          <a:p>
            <a:pPr indent="0" marL="0">
              <a:buNone/>
            </a:pPr>
            <a:r>
              <a:rPr lang="en-US" sz="1300" b="1" dirty="0">
                <a:solidFill>
                  <a:srgbClr val="0D2B5E"/>
                </a:solidFill>
                <a:latin typeface="Calibri" pitchFamily="34" charset="0"/>
                <a:ea typeface="Calibri" pitchFamily="34" charset="-122"/>
                <a:cs typeface="Calibri" pitchFamily="34" charset="-120"/>
              </a:rPr>
              <a:t>What this project covers:</a:t>
            </a:r>
            <a:endParaRPr lang="en-US" sz="1300" dirty="0"/>
          </a:p>
        </p:txBody>
      </p:sp>
      <p:sp>
        <p:nvSpPr>
          <p:cNvPr id="11" name="Shape 9"/>
          <p:cNvSpPr/>
          <p:nvPr/>
        </p:nvSpPr>
        <p:spPr>
          <a:xfrm>
            <a:off x="320040" y="1280160"/>
            <a:ext cx="5669280" cy="16459"/>
          </a:xfrm>
          <a:prstGeom prst="rect">
            <a:avLst/>
          </a:prstGeom>
          <a:solidFill>
            <a:srgbClr val="BBDEFB"/>
          </a:solidFill>
          <a:ln/>
        </p:spPr>
      </p:sp>
      <p:sp>
        <p:nvSpPr>
          <p:cNvPr id="12" name="Shape 10"/>
          <p:cNvSpPr/>
          <p:nvPr/>
        </p:nvSpPr>
        <p:spPr>
          <a:xfrm>
            <a:off x="320040" y="1389888"/>
            <a:ext cx="5669280" cy="749808"/>
          </a:xfrm>
          <a:prstGeom prst="roundRect">
            <a:avLst>
              <a:gd name="adj" fmla="val 12195"/>
            </a:avLst>
          </a:prstGeom>
          <a:solidFill>
            <a:srgbClr val="E8F4FD"/>
          </a:solidFill>
          <a:ln w="6350">
            <a:solidFill>
              <a:srgbClr val="BBDEFB"/>
            </a:solidFill>
            <a:prstDash val="solid"/>
          </a:ln>
        </p:spPr>
      </p:sp>
      <p:sp>
        <p:nvSpPr>
          <p:cNvPr id="13" name="Shape 11"/>
          <p:cNvSpPr/>
          <p:nvPr/>
        </p:nvSpPr>
        <p:spPr>
          <a:xfrm>
            <a:off x="320040" y="1389888"/>
            <a:ext cx="640080" cy="749808"/>
          </a:xfrm>
          <a:prstGeom prst="roundRect">
            <a:avLst>
              <a:gd name="adj" fmla="val 14286"/>
            </a:avLst>
          </a:prstGeom>
          <a:solidFill>
            <a:srgbClr val="1565C0"/>
          </a:solidFill>
          <a:ln w="12700">
            <a:solidFill>
              <a:srgbClr val="1565C0"/>
            </a:solidFill>
            <a:prstDash val="solid"/>
          </a:ln>
        </p:spPr>
      </p:sp>
      <p:sp>
        <p:nvSpPr>
          <p:cNvPr id="14" name="Shape 12"/>
          <p:cNvSpPr/>
          <p:nvPr/>
        </p:nvSpPr>
        <p:spPr>
          <a:xfrm>
            <a:off x="640080" y="1389888"/>
            <a:ext cx="320040" cy="749808"/>
          </a:xfrm>
          <a:prstGeom prst="rect">
            <a:avLst/>
          </a:prstGeom>
          <a:solidFill>
            <a:srgbClr val="1565C0"/>
          </a:solidFill>
          <a:ln w="12700">
            <a:solidFill>
              <a:srgbClr val="1565C0"/>
            </a:solidFill>
            <a:prstDash val="solid"/>
          </a:ln>
        </p:spPr>
      </p:sp>
      <p:sp>
        <p:nvSpPr>
          <p:cNvPr id="15" name="Text 13"/>
          <p:cNvSpPr/>
          <p:nvPr/>
        </p:nvSpPr>
        <p:spPr>
          <a:xfrm>
            <a:off x="320040" y="1545336"/>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16" name="Text 14"/>
          <p:cNvSpPr/>
          <p:nvPr/>
        </p:nvSpPr>
        <p:spPr>
          <a:xfrm>
            <a:off x="1051560" y="1444752"/>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Indoor Smart Lighting Prototype</a:t>
            </a:r>
            <a:endParaRPr lang="en-US" sz="1150" dirty="0"/>
          </a:p>
        </p:txBody>
      </p:sp>
      <p:sp>
        <p:nvSpPr>
          <p:cNvPr id="17" name="Text 15"/>
          <p:cNvSpPr/>
          <p:nvPr/>
        </p:nvSpPr>
        <p:spPr>
          <a:xfrm>
            <a:off x="1051560" y="1737360"/>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Designed for single-room installation using Wokwi simulation; scalable to real environments.</a:t>
            </a:r>
            <a:endParaRPr lang="en-US" sz="1000" dirty="0"/>
          </a:p>
        </p:txBody>
      </p:sp>
      <p:sp>
        <p:nvSpPr>
          <p:cNvPr id="18" name="Shape 16"/>
          <p:cNvSpPr/>
          <p:nvPr/>
        </p:nvSpPr>
        <p:spPr>
          <a:xfrm>
            <a:off x="320040" y="2240280"/>
            <a:ext cx="5669280" cy="749808"/>
          </a:xfrm>
          <a:prstGeom prst="roundRect">
            <a:avLst>
              <a:gd name="adj" fmla="val 12195"/>
            </a:avLst>
          </a:prstGeom>
          <a:solidFill>
            <a:srgbClr val="E8F4FD"/>
          </a:solidFill>
          <a:ln w="6350">
            <a:solidFill>
              <a:srgbClr val="BBDEFB"/>
            </a:solidFill>
            <a:prstDash val="solid"/>
          </a:ln>
        </p:spPr>
      </p:sp>
      <p:sp>
        <p:nvSpPr>
          <p:cNvPr id="19" name="Shape 17"/>
          <p:cNvSpPr/>
          <p:nvPr/>
        </p:nvSpPr>
        <p:spPr>
          <a:xfrm>
            <a:off x="320040" y="2240280"/>
            <a:ext cx="640080" cy="749808"/>
          </a:xfrm>
          <a:prstGeom prst="roundRect">
            <a:avLst>
              <a:gd name="adj" fmla="val 14286"/>
            </a:avLst>
          </a:prstGeom>
          <a:solidFill>
            <a:srgbClr val="1565C0"/>
          </a:solidFill>
          <a:ln w="12700">
            <a:solidFill>
              <a:srgbClr val="1565C0"/>
            </a:solidFill>
            <a:prstDash val="solid"/>
          </a:ln>
        </p:spPr>
      </p:sp>
      <p:sp>
        <p:nvSpPr>
          <p:cNvPr id="20" name="Shape 18"/>
          <p:cNvSpPr/>
          <p:nvPr/>
        </p:nvSpPr>
        <p:spPr>
          <a:xfrm>
            <a:off x="640080" y="2240280"/>
            <a:ext cx="320040" cy="749808"/>
          </a:xfrm>
          <a:prstGeom prst="rect">
            <a:avLst/>
          </a:prstGeom>
          <a:solidFill>
            <a:srgbClr val="1565C0"/>
          </a:solidFill>
          <a:ln w="12700">
            <a:solidFill>
              <a:srgbClr val="1565C0"/>
            </a:solidFill>
            <a:prstDash val="solid"/>
          </a:ln>
        </p:spPr>
      </p:sp>
      <p:sp>
        <p:nvSpPr>
          <p:cNvPr id="21" name="Text 19"/>
          <p:cNvSpPr/>
          <p:nvPr/>
        </p:nvSpPr>
        <p:spPr>
          <a:xfrm>
            <a:off x="320040" y="2395728"/>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22" name="Text 20"/>
          <p:cNvSpPr/>
          <p:nvPr/>
        </p:nvSpPr>
        <p:spPr>
          <a:xfrm>
            <a:off x="1051560" y="2295144"/>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Threshold-Based Automation</a:t>
            </a:r>
            <a:endParaRPr lang="en-US" sz="1150" dirty="0"/>
          </a:p>
        </p:txBody>
      </p:sp>
      <p:sp>
        <p:nvSpPr>
          <p:cNvPr id="23" name="Text 21"/>
          <p:cNvSpPr/>
          <p:nvPr/>
        </p:nvSpPr>
        <p:spPr>
          <a:xfrm>
            <a:off x="1051560" y="2587752"/>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LED responds automatically when ambient light crosses the configurable threshold set by the user.</a:t>
            </a:r>
            <a:endParaRPr lang="en-US" sz="1000" dirty="0"/>
          </a:p>
        </p:txBody>
      </p:sp>
      <p:sp>
        <p:nvSpPr>
          <p:cNvPr id="24" name="Shape 22"/>
          <p:cNvSpPr/>
          <p:nvPr/>
        </p:nvSpPr>
        <p:spPr>
          <a:xfrm>
            <a:off x="320040" y="3090672"/>
            <a:ext cx="5669280" cy="749808"/>
          </a:xfrm>
          <a:prstGeom prst="roundRect">
            <a:avLst>
              <a:gd name="adj" fmla="val 12195"/>
            </a:avLst>
          </a:prstGeom>
          <a:solidFill>
            <a:srgbClr val="E8F4FD"/>
          </a:solidFill>
          <a:ln w="6350">
            <a:solidFill>
              <a:srgbClr val="BBDEFB"/>
            </a:solidFill>
            <a:prstDash val="solid"/>
          </a:ln>
        </p:spPr>
      </p:sp>
      <p:sp>
        <p:nvSpPr>
          <p:cNvPr id="25" name="Shape 23"/>
          <p:cNvSpPr/>
          <p:nvPr/>
        </p:nvSpPr>
        <p:spPr>
          <a:xfrm>
            <a:off x="320040" y="3090672"/>
            <a:ext cx="640080" cy="749808"/>
          </a:xfrm>
          <a:prstGeom prst="roundRect">
            <a:avLst>
              <a:gd name="adj" fmla="val 14286"/>
            </a:avLst>
          </a:prstGeom>
          <a:solidFill>
            <a:srgbClr val="1565C0"/>
          </a:solidFill>
          <a:ln w="12700">
            <a:solidFill>
              <a:srgbClr val="1565C0"/>
            </a:solidFill>
            <a:prstDash val="solid"/>
          </a:ln>
        </p:spPr>
      </p:sp>
      <p:sp>
        <p:nvSpPr>
          <p:cNvPr id="26" name="Shape 24"/>
          <p:cNvSpPr/>
          <p:nvPr/>
        </p:nvSpPr>
        <p:spPr>
          <a:xfrm>
            <a:off x="640080" y="3090672"/>
            <a:ext cx="320040" cy="749808"/>
          </a:xfrm>
          <a:prstGeom prst="rect">
            <a:avLst/>
          </a:prstGeom>
          <a:solidFill>
            <a:srgbClr val="1565C0"/>
          </a:solidFill>
          <a:ln w="12700">
            <a:solidFill>
              <a:srgbClr val="1565C0"/>
            </a:solidFill>
            <a:prstDash val="solid"/>
          </a:ln>
        </p:spPr>
      </p:sp>
      <p:sp>
        <p:nvSpPr>
          <p:cNvPr id="27" name="Text 25"/>
          <p:cNvSpPr/>
          <p:nvPr/>
        </p:nvSpPr>
        <p:spPr>
          <a:xfrm>
            <a:off x="320040" y="3246120"/>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28" name="Text 26"/>
          <p:cNvSpPr/>
          <p:nvPr/>
        </p:nvSpPr>
        <p:spPr>
          <a:xfrm>
            <a:off x="1051560" y="3145536"/>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Real-Time Web Monitoring</a:t>
            </a:r>
            <a:endParaRPr lang="en-US" sz="1150" dirty="0"/>
          </a:p>
        </p:txBody>
      </p:sp>
      <p:sp>
        <p:nvSpPr>
          <p:cNvPr id="29" name="Text 27"/>
          <p:cNvSpPr/>
          <p:nvPr/>
        </p:nvSpPr>
        <p:spPr>
          <a:xfrm>
            <a:off x="1051560" y="3438144"/>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Dashboard polls sensor data every 2.5 s and history every 6 s, showing live charts and metrics.</a:t>
            </a:r>
            <a:endParaRPr lang="en-US" sz="1000" dirty="0"/>
          </a:p>
        </p:txBody>
      </p:sp>
      <p:sp>
        <p:nvSpPr>
          <p:cNvPr id="30" name="Shape 28"/>
          <p:cNvSpPr/>
          <p:nvPr/>
        </p:nvSpPr>
        <p:spPr>
          <a:xfrm>
            <a:off x="320040" y="3941064"/>
            <a:ext cx="5669280" cy="749808"/>
          </a:xfrm>
          <a:prstGeom prst="roundRect">
            <a:avLst>
              <a:gd name="adj" fmla="val 12195"/>
            </a:avLst>
          </a:prstGeom>
          <a:solidFill>
            <a:srgbClr val="E8F4FD"/>
          </a:solidFill>
          <a:ln w="6350">
            <a:solidFill>
              <a:srgbClr val="BBDEFB"/>
            </a:solidFill>
            <a:prstDash val="solid"/>
          </a:ln>
        </p:spPr>
      </p:sp>
      <p:sp>
        <p:nvSpPr>
          <p:cNvPr id="31" name="Shape 29"/>
          <p:cNvSpPr/>
          <p:nvPr/>
        </p:nvSpPr>
        <p:spPr>
          <a:xfrm>
            <a:off x="320040" y="3941064"/>
            <a:ext cx="640080" cy="749808"/>
          </a:xfrm>
          <a:prstGeom prst="roundRect">
            <a:avLst>
              <a:gd name="adj" fmla="val 14286"/>
            </a:avLst>
          </a:prstGeom>
          <a:solidFill>
            <a:srgbClr val="1565C0"/>
          </a:solidFill>
          <a:ln w="12700">
            <a:solidFill>
              <a:srgbClr val="1565C0"/>
            </a:solidFill>
            <a:prstDash val="solid"/>
          </a:ln>
        </p:spPr>
      </p:sp>
      <p:sp>
        <p:nvSpPr>
          <p:cNvPr id="32" name="Shape 30"/>
          <p:cNvSpPr/>
          <p:nvPr/>
        </p:nvSpPr>
        <p:spPr>
          <a:xfrm>
            <a:off x="640080" y="3941064"/>
            <a:ext cx="320040" cy="749808"/>
          </a:xfrm>
          <a:prstGeom prst="rect">
            <a:avLst/>
          </a:prstGeom>
          <a:solidFill>
            <a:srgbClr val="1565C0"/>
          </a:solidFill>
          <a:ln w="12700">
            <a:solidFill>
              <a:srgbClr val="1565C0"/>
            </a:solidFill>
            <a:prstDash val="solid"/>
          </a:ln>
        </p:spPr>
      </p:sp>
      <p:sp>
        <p:nvSpPr>
          <p:cNvPr id="33" name="Text 31"/>
          <p:cNvSpPr/>
          <p:nvPr/>
        </p:nvSpPr>
        <p:spPr>
          <a:xfrm>
            <a:off x="320040" y="4096512"/>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34" name="Text 32"/>
          <p:cNvSpPr/>
          <p:nvPr/>
        </p:nvSpPr>
        <p:spPr>
          <a:xfrm>
            <a:off x="1051560" y="3995928"/>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Web Application Control</a:t>
            </a:r>
            <a:endParaRPr lang="en-US" sz="1150" dirty="0"/>
          </a:p>
        </p:txBody>
      </p:sp>
      <p:sp>
        <p:nvSpPr>
          <p:cNvPr id="35" name="Text 33"/>
          <p:cNvSpPr/>
          <p:nvPr/>
        </p:nvSpPr>
        <p:spPr>
          <a:xfrm>
            <a:off x="1051560" y="4288536"/>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Any browser can view and control the system — no native app required; responsive mobile layout.</a:t>
            </a:r>
            <a:endParaRPr lang="en-US" sz="1000" dirty="0"/>
          </a:p>
        </p:txBody>
      </p:sp>
      <p:sp>
        <p:nvSpPr>
          <p:cNvPr id="36" name="Shape 34"/>
          <p:cNvSpPr/>
          <p:nvPr/>
        </p:nvSpPr>
        <p:spPr>
          <a:xfrm>
            <a:off x="320040" y="4791456"/>
            <a:ext cx="5669280" cy="749808"/>
          </a:xfrm>
          <a:prstGeom prst="roundRect">
            <a:avLst>
              <a:gd name="adj" fmla="val 12195"/>
            </a:avLst>
          </a:prstGeom>
          <a:solidFill>
            <a:srgbClr val="E8F4FD"/>
          </a:solidFill>
          <a:ln w="6350">
            <a:solidFill>
              <a:srgbClr val="BBDEFB"/>
            </a:solidFill>
            <a:prstDash val="solid"/>
          </a:ln>
        </p:spPr>
      </p:sp>
      <p:sp>
        <p:nvSpPr>
          <p:cNvPr id="37" name="Shape 35"/>
          <p:cNvSpPr/>
          <p:nvPr/>
        </p:nvSpPr>
        <p:spPr>
          <a:xfrm>
            <a:off x="320040" y="4791456"/>
            <a:ext cx="640080" cy="749808"/>
          </a:xfrm>
          <a:prstGeom prst="roundRect">
            <a:avLst>
              <a:gd name="adj" fmla="val 14286"/>
            </a:avLst>
          </a:prstGeom>
          <a:solidFill>
            <a:srgbClr val="1565C0"/>
          </a:solidFill>
          <a:ln w="12700">
            <a:solidFill>
              <a:srgbClr val="1565C0"/>
            </a:solidFill>
            <a:prstDash val="solid"/>
          </a:ln>
        </p:spPr>
      </p:sp>
      <p:sp>
        <p:nvSpPr>
          <p:cNvPr id="38" name="Shape 36"/>
          <p:cNvSpPr/>
          <p:nvPr/>
        </p:nvSpPr>
        <p:spPr>
          <a:xfrm>
            <a:off x="640080" y="4791456"/>
            <a:ext cx="320040" cy="749808"/>
          </a:xfrm>
          <a:prstGeom prst="rect">
            <a:avLst/>
          </a:prstGeom>
          <a:solidFill>
            <a:srgbClr val="1565C0"/>
          </a:solidFill>
          <a:ln w="12700">
            <a:solidFill>
              <a:srgbClr val="1565C0"/>
            </a:solidFill>
            <a:prstDash val="solid"/>
          </a:ln>
        </p:spPr>
      </p:sp>
      <p:sp>
        <p:nvSpPr>
          <p:cNvPr id="39" name="Text 37"/>
          <p:cNvSpPr/>
          <p:nvPr/>
        </p:nvSpPr>
        <p:spPr>
          <a:xfrm>
            <a:off x="320040" y="4946904"/>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40" name="Text 38"/>
          <p:cNvSpPr/>
          <p:nvPr/>
        </p:nvSpPr>
        <p:spPr>
          <a:xfrm>
            <a:off x="1051560" y="4846320"/>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Simulation-Based Validation</a:t>
            </a:r>
            <a:endParaRPr lang="en-US" sz="1150" dirty="0"/>
          </a:p>
        </p:txBody>
      </p:sp>
      <p:sp>
        <p:nvSpPr>
          <p:cNvPr id="41" name="Text 39"/>
          <p:cNvSpPr/>
          <p:nvPr/>
        </p:nvSpPr>
        <p:spPr>
          <a:xfrm>
            <a:off x="1051560" y="5138928"/>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Validated using Wokwi ESP32 simulator before hardware deployment — safe and repeatable testing.</a:t>
            </a:r>
            <a:endParaRPr lang="en-US" sz="1000" dirty="0"/>
          </a:p>
        </p:txBody>
      </p:sp>
      <p:sp>
        <p:nvSpPr>
          <p:cNvPr id="42" name="Shape 40"/>
          <p:cNvSpPr/>
          <p:nvPr/>
        </p:nvSpPr>
        <p:spPr>
          <a:xfrm>
            <a:off x="320040" y="5641848"/>
            <a:ext cx="5669280" cy="749808"/>
          </a:xfrm>
          <a:prstGeom prst="roundRect">
            <a:avLst>
              <a:gd name="adj" fmla="val 12195"/>
            </a:avLst>
          </a:prstGeom>
          <a:solidFill>
            <a:srgbClr val="E8F4FD"/>
          </a:solidFill>
          <a:ln w="6350">
            <a:solidFill>
              <a:srgbClr val="BBDEFB"/>
            </a:solidFill>
            <a:prstDash val="solid"/>
          </a:ln>
        </p:spPr>
      </p:sp>
      <p:sp>
        <p:nvSpPr>
          <p:cNvPr id="43" name="Shape 41"/>
          <p:cNvSpPr/>
          <p:nvPr/>
        </p:nvSpPr>
        <p:spPr>
          <a:xfrm>
            <a:off x="320040" y="5641848"/>
            <a:ext cx="640080" cy="749808"/>
          </a:xfrm>
          <a:prstGeom prst="roundRect">
            <a:avLst>
              <a:gd name="adj" fmla="val 14286"/>
            </a:avLst>
          </a:prstGeom>
          <a:solidFill>
            <a:srgbClr val="1565C0"/>
          </a:solidFill>
          <a:ln w="12700">
            <a:solidFill>
              <a:srgbClr val="1565C0"/>
            </a:solidFill>
            <a:prstDash val="solid"/>
          </a:ln>
        </p:spPr>
      </p:sp>
      <p:sp>
        <p:nvSpPr>
          <p:cNvPr id="44" name="Shape 42"/>
          <p:cNvSpPr/>
          <p:nvPr/>
        </p:nvSpPr>
        <p:spPr>
          <a:xfrm>
            <a:off x="640080" y="5641848"/>
            <a:ext cx="320040" cy="749808"/>
          </a:xfrm>
          <a:prstGeom prst="rect">
            <a:avLst/>
          </a:prstGeom>
          <a:solidFill>
            <a:srgbClr val="1565C0"/>
          </a:solidFill>
          <a:ln w="12700">
            <a:solidFill>
              <a:srgbClr val="1565C0"/>
            </a:solidFill>
            <a:prstDash val="solid"/>
          </a:ln>
        </p:spPr>
      </p:sp>
      <p:sp>
        <p:nvSpPr>
          <p:cNvPr id="45" name="Text 43"/>
          <p:cNvSpPr/>
          <p:nvPr/>
        </p:nvSpPr>
        <p:spPr>
          <a:xfrm>
            <a:off x="320040" y="5797296"/>
            <a:ext cx="640080" cy="411480"/>
          </a:xfrm>
          <a:prstGeom prst="rect">
            <a:avLst/>
          </a:prstGeom>
          <a:noFill/>
          <a:ln/>
        </p:spPr>
        <p:txBody>
          <a:bodyPr wrap="square" rtlCol="0" anchor="ctr"/>
          <a:lstStyle/>
          <a:p>
            <a:pPr algn="ctr" indent="0" marL="0">
              <a:buNone/>
            </a:pPr>
            <a:r>
              <a:rPr lang="en-US" sz="1700" dirty="0">
                <a:solidFill>
                  <a:srgbClr val="000000"/>
                </a:solidFill>
              </a:rPr>
              <a:t>📡</a:t>
            </a:r>
            <a:endParaRPr lang="en-US" sz="1700" dirty="0"/>
          </a:p>
        </p:txBody>
      </p:sp>
      <p:sp>
        <p:nvSpPr>
          <p:cNvPr id="46" name="Text 44"/>
          <p:cNvSpPr/>
          <p:nvPr/>
        </p:nvSpPr>
        <p:spPr>
          <a:xfrm>
            <a:off x="1051560" y="5696712"/>
            <a:ext cx="4754880" cy="274320"/>
          </a:xfrm>
          <a:prstGeom prst="rect">
            <a:avLst/>
          </a:prstGeom>
          <a:noFill/>
          <a:ln/>
        </p:spPr>
        <p:txBody>
          <a:bodyPr wrap="square" rtlCol="0" anchor="ctr"/>
          <a:lstStyle/>
          <a:p>
            <a:pPr indent="0" marL="0">
              <a:buNone/>
            </a:pPr>
            <a:r>
              <a:rPr lang="en-US" sz="1150" b="1" dirty="0">
                <a:solidFill>
                  <a:srgbClr val="0D2B5E"/>
                </a:solidFill>
                <a:latin typeface="Calibri" pitchFamily="34" charset="0"/>
                <a:ea typeface="Calibri" pitchFamily="34" charset="-122"/>
                <a:cs typeface="Calibri" pitchFamily="34" charset="-120"/>
              </a:rPr>
              <a:t>Wi-Fi REST API Communication</a:t>
            </a:r>
            <a:endParaRPr lang="en-US" sz="1150" dirty="0"/>
          </a:p>
        </p:txBody>
      </p:sp>
      <p:sp>
        <p:nvSpPr>
          <p:cNvPr id="47" name="Text 45"/>
          <p:cNvSpPr/>
          <p:nvPr/>
        </p:nvSpPr>
        <p:spPr>
          <a:xfrm>
            <a:off x="1051560" y="5989320"/>
            <a:ext cx="4754880" cy="347472"/>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ESP32 sends JSON payloads over HTTPS to Next.js API routes hosted on Vercel.</a:t>
            </a:r>
            <a:endParaRPr lang="en-US" sz="1000" dirty="0"/>
          </a:p>
        </p:txBody>
      </p:sp>
      <p:sp>
        <p:nvSpPr>
          <p:cNvPr id="48" name="Text 46"/>
          <p:cNvSpPr/>
          <p:nvPr/>
        </p:nvSpPr>
        <p:spPr>
          <a:xfrm>
            <a:off x="6492240" y="960120"/>
            <a:ext cx="5349240" cy="320040"/>
          </a:xfrm>
          <a:prstGeom prst="rect">
            <a:avLst/>
          </a:prstGeom>
          <a:noFill/>
          <a:ln/>
        </p:spPr>
        <p:txBody>
          <a:bodyPr wrap="square" rtlCol="0" anchor="ctr"/>
          <a:lstStyle/>
          <a:p>
            <a:pPr algn="ctr" indent="0" marL="0">
              <a:buNone/>
            </a:pPr>
            <a:r>
              <a:rPr lang="en-US" sz="1300" b="1" dirty="0">
                <a:solidFill>
                  <a:srgbClr val="0D2B5E"/>
                </a:solidFill>
                <a:latin typeface="Calibri" pitchFamily="34" charset="0"/>
                <a:ea typeface="Calibri" pitchFamily="34" charset="-122"/>
                <a:cs typeface="Calibri" pitchFamily="34" charset="-120"/>
              </a:rPr>
              <a:t>Application Domains</a:t>
            </a:r>
            <a:endParaRPr lang="en-US" sz="1300" dirty="0"/>
          </a:p>
        </p:txBody>
      </p:sp>
      <p:sp>
        <p:nvSpPr>
          <p:cNvPr id="49" name="Shape 47"/>
          <p:cNvSpPr/>
          <p:nvPr/>
        </p:nvSpPr>
        <p:spPr>
          <a:xfrm>
            <a:off x="6492240" y="1280160"/>
            <a:ext cx="5349240" cy="16459"/>
          </a:xfrm>
          <a:prstGeom prst="rect">
            <a:avLst/>
          </a:prstGeom>
          <a:solidFill>
            <a:srgbClr val="BBDEFB"/>
          </a:solidFill>
          <a:ln/>
        </p:spPr>
      </p:sp>
      <p:sp>
        <p:nvSpPr>
          <p:cNvPr id="50" name="Shape 48"/>
          <p:cNvSpPr/>
          <p:nvPr/>
        </p:nvSpPr>
        <p:spPr>
          <a:xfrm>
            <a:off x="6537960" y="1417320"/>
            <a:ext cx="2514600" cy="1444752"/>
          </a:xfrm>
          <a:prstGeom prst="roundRect">
            <a:avLst>
              <a:gd name="adj" fmla="val 6329"/>
            </a:avLst>
          </a:prstGeom>
          <a:solidFill>
            <a:srgbClr val="FFFFFF"/>
          </a:solidFill>
          <a:ln w="9525">
            <a:solidFill>
              <a:srgbClr val="1565C0"/>
            </a:solidFill>
            <a:prstDash val="solid"/>
          </a:ln>
        </p:spPr>
      </p:sp>
      <p:sp>
        <p:nvSpPr>
          <p:cNvPr id="51" name="Shape 49"/>
          <p:cNvSpPr/>
          <p:nvPr/>
        </p:nvSpPr>
        <p:spPr>
          <a:xfrm>
            <a:off x="6537960" y="1417320"/>
            <a:ext cx="2514600" cy="320040"/>
          </a:xfrm>
          <a:prstGeom prst="rect">
            <a:avLst/>
          </a:prstGeom>
          <a:solidFill>
            <a:srgbClr val="1565C0"/>
          </a:solidFill>
          <a:ln w="12700">
            <a:solidFill>
              <a:srgbClr val="1565C0"/>
            </a:solidFill>
            <a:prstDash val="solid"/>
          </a:ln>
        </p:spPr>
      </p:sp>
      <p:sp>
        <p:nvSpPr>
          <p:cNvPr id="52" name="Shape 50"/>
          <p:cNvSpPr/>
          <p:nvPr/>
        </p:nvSpPr>
        <p:spPr>
          <a:xfrm>
            <a:off x="6537960" y="1417320"/>
            <a:ext cx="2514600" cy="320040"/>
          </a:xfrm>
          <a:prstGeom prst="roundRect">
            <a:avLst>
              <a:gd name="adj" fmla="val 28571"/>
            </a:avLst>
          </a:prstGeom>
          <a:solidFill>
            <a:srgbClr val="1565C0"/>
          </a:solidFill>
          <a:ln w="12700">
            <a:solidFill>
              <a:srgbClr val="1565C0"/>
            </a:solidFill>
            <a:prstDash val="solid"/>
          </a:ln>
        </p:spPr>
      </p:sp>
      <p:sp>
        <p:nvSpPr>
          <p:cNvPr id="53" name="Shape 51"/>
          <p:cNvSpPr/>
          <p:nvPr/>
        </p:nvSpPr>
        <p:spPr>
          <a:xfrm>
            <a:off x="6537960" y="1600200"/>
            <a:ext cx="2514600" cy="137160"/>
          </a:xfrm>
          <a:prstGeom prst="rect">
            <a:avLst/>
          </a:prstGeom>
          <a:solidFill>
            <a:srgbClr val="1565C0"/>
          </a:solidFill>
          <a:ln w="12700">
            <a:solidFill>
              <a:srgbClr val="1565C0"/>
            </a:solidFill>
            <a:prstDash val="solid"/>
          </a:ln>
        </p:spPr>
      </p:sp>
      <p:sp>
        <p:nvSpPr>
          <p:cNvPr id="54" name="Text 52"/>
          <p:cNvSpPr/>
          <p:nvPr/>
        </p:nvSpPr>
        <p:spPr>
          <a:xfrm>
            <a:off x="6629400" y="145389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Smart Homes</a:t>
            </a:r>
            <a:endParaRPr lang="en-US" sz="1050" dirty="0"/>
          </a:p>
        </p:txBody>
      </p:sp>
      <p:sp>
        <p:nvSpPr>
          <p:cNvPr id="55" name="Text 53"/>
          <p:cNvSpPr/>
          <p:nvPr/>
        </p:nvSpPr>
        <p:spPr>
          <a:xfrm>
            <a:off x="6647688" y="182880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Automated residential lighting based on daylight.</a:t>
            </a:r>
            <a:endParaRPr lang="en-US" sz="1000" dirty="0"/>
          </a:p>
        </p:txBody>
      </p:sp>
      <p:sp>
        <p:nvSpPr>
          <p:cNvPr id="56" name="Shape 54"/>
          <p:cNvSpPr/>
          <p:nvPr/>
        </p:nvSpPr>
        <p:spPr>
          <a:xfrm>
            <a:off x="9281160" y="1417320"/>
            <a:ext cx="2514600" cy="1444752"/>
          </a:xfrm>
          <a:prstGeom prst="roundRect">
            <a:avLst>
              <a:gd name="adj" fmla="val 6329"/>
            </a:avLst>
          </a:prstGeom>
          <a:solidFill>
            <a:srgbClr val="FFFFFF"/>
          </a:solidFill>
          <a:ln w="9525">
            <a:solidFill>
              <a:srgbClr val="0D2B5E"/>
            </a:solidFill>
            <a:prstDash val="solid"/>
          </a:ln>
        </p:spPr>
      </p:sp>
      <p:sp>
        <p:nvSpPr>
          <p:cNvPr id="57" name="Shape 55"/>
          <p:cNvSpPr/>
          <p:nvPr/>
        </p:nvSpPr>
        <p:spPr>
          <a:xfrm>
            <a:off x="9281160" y="1417320"/>
            <a:ext cx="2514600" cy="320040"/>
          </a:xfrm>
          <a:prstGeom prst="rect">
            <a:avLst/>
          </a:prstGeom>
          <a:solidFill>
            <a:srgbClr val="0D2B5E"/>
          </a:solidFill>
          <a:ln w="12700">
            <a:solidFill>
              <a:srgbClr val="0D2B5E"/>
            </a:solidFill>
            <a:prstDash val="solid"/>
          </a:ln>
        </p:spPr>
      </p:sp>
      <p:sp>
        <p:nvSpPr>
          <p:cNvPr id="58" name="Shape 56"/>
          <p:cNvSpPr/>
          <p:nvPr/>
        </p:nvSpPr>
        <p:spPr>
          <a:xfrm>
            <a:off x="9281160" y="1417320"/>
            <a:ext cx="2514600" cy="320040"/>
          </a:xfrm>
          <a:prstGeom prst="roundRect">
            <a:avLst>
              <a:gd name="adj" fmla="val 28571"/>
            </a:avLst>
          </a:prstGeom>
          <a:solidFill>
            <a:srgbClr val="0D2B5E"/>
          </a:solidFill>
          <a:ln w="12700">
            <a:solidFill>
              <a:srgbClr val="0D2B5E"/>
            </a:solidFill>
            <a:prstDash val="solid"/>
          </a:ln>
        </p:spPr>
      </p:sp>
      <p:sp>
        <p:nvSpPr>
          <p:cNvPr id="59" name="Shape 57"/>
          <p:cNvSpPr/>
          <p:nvPr/>
        </p:nvSpPr>
        <p:spPr>
          <a:xfrm>
            <a:off x="9281160" y="1600200"/>
            <a:ext cx="2514600" cy="137160"/>
          </a:xfrm>
          <a:prstGeom prst="rect">
            <a:avLst/>
          </a:prstGeom>
          <a:solidFill>
            <a:srgbClr val="0D2B5E"/>
          </a:solidFill>
          <a:ln w="12700">
            <a:solidFill>
              <a:srgbClr val="0D2B5E"/>
            </a:solidFill>
            <a:prstDash val="solid"/>
          </a:ln>
        </p:spPr>
      </p:sp>
      <p:sp>
        <p:nvSpPr>
          <p:cNvPr id="60" name="Text 58"/>
          <p:cNvSpPr/>
          <p:nvPr/>
        </p:nvSpPr>
        <p:spPr>
          <a:xfrm>
            <a:off x="9372600" y="145389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Office Buildings</a:t>
            </a:r>
            <a:endParaRPr lang="en-US" sz="1050" dirty="0"/>
          </a:p>
        </p:txBody>
      </p:sp>
      <p:sp>
        <p:nvSpPr>
          <p:cNvPr id="61" name="Text 59"/>
          <p:cNvSpPr/>
          <p:nvPr/>
        </p:nvSpPr>
        <p:spPr>
          <a:xfrm>
            <a:off x="9390888" y="182880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Energy management in commercial spaces.</a:t>
            </a:r>
            <a:endParaRPr lang="en-US" sz="1000" dirty="0"/>
          </a:p>
        </p:txBody>
      </p:sp>
      <p:sp>
        <p:nvSpPr>
          <p:cNvPr id="62" name="Shape 60"/>
          <p:cNvSpPr/>
          <p:nvPr/>
        </p:nvSpPr>
        <p:spPr>
          <a:xfrm>
            <a:off x="6537960" y="3063240"/>
            <a:ext cx="2514600" cy="1444752"/>
          </a:xfrm>
          <a:prstGeom prst="roundRect">
            <a:avLst>
              <a:gd name="adj" fmla="val 6329"/>
            </a:avLst>
          </a:prstGeom>
          <a:solidFill>
            <a:srgbClr val="FFFFFF"/>
          </a:solidFill>
          <a:ln w="9525">
            <a:solidFill>
              <a:srgbClr val="388E3C"/>
            </a:solidFill>
            <a:prstDash val="solid"/>
          </a:ln>
        </p:spPr>
      </p:sp>
      <p:sp>
        <p:nvSpPr>
          <p:cNvPr id="63" name="Shape 61"/>
          <p:cNvSpPr/>
          <p:nvPr/>
        </p:nvSpPr>
        <p:spPr>
          <a:xfrm>
            <a:off x="6537960" y="3063240"/>
            <a:ext cx="2514600" cy="320040"/>
          </a:xfrm>
          <a:prstGeom prst="rect">
            <a:avLst/>
          </a:prstGeom>
          <a:solidFill>
            <a:srgbClr val="388E3C"/>
          </a:solidFill>
          <a:ln w="12700">
            <a:solidFill>
              <a:srgbClr val="388E3C"/>
            </a:solidFill>
            <a:prstDash val="solid"/>
          </a:ln>
        </p:spPr>
      </p:sp>
      <p:sp>
        <p:nvSpPr>
          <p:cNvPr id="64" name="Shape 62"/>
          <p:cNvSpPr/>
          <p:nvPr/>
        </p:nvSpPr>
        <p:spPr>
          <a:xfrm>
            <a:off x="6537960" y="3063240"/>
            <a:ext cx="2514600" cy="320040"/>
          </a:xfrm>
          <a:prstGeom prst="roundRect">
            <a:avLst>
              <a:gd name="adj" fmla="val 28571"/>
            </a:avLst>
          </a:prstGeom>
          <a:solidFill>
            <a:srgbClr val="388E3C"/>
          </a:solidFill>
          <a:ln w="12700">
            <a:solidFill>
              <a:srgbClr val="388E3C"/>
            </a:solidFill>
            <a:prstDash val="solid"/>
          </a:ln>
        </p:spPr>
      </p:sp>
      <p:sp>
        <p:nvSpPr>
          <p:cNvPr id="65" name="Shape 63"/>
          <p:cNvSpPr/>
          <p:nvPr/>
        </p:nvSpPr>
        <p:spPr>
          <a:xfrm>
            <a:off x="6537960" y="3246120"/>
            <a:ext cx="2514600" cy="137160"/>
          </a:xfrm>
          <a:prstGeom prst="rect">
            <a:avLst/>
          </a:prstGeom>
          <a:solidFill>
            <a:srgbClr val="388E3C"/>
          </a:solidFill>
          <a:ln w="12700">
            <a:solidFill>
              <a:srgbClr val="388E3C"/>
            </a:solidFill>
            <a:prstDash val="solid"/>
          </a:ln>
        </p:spPr>
      </p:sp>
      <p:sp>
        <p:nvSpPr>
          <p:cNvPr id="66" name="Text 64"/>
          <p:cNvSpPr/>
          <p:nvPr/>
        </p:nvSpPr>
        <p:spPr>
          <a:xfrm>
            <a:off x="6629400" y="309981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Classrooms</a:t>
            </a:r>
            <a:endParaRPr lang="en-US" sz="1050" dirty="0"/>
          </a:p>
        </p:txBody>
      </p:sp>
      <p:sp>
        <p:nvSpPr>
          <p:cNvPr id="67" name="Text 65"/>
          <p:cNvSpPr/>
          <p:nvPr/>
        </p:nvSpPr>
        <p:spPr>
          <a:xfrm>
            <a:off x="6647688" y="347472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Adaptive lighting in educational institutions.</a:t>
            </a:r>
            <a:endParaRPr lang="en-US" sz="1000" dirty="0"/>
          </a:p>
        </p:txBody>
      </p:sp>
      <p:sp>
        <p:nvSpPr>
          <p:cNvPr id="68" name="Shape 66"/>
          <p:cNvSpPr/>
          <p:nvPr/>
        </p:nvSpPr>
        <p:spPr>
          <a:xfrm>
            <a:off x="9281160" y="3063240"/>
            <a:ext cx="2514600" cy="1444752"/>
          </a:xfrm>
          <a:prstGeom prst="roundRect">
            <a:avLst>
              <a:gd name="adj" fmla="val 6329"/>
            </a:avLst>
          </a:prstGeom>
          <a:solidFill>
            <a:srgbClr val="FFFFFF"/>
          </a:solidFill>
          <a:ln w="9525">
            <a:solidFill>
              <a:srgbClr val="D84315"/>
            </a:solidFill>
            <a:prstDash val="solid"/>
          </a:ln>
        </p:spPr>
      </p:sp>
      <p:sp>
        <p:nvSpPr>
          <p:cNvPr id="69" name="Shape 67"/>
          <p:cNvSpPr/>
          <p:nvPr/>
        </p:nvSpPr>
        <p:spPr>
          <a:xfrm>
            <a:off x="9281160" y="3063240"/>
            <a:ext cx="2514600" cy="320040"/>
          </a:xfrm>
          <a:prstGeom prst="rect">
            <a:avLst/>
          </a:prstGeom>
          <a:solidFill>
            <a:srgbClr val="D84315"/>
          </a:solidFill>
          <a:ln w="12700">
            <a:solidFill>
              <a:srgbClr val="D84315"/>
            </a:solidFill>
            <a:prstDash val="solid"/>
          </a:ln>
        </p:spPr>
      </p:sp>
      <p:sp>
        <p:nvSpPr>
          <p:cNvPr id="70" name="Shape 68"/>
          <p:cNvSpPr/>
          <p:nvPr/>
        </p:nvSpPr>
        <p:spPr>
          <a:xfrm>
            <a:off x="9281160" y="3063240"/>
            <a:ext cx="2514600" cy="320040"/>
          </a:xfrm>
          <a:prstGeom prst="roundRect">
            <a:avLst>
              <a:gd name="adj" fmla="val 28571"/>
            </a:avLst>
          </a:prstGeom>
          <a:solidFill>
            <a:srgbClr val="D84315"/>
          </a:solidFill>
          <a:ln w="12700">
            <a:solidFill>
              <a:srgbClr val="D84315"/>
            </a:solidFill>
            <a:prstDash val="solid"/>
          </a:ln>
        </p:spPr>
      </p:sp>
      <p:sp>
        <p:nvSpPr>
          <p:cNvPr id="71" name="Shape 69"/>
          <p:cNvSpPr/>
          <p:nvPr/>
        </p:nvSpPr>
        <p:spPr>
          <a:xfrm>
            <a:off x="9281160" y="3246120"/>
            <a:ext cx="2514600" cy="137160"/>
          </a:xfrm>
          <a:prstGeom prst="rect">
            <a:avLst/>
          </a:prstGeom>
          <a:solidFill>
            <a:srgbClr val="D84315"/>
          </a:solidFill>
          <a:ln w="12700">
            <a:solidFill>
              <a:srgbClr val="D84315"/>
            </a:solidFill>
            <a:prstDash val="solid"/>
          </a:ln>
        </p:spPr>
      </p:sp>
      <p:sp>
        <p:nvSpPr>
          <p:cNvPr id="72" name="Text 70"/>
          <p:cNvSpPr/>
          <p:nvPr/>
        </p:nvSpPr>
        <p:spPr>
          <a:xfrm>
            <a:off x="9372600" y="309981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Hospitals</a:t>
            </a:r>
            <a:endParaRPr lang="en-US" sz="1050" dirty="0"/>
          </a:p>
        </p:txBody>
      </p:sp>
      <p:sp>
        <p:nvSpPr>
          <p:cNvPr id="73" name="Text 71"/>
          <p:cNvSpPr/>
          <p:nvPr/>
        </p:nvSpPr>
        <p:spPr>
          <a:xfrm>
            <a:off x="9390888" y="347472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Consistent illumination for patient care areas.</a:t>
            </a:r>
            <a:endParaRPr lang="en-US" sz="1000" dirty="0"/>
          </a:p>
        </p:txBody>
      </p:sp>
      <p:sp>
        <p:nvSpPr>
          <p:cNvPr id="74" name="Shape 72"/>
          <p:cNvSpPr/>
          <p:nvPr/>
        </p:nvSpPr>
        <p:spPr>
          <a:xfrm>
            <a:off x="6537960" y="4709160"/>
            <a:ext cx="2514600" cy="1444752"/>
          </a:xfrm>
          <a:prstGeom prst="roundRect">
            <a:avLst>
              <a:gd name="adj" fmla="val 6329"/>
            </a:avLst>
          </a:prstGeom>
          <a:solidFill>
            <a:srgbClr val="FFFFFF"/>
          </a:solidFill>
          <a:ln w="9525">
            <a:solidFill>
              <a:srgbClr val="F57F17"/>
            </a:solidFill>
            <a:prstDash val="solid"/>
          </a:ln>
        </p:spPr>
      </p:sp>
      <p:sp>
        <p:nvSpPr>
          <p:cNvPr id="75" name="Shape 73"/>
          <p:cNvSpPr/>
          <p:nvPr/>
        </p:nvSpPr>
        <p:spPr>
          <a:xfrm>
            <a:off x="6537960" y="4709160"/>
            <a:ext cx="2514600" cy="320040"/>
          </a:xfrm>
          <a:prstGeom prst="rect">
            <a:avLst/>
          </a:prstGeom>
          <a:solidFill>
            <a:srgbClr val="F57F17"/>
          </a:solidFill>
          <a:ln w="12700">
            <a:solidFill>
              <a:srgbClr val="F57F17"/>
            </a:solidFill>
            <a:prstDash val="solid"/>
          </a:ln>
        </p:spPr>
      </p:sp>
      <p:sp>
        <p:nvSpPr>
          <p:cNvPr id="76" name="Shape 74"/>
          <p:cNvSpPr/>
          <p:nvPr/>
        </p:nvSpPr>
        <p:spPr>
          <a:xfrm>
            <a:off x="6537960" y="4709160"/>
            <a:ext cx="2514600" cy="320040"/>
          </a:xfrm>
          <a:prstGeom prst="roundRect">
            <a:avLst>
              <a:gd name="adj" fmla="val 28571"/>
            </a:avLst>
          </a:prstGeom>
          <a:solidFill>
            <a:srgbClr val="F57F17"/>
          </a:solidFill>
          <a:ln w="12700">
            <a:solidFill>
              <a:srgbClr val="F57F17"/>
            </a:solidFill>
            <a:prstDash val="solid"/>
          </a:ln>
        </p:spPr>
      </p:sp>
      <p:sp>
        <p:nvSpPr>
          <p:cNvPr id="77" name="Shape 75"/>
          <p:cNvSpPr/>
          <p:nvPr/>
        </p:nvSpPr>
        <p:spPr>
          <a:xfrm>
            <a:off x="6537960" y="4892040"/>
            <a:ext cx="2514600" cy="137160"/>
          </a:xfrm>
          <a:prstGeom prst="rect">
            <a:avLst/>
          </a:prstGeom>
          <a:solidFill>
            <a:srgbClr val="F57F17"/>
          </a:solidFill>
          <a:ln w="12700">
            <a:solidFill>
              <a:srgbClr val="F57F17"/>
            </a:solidFill>
            <a:prstDash val="solid"/>
          </a:ln>
        </p:spPr>
      </p:sp>
      <p:sp>
        <p:nvSpPr>
          <p:cNvPr id="78" name="Text 76"/>
          <p:cNvSpPr/>
          <p:nvPr/>
        </p:nvSpPr>
        <p:spPr>
          <a:xfrm>
            <a:off x="6629400" y="474573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Industrial</a:t>
            </a:r>
            <a:endParaRPr lang="en-US" sz="1050" dirty="0"/>
          </a:p>
        </p:txBody>
      </p:sp>
      <p:sp>
        <p:nvSpPr>
          <p:cNvPr id="79" name="Text 77"/>
          <p:cNvSpPr/>
          <p:nvPr/>
        </p:nvSpPr>
        <p:spPr>
          <a:xfrm>
            <a:off x="6647688" y="512064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Safety lighting in warehouses and factories.</a:t>
            </a:r>
            <a:endParaRPr lang="en-US" sz="1000" dirty="0"/>
          </a:p>
        </p:txBody>
      </p:sp>
      <p:sp>
        <p:nvSpPr>
          <p:cNvPr id="80" name="Shape 78"/>
          <p:cNvSpPr/>
          <p:nvPr/>
        </p:nvSpPr>
        <p:spPr>
          <a:xfrm>
            <a:off x="9281160" y="4709160"/>
            <a:ext cx="2514600" cy="1444752"/>
          </a:xfrm>
          <a:prstGeom prst="roundRect">
            <a:avLst>
              <a:gd name="adj" fmla="val 6329"/>
            </a:avLst>
          </a:prstGeom>
          <a:solidFill>
            <a:srgbClr val="FFFFFF"/>
          </a:solidFill>
          <a:ln w="9525">
            <a:solidFill>
              <a:srgbClr val="1976D2"/>
            </a:solidFill>
            <a:prstDash val="solid"/>
          </a:ln>
        </p:spPr>
      </p:sp>
      <p:sp>
        <p:nvSpPr>
          <p:cNvPr id="81" name="Shape 79"/>
          <p:cNvSpPr/>
          <p:nvPr/>
        </p:nvSpPr>
        <p:spPr>
          <a:xfrm>
            <a:off x="9281160" y="4709160"/>
            <a:ext cx="2514600" cy="320040"/>
          </a:xfrm>
          <a:prstGeom prst="rect">
            <a:avLst/>
          </a:prstGeom>
          <a:solidFill>
            <a:srgbClr val="1976D2"/>
          </a:solidFill>
          <a:ln w="12700">
            <a:solidFill>
              <a:srgbClr val="1976D2"/>
            </a:solidFill>
            <a:prstDash val="solid"/>
          </a:ln>
        </p:spPr>
      </p:sp>
      <p:sp>
        <p:nvSpPr>
          <p:cNvPr id="82" name="Shape 80"/>
          <p:cNvSpPr/>
          <p:nvPr/>
        </p:nvSpPr>
        <p:spPr>
          <a:xfrm>
            <a:off x="9281160" y="4709160"/>
            <a:ext cx="2514600" cy="320040"/>
          </a:xfrm>
          <a:prstGeom prst="roundRect">
            <a:avLst>
              <a:gd name="adj" fmla="val 28571"/>
            </a:avLst>
          </a:prstGeom>
          <a:solidFill>
            <a:srgbClr val="1976D2"/>
          </a:solidFill>
          <a:ln w="12700">
            <a:solidFill>
              <a:srgbClr val="1976D2"/>
            </a:solidFill>
            <a:prstDash val="solid"/>
          </a:ln>
        </p:spPr>
      </p:sp>
      <p:sp>
        <p:nvSpPr>
          <p:cNvPr id="83" name="Shape 81"/>
          <p:cNvSpPr/>
          <p:nvPr/>
        </p:nvSpPr>
        <p:spPr>
          <a:xfrm>
            <a:off x="9281160" y="4892040"/>
            <a:ext cx="2514600" cy="137160"/>
          </a:xfrm>
          <a:prstGeom prst="rect">
            <a:avLst/>
          </a:prstGeom>
          <a:solidFill>
            <a:srgbClr val="1976D2"/>
          </a:solidFill>
          <a:ln w="12700">
            <a:solidFill>
              <a:srgbClr val="1976D2"/>
            </a:solidFill>
            <a:prstDash val="solid"/>
          </a:ln>
        </p:spPr>
      </p:sp>
      <p:sp>
        <p:nvSpPr>
          <p:cNvPr id="84" name="Text 82"/>
          <p:cNvSpPr/>
          <p:nvPr/>
        </p:nvSpPr>
        <p:spPr>
          <a:xfrm>
            <a:off x="9372600" y="4745736"/>
            <a:ext cx="23317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Smart Campuses</a:t>
            </a:r>
            <a:endParaRPr lang="en-US" sz="1050" dirty="0"/>
          </a:p>
        </p:txBody>
      </p:sp>
      <p:sp>
        <p:nvSpPr>
          <p:cNvPr id="85" name="Text 83"/>
          <p:cNvSpPr/>
          <p:nvPr/>
        </p:nvSpPr>
        <p:spPr>
          <a:xfrm>
            <a:off x="9390888" y="5120640"/>
            <a:ext cx="2286000" cy="841248"/>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Campus-wide IoT lighting infrastructure.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5</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General Architecture</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5 of 10</a:t>
            </a:r>
            <a:endParaRPr lang="en-US" sz="750" dirty="0"/>
          </a:p>
        </p:txBody>
      </p:sp>
      <p:sp>
        <p:nvSpPr>
          <p:cNvPr id="10" name="Shape 8"/>
          <p:cNvSpPr/>
          <p:nvPr/>
        </p:nvSpPr>
        <p:spPr>
          <a:xfrm>
            <a:off x="274320" y="987552"/>
            <a:ext cx="3794760" cy="3977640"/>
          </a:xfrm>
          <a:prstGeom prst="roundRect">
            <a:avLst>
              <a:gd name="adj" fmla="val 2410"/>
            </a:avLst>
          </a:prstGeom>
          <a:solidFill>
            <a:srgbClr val="FFFFFF"/>
          </a:solidFill>
          <a:ln w="9525">
            <a:solidFill>
              <a:srgbClr val="1565C0"/>
            </a:solidFill>
            <a:prstDash val="solid"/>
          </a:ln>
        </p:spPr>
      </p:sp>
      <p:sp>
        <p:nvSpPr>
          <p:cNvPr id="11" name="Shape 9"/>
          <p:cNvSpPr/>
          <p:nvPr/>
        </p:nvSpPr>
        <p:spPr>
          <a:xfrm>
            <a:off x="274320" y="987552"/>
            <a:ext cx="3794760" cy="438912"/>
          </a:xfrm>
          <a:prstGeom prst="roundRect">
            <a:avLst>
              <a:gd name="adj" fmla="val 20833"/>
            </a:avLst>
          </a:prstGeom>
          <a:solidFill>
            <a:srgbClr val="1565C0"/>
          </a:solidFill>
          <a:ln w="12700">
            <a:solidFill>
              <a:srgbClr val="1565C0"/>
            </a:solidFill>
            <a:prstDash val="solid"/>
          </a:ln>
        </p:spPr>
      </p:sp>
      <p:sp>
        <p:nvSpPr>
          <p:cNvPr id="12" name="Shape 10"/>
          <p:cNvSpPr/>
          <p:nvPr/>
        </p:nvSpPr>
        <p:spPr>
          <a:xfrm>
            <a:off x="274320" y="1335024"/>
            <a:ext cx="3794760" cy="91440"/>
          </a:xfrm>
          <a:prstGeom prst="rect">
            <a:avLst/>
          </a:prstGeom>
          <a:solidFill>
            <a:srgbClr val="1565C0"/>
          </a:solidFill>
          <a:ln w="12700">
            <a:solidFill>
              <a:srgbClr val="1565C0"/>
            </a:solidFill>
            <a:prstDash val="solid"/>
          </a:ln>
        </p:spPr>
      </p:sp>
      <p:sp>
        <p:nvSpPr>
          <p:cNvPr id="13" name="Text 11"/>
          <p:cNvSpPr/>
          <p:nvPr/>
        </p:nvSpPr>
        <p:spPr>
          <a:xfrm>
            <a:off x="411480" y="1005840"/>
            <a:ext cx="34747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A.  Software</a:t>
            </a:r>
            <a:endParaRPr lang="en-US" sz="1250" dirty="0"/>
          </a:p>
        </p:txBody>
      </p:sp>
      <p:sp>
        <p:nvSpPr>
          <p:cNvPr id="14" name="Shape 12"/>
          <p:cNvSpPr/>
          <p:nvPr/>
        </p:nvSpPr>
        <p:spPr>
          <a:xfrm>
            <a:off x="411480" y="1426464"/>
            <a:ext cx="3474720" cy="237744"/>
          </a:xfrm>
          <a:prstGeom prst="roundRect">
            <a:avLst>
              <a:gd name="adj" fmla="val 15385"/>
            </a:avLst>
          </a:prstGeom>
          <a:solidFill>
            <a:srgbClr val="E8F4FD"/>
          </a:solidFill>
          <a:ln/>
        </p:spPr>
      </p:sp>
      <p:sp>
        <p:nvSpPr>
          <p:cNvPr id="15" name="Text 13"/>
          <p:cNvSpPr/>
          <p:nvPr/>
        </p:nvSpPr>
        <p:spPr>
          <a:xfrm>
            <a:off x="411480" y="1435608"/>
            <a:ext cx="3474720" cy="219456"/>
          </a:xfrm>
          <a:prstGeom prst="rect">
            <a:avLst/>
          </a:prstGeom>
          <a:noFill/>
          <a:ln/>
        </p:spPr>
        <p:txBody>
          <a:bodyPr wrap="square"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Why Web Application?</a:t>
            </a:r>
            <a:endParaRPr lang="en-US" sz="950" dirty="0"/>
          </a:p>
        </p:txBody>
      </p:sp>
      <p:sp>
        <p:nvSpPr>
          <p:cNvPr id="16" name="Shape 14"/>
          <p:cNvSpPr/>
          <p:nvPr/>
        </p:nvSpPr>
        <p:spPr>
          <a:xfrm>
            <a:off x="457200" y="1847088"/>
            <a:ext cx="91440" cy="91440"/>
          </a:xfrm>
          <a:prstGeom prst="ellipse">
            <a:avLst/>
          </a:prstGeom>
          <a:solidFill>
            <a:srgbClr val="1565C0"/>
          </a:solidFill>
          <a:ln/>
        </p:spPr>
      </p:sp>
      <p:sp>
        <p:nvSpPr>
          <p:cNvPr id="17" name="Text 15"/>
          <p:cNvSpPr/>
          <p:nvPr/>
        </p:nvSpPr>
        <p:spPr>
          <a:xfrm>
            <a:off x="640080" y="175564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Accessible from any device</a:t>
            </a:r>
            <a:endParaRPr lang="en-US" sz="1000" dirty="0"/>
          </a:p>
        </p:txBody>
      </p:sp>
      <p:sp>
        <p:nvSpPr>
          <p:cNvPr id="18" name="Shape 16"/>
          <p:cNvSpPr/>
          <p:nvPr/>
        </p:nvSpPr>
        <p:spPr>
          <a:xfrm>
            <a:off x="457200" y="2203704"/>
            <a:ext cx="91440" cy="91440"/>
          </a:xfrm>
          <a:prstGeom prst="ellipse">
            <a:avLst/>
          </a:prstGeom>
          <a:solidFill>
            <a:srgbClr val="1565C0"/>
          </a:solidFill>
          <a:ln/>
        </p:spPr>
      </p:sp>
      <p:sp>
        <p:nvSpPr>
          <p:cNvPr id="19" name="Text 17"/>
          <p:cNvSpPr/>
          <p:nvPr/>
        </p:nvSpPr>
        <p:spPr>
          <a:xfrm>
            <a:off x="640080" y="211226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Real-time UI updates</a:t>
            </a:r>
            <a:endParaRPr lang="en-US" sz="1000" dirty="0"/>
          </a:p>
        </p:txBody>
      </p:sp>
      <p:sp>
        <p:nvSpPr>
          <p:cNvPr id="20" name="Shape 18"/>
          <p:cNvSpPr/>
          <p:nvPr/>
        </p:nvSpPr>
        <p:spPr>
          <a:xfrm>
            <a:off x="457200" y="2560320"/>
            <a:ext cx="91440" cy="91440"/>
          </a:xfrm>
          <a:prstGeom prst="ellipse">
            <a:avLst/>
          </a:prstGeom>
          <a:solidFill>
            <a:srgbClr val="1565C0"/>
          </a:solidFill>
          <a:ln/>
        </p:spPr>
      </p:sp>
      <p:sp>
        <p:nvSpPr>
          <p:cNvPr id="21" name="Text 19"/>
          <p:cNvSpPr/>
          <p:nvPr/>
        </p:nvSpPr>
        <p:spPr>
          <a:xfrm>
            <a:off x="640080" y="246888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Easy to scale &amp; maintain</a:t>
            </a:r>
            <a:endParaRPr lang="en-US" sz="1000" dirty="0"/>
          </a:p>
        </p:txBody>
      </p:sp>
      <p:sp>
        <p:nvSpPr>
          <p:cNvPr id="22" name="Shape 20"/>
          <p:cNvSpPr/>
          <p:nvPr/>
        </p:nvSpPr>
        <p:spPr>
          <a:xfrm>
            <a:off x="457200" y="2916936"/>
            <a:ext cx="91440" cy="91440"/>
          </a:xfrm>
          <a:prstGeom prst="ellipse">
            <a:avLst/>
          </a:prstGeom>
          <a:solidFill>
            <a:srgbClr val="1565C0"/>
          </a:solidFill>
          <a:ln/>
        </p:spPr>
      </p:sp>
      <p:sp>
        <p:nvSpPr>
          <p:cNvPr id="23" name="Text 21"/>
          <p:cNvSpPr/>
          <p:nvPr/>
        </p:nvSpPr>
        <p:spPr>
          <a:xfrm>
            <a:off x="640080" y="2825496"/>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Cross-platform compatibility</a:t>
            </a:r>
            <a:endParaRPr lang="en-US" sz="1000" dirty="0"/>
          </a:p>
        </p:txBody>
      </p:sp>
      <p:sp>
        <p:nvSpPr>
          <p:cNvPr id="24" name="Shape 22"/>
          <p:cNvSpPr/>
          <p:nvPr/>
        </p:nvSpPr>
        <p:spPr>
          <a:xfrm>
            <a:off x="457200" y="3273552"/>
            <a:ext cx="91440" cy="91440"/>
          </a:xfrm>
          <a:prstGeom prst="ellipse">
            <a:avLst/>
          </a:prstGeom>
          <a:solidFill>
            <a:srgbClr val="1565C0"/>
          </a:solidFill>
          <a:ln/>
        </p:spPr>
      </p:sp>
      <p:sp>
        <p:nvSpPr>
          <p:cNvPr id="25" name="Text 23"/>
          <p:cNvSpPr/>
          <p:nvPr/>
        </p:nvSpPr>
        <p:spPr>
          <a:xfrm>
            <a:off x="640080" y="3182112"/>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JSON API integration</a:t>
            </a:r>
            <a:endParaRPr lang="en-US" sz="1000" dirty="0"/>
          </a:p>
        </p:txBody>
      </p:sp>
      <p:sp>
        <p:nvSpPr>
          <p:cNvPr id="26" name="Shape 24"/>
          <p:cNvSpPr/>
          <p:nvPr/>
        </p:nvSpPr>
        <p:spPr>
          <a:xfrm>
            <a:off x="457200" y="3630168"/>
            <a:ext cx="91440" cy="91440"/>
          </a:xfrm>
          <a:prstGeom prst="ellipse">
            <a:avLst/>
          </a:prstGeom>
          <a:solidFill>
            <a:srgbClr val="1565C0"/>
          </a:solidFill>
          <a:ln/>
        </p:spPr>
      </p:sp>
      <p:sp>
        <p:nvSpPr>
          <p:cNvPr id="27" name="Text 25"/>
          <p:cNvSpPr/>
          <p:nvPr/>
        </p:nvSpPr>
        <p:spPr>
          <a:xfrm>
            <a:off x="640080" y="353872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Next.js 16 + React 19</a:t>
            </a:r>
            <a:endParaRPr lang="en-US" sz="1000" dirty="0"/>
          </a:p>
        </p:txBody>
      </p:sp>
      <p:sp>
        <p:nvSpPr>
          <p:cNvPr id="28" name="Shape 26"/>
          <p:cNvSpPr/>
          <p:nvPr/>
        </p:nvSpPr>
        <p:spPr>
          <a:xfrm>
            <a:off x="457200" y="3986784"/>
            <a:ext cx="91440" cy="91440"/>
          </a:xfrm>
          <a:prstGeom prst="ellipse">
            <a:avLst/>
          </a:prstGeom>
          <a:solidFill>
            <a:srgbClr val="1565C0"/>
          </a:solidFill>
          <a:ln/>
        </p:spPr>
      </p:sp>
      <p:sp>
        <p:nvSpPr>
          <p:cNvPr id="29" name="Text 27"/>
          <p:cNvSpPr/>
          <p:nvPr/>
        </p:nvSpPr>
        <p:spPr>
          <a:xfrm>
            <a:off x="640080" y="389534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MongoDB Atlas database</a:t>
            </a:r>
            <a:endParaRPr lang="en-US" sz="1000" dirty="0"/>
          </a:p>
        </p:txBody>
      </p:sp>
      <p:sp>
        <p:nvSpPr>
          <p:cNvPr id="30" name="Shape 28"/>
          <p:cNvSpPr/>
          <p:nvPr/>
        </p:nvSpPr>
        <p:spPr>
          <a:xfrm>
            <a:off x="457200" y="4343400"/>
            <a:ext cx="91440" cy="91440"/>
          </a:xfrm>
          <a:prstGeom prst="ellipse">
            <a:avLst/>
          </a:prstGeom>
          <a:solidFill>
            <a:srgbClr val="1565C0"/>
          </a:solidFill>
          <a:ln/>
        </p:spPr>
      </p:sp>
      <p:sp>
        <p:nvSpPr>
          <p:cNvPr id="31" name="Text 29"/>
          <p:cNvSpPr/>
          <p:nvPr/>
        </p:nvSpPr>
        <p:spPr>
          <a:xfrm>
            <a:off x="640080" y="425196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Vercel serverless hosting</a:t>
            </a:r>
            <a:endParaRPr lang="en-US" sz="1000" dirty="0"/>
          </a:p>
        </p:txBody>
      </p:sp>
      <p:sp>
        <p:nvSpPr>
          <p:cNvPr id="32" name="Shape 30"/>
          <p:cNvSpPr/>
          <p:nvPr/>
        </p:nvSpPr>
        <p:spPr>
          <a:xfrm>
            <a:off x="4261104" y="987552"/>
            <a:ext cx="3794760" cy="3977640"/>
          </a:xfrm>
          <a:prstGeom prst="roundRect">
            <a:avLst>
              <a:gd name="adj" fmla="val 2410"/>
            </a:avLst>
          </a:prstGeom>
          <a:solidFill>
            <a:srgbClr val="FFFFFF"/>
          </a:solidFill>
          <a:ln w="9525">
            <a:solidFill>
              <a:srgbClr val="D84315"/>
            </a:solidFill>
            <a:prstDash val="solid"/>
          </a:ln>
        </p:spPr>
      </p:sp>
      <p:sp>
        <p:nvSpPr>
          <p:cNvPr id="33" name="Shape 31"/>
          <p:cNvSpPr/>
          <p:nvPr/>
        </p:nvSpPr>
        <p:spPr>
          <a:xfrm>
            <a:off x="4261104" y="987552"/>
            <a:ext cx="3794760" cy="438912"/>
          </a:xfrm>
          <a:prstGeom prst="roundRect">
            <a:avLst>
              <a:gd name="adj" fmla="val 20833"/>
            </a:avLst>
          </a:prstGeom>
          <a:solidFill>
            <a:srgbClr val="D84315"/>
          </a:solidFill>
          <a:ln w="12700">
            <a:solidFill>
              <a:srgbClr val="D84315"/>
            </a:solidFill>
            <a:prstDash val="solid"/>
          </a:ln>
        </p:spPr>
      </p:sp>
      <p:sp>
        <p:nvSpPr>
          <p:cNvPr id="34" name="Shape 32"/>
          <p:cNvSpPr/>
          <p:nvPr/>
        </p:nvSpPr>
        <p:spPr>
          <a:xfrm>
            <a:off x="4261104" y="1335024"/>
            <a:ext cx="3794760" cy="91440"/>
          </a:xfrm>
          <a:prstGeom prst="rect">
            <a:avLst/>
          </a:prstGeom>
          <a:solidFill>
            <a:srgbClr val="D84315"/>
          </a:solidFill>
          <a:ln w="12700">
            <a:solidFill>
              <a:srgbClr val="D84315"/>
            </a:solidFill>
            <a:prstDash val="solid"/>
          </a:ln>
        </p:spPr>
      </p:sp>
      <p:sp>
        <p:nvSpPr>
          <p:cNvPr id="35" name="Text 33"/>
          <p:cNvSpPr/>
          <p:nvPr/>
        </p:nvSpPr>
        <p:spPr>
          <a:xfrm>
            <a:off x="4398264" y="1005840"/>
            <a:ext cx="34747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B.  Hardware</a:t>
            </a:r>
            <a:endParaRPr lang="en-US" sz="1250" dirty="0"/>
          </a:p>
        </p:txBody>
      </p:sp>
      <p:sp>
        <p:nvSpPr>
          <p:cNvPr id="36" name="Shape 34"/>
          <p:cNvSpPr/>
          <p:nvPr/>
        </p:nvSpPr>
        <p:spPr>
          <a:xfrm>
            <a:off x="4398264" y="1426464"/>
            <a:ext cx="3474720" cy="237744"/>
          </a:xfrm>
          <a:prstGeom prst="roundRect">
            <a:avLst>
              <a:gd name="adj" fmla="val 15385"/>
            </a:avLst>
          </a:prstGeom>
          <a:solidFill>
            <a:srgbClr val="E8F4FD"/>
          </a:solidFill>
          <a:ln/>
        </p:spPr>
      </p:sp>
      <p:sp>
        <p:nvSpPr>
          <p:cNvPr id="37" name="Text 35"/>
          <p:cNvSpPr/>
          <p:nvPr/>
        </p:nvSpPr>
        <p:spPr>
          <a:xfrm>
            <a:off x="4398264" y="1435608"/>
            <a:ext cx="3474720" cy="219456"/>
          </a:xfrm>
          <a:prstGeom prst="rect">
            <a:avLst/>
          </a:prstGeom>
          <a:noFill/>
          <a:ln/>
        </p:spPr>
        <p:txBody>
          <a:bodyPr wrap="square" rtlCol="0" anchor="ctr"/>
          <a:lstStyle/>
          <a:p>
            <a:pPr algn="ctr" indent="0" marL="0">
              <a:buNone/>
            </a:pPr>
            <a:r>
              <a:rPr lang="en-US" sz="950" b="1" dirty="0">
                <a:solidFill>
                  <a:srgbClr val="D84315"/>
                </a:solidFill>
                <a:latin typeface="Calibri" pitchFamily="34" charset="0"/>
                <a:ea typeface="Calibri" pitchFamily="34" charset="-122"/>
                <a:cs typeface="Calibri" pitchFamily="34" charset="-120"/>
              </a:rPr>
              <a:t>Why ESP32 &amp; LDR?</a:t>
            </a:r>
            <a:endParaRPr lang="en-US" sz="950" dirty="0"/>
          </a:p>
        </p:txBody>
      </p:sp>
      <p:sp>
        <p:nvSpPr>
          <p:cNvPr id="38" name="Shape 36"/>
          <p:cNvSpPr/>
          <p:nvPr/>
        </p:nvSpPr>
        <p:spPr>
          <a:xfrm>
            <a:off x="4443984" y="1847088"/>
            <a:ext cx="91440" cy="91440"/>
          </a:xfrm>
          <a:prstGeom prst="ellipse">
            <a:avLst/>
          </a:prstGeom>
          <a:solidFill>
            <a:srgbClr val="D84315"/>
          </a:solidFill>
          <a:ln/>
        </p:spPr>
      </p:sp>
      <p:sp>
        <p:nvSpPr>
          <p:cNvPr id="39" name="Text 37"/>
          <p:cNvSpPr/>
          <p:nvPr/>
        </p:nvSpPr>
        <p:spPr>
          <a:xfrm>
            <a:off x="4626864" y="175564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ESP32: Built-in Wi-Fi, low power</a:t>
            </a:r>
            <a:endParaRPr lang="en-US" sz="1000" dirty="0"/>
          </a:p>
        </p:txBody>
      </p:sp>
      <p:sp>
        <p:nvSpPr>
          <p:cNvPr id="40" name="Shape 38"/>
          <p:cNvSpPr/>
          <p:nvPr/>
        </p:nvSpPr>
        <p:spPr>
          <a:xfrm>
            <a:off x="4443984" y="2203704"/>
            <a:ext cx="91440" cy="91440"/>
          </a:xfrm>
          <a:prstGeom prst="ellipse">
            <a:avLst/>
          </a:prstGeom>
          <a:solidFill>
            <a:srgbClr val="D84315"/>
          </a:solidFill>
          <a:ln/>
        </p:spPr>
      </p:sp>
      <p:sp>
        <p:nvSpPr>
          <p:cNvPr id="41" name="Text 39"/>
          <p:cNvSpPr/>
          <p:nvPr/>
        </p:nvSpPr>
        <p:spPr>
          <a:xfrm>
            <a:off x="4626864" y="211226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12-bit ADC (0–4095 range)</a:t>
            </a:r>
            <a:endParaRPr lang="en-US" sz="1000" dirty="0"/>
          </a:p>
        </p:txBody>
      </p:sp>
      <p:sp>
        <p:nvSpPr>
          <p:cNvPr id="42" name="Shape 40"/>
          <p:cNvSpPr/>
          <p:nvPr/>
        </p:nvSpPr>
        <p:spPr>
          <a:xfrm>
            <a:off x="4443984" y="2560320"/>
            <a:ext cx="91440" cy="91440"/>
          </a:xfrm>
          <a:prstGeom prst="ellipse">
            <a:avLst/>
          </a:prstGeom>
          <a:solidFill>
            <a:srgbClr val="D84315"/>
          </a:solidFill>
          <a:ln/>
        </p:spPr>
      </p:sp>
      <p:sp>
        <p:nvSpPr>
          <p:cNvPr id="43" name="Text 41"/>
          <p:cNvSpPr/>
          <p:nvPr/>
        </p:nvSpPr>
        <p:spPr>
          <a:xfrm>
            <a:off x="4626864" y="246888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LDR: low cost, simple, analogue sensing</a:t>
            </a:r>
            <a:endParaRPr lang="en-US" sz="1000" dirty="0"/>
          </a:p>
        </p:txBody>
      </p:sp>
      <p:sp>
        <p:nvSpPr>
          <p:cNvPr id="44" name="Shape 42"/>
          <p:cNvSpPr/>
          <p:nvPr/>
        </p:nvSpPr>
        <p:spPr>
          <a:xfrm>
            <a:off x="4443984" y="2916936"/>
            <a:ext cx="91440" cy="91440"/>
          </a:xfrm>
          <a:prstGeom prst="ellipse">
            <a:avLst/>
          </a:prstGeom>
          <a:solidFill>
            <a:srgbClr val="D84315"/>
          </a:solidFill>
          <a:ln/>
        </p:spPr>
      </p:sp>
      <p:sp>
        <p:nvSpPr>
          <p:cNvPr id="45" name="Text 43"/>
          <p:cNvSpPr/>
          <p:nvPr/>
        </p:nvSpPr>
        <p:spPr>
          <a:xfrm>
            <a:off x="4626864" y="2825496"/>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High performance, GPIO output</a:t>
            </a:r>
            <a:endParaRPr lang="en-US" sz="1000" dirty="0"/>
          </a:p>
        </p:txBody>
      </p:sp>
      <p:sp>
        <p:nvSpPr>
          <p:cNvPr id="46" name="Shape 44"/>
          <p:cNvSpPr/>
          <p:nvPr/>
        </p:nvSpPr>
        <p:spPr>
          <a:xfrm>
            <a:off x="4443984" y="3273552"/>
            <a:ext cx="91440" cy="91440"/>
          </a:xfrm>
          <a:prstGeom prst="ellipse">
            <a:avLst/>
          </a:prstGeom>
          <a:solidFill>
            <a:srgbClr val="D84315"/>
          </a:solidFill>
          <a:ln/>
        </p:spPr>
      </p:sp>
      <p:sp>
        <p:nvSpPr>
          <p:cNvPr id="47" name="Text 45"/>
          <p:cNvSpPr/>
          <p:nvPr/>
        </p:nvSpPr>
        <p:spPr>
          <a:xfrm>
            <a:off x="4626864" y="3182112"/>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Wokwi simulator compatible</a:t>
            </a:r>
            <a:endParaRPr lang="en-US" sz="1000" dirty="0"/>
          </a:p>
        </p:txBody>
      </p:sp>
      <p:sp>
        <p:nvSpPr>
          <p:cNvPr id="48" name="Shape 46"/>
          <p:cNvSpPr/>
          <p:nvPr/>
        </p:nvSpPr>
        <p:spPr>
          <a:xfrm>
            <a:off x="4443984" y="3630168"/>
            <a:ext cx="91440" cy="91440"/>
          </a:xfrm>
          <a:prstGeom prst="ellipse">
            <a:avLst/>
          </a:prstGeom>
          <a:solidFill>
            <a:srgbClr val="D84315"/>
          </a:solidFill>
          <a:ln/>
        </p:spPr>
      </p:sp>
      <p:sp>
        <p:nvSpPr>
          <p:cNvPr id="49" name="Text 47"/>
          <p:cNvSpPr/>
          <p:nvPr/>
        </p:nvSpPr>
        <p:spPr>
          <a:xfrm>
            <a:off x="4626864" y="353872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LED output on digital GPIO</a:t>
            </a:r>
            <a:endParaRPr lang="en-US" sz="1000" dirty="0"/>
          </a:p>
        </p:txBody>
      </p:sp>
      <p:sp>
        <p:nvSpPr>
          <p:cNvPr id="50" name="Shape 48"/>
          <p:cNvSpPr/>
          <p:nvPr/>
        </p:nvSpPr>
        <p:spPr>
          <a:xfrm>
            <a:off x="4443984" y="3986784"/>
            <a:ext cx="91440" cy="91440"/>
          </a:xfrm>
          <a:prstGeom prst="ellipse">
            <a:avLst/>
          </a:prstGeom>
          <a:solidFill>
            <a:srgbClr val="D84315"/>
          </a:solidFill>
          <a:ln/>
        </p:spPr>
      </p:sp>
      <p:sp>
        <p:nvSpPr>
          <p:cNvPr id="51" name="Text 49"/>
          <p:cNvSpPr/>
          <p:nvPr/>
        </p:nvSpPr>
        <p:spPr>
          <a:xfrm>
            <a:off x="4626864" y="389534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Breadboard prototype</a:t>
            </a:r>
            <a:endParaRPr lang="en-US" sz="1000" dirty="0"/>
          </a:p>
        </p:txBody>
      </p:sp>
      <p:sp>
        <p:nvSpPr>
          <p:cNvPr id="52" name="Shape 50"/>
          <p:cNvSpPr/>
          <p:nvPr/>
        </p:nvSpPr>
        <p:spPr>
          <a:xfrm>
            <a:off x="4443984" y="4343400"/>
            <a:ext cx="91440" cy="91440"/>
          </a:xfrm>
          <a:prstGeom prst="ellipse">
            <a:avLst/>
          </a:prstGeom>
          <a:solidFill>
            <a:srgbClr val="D84315"/>
          </a:solidFill>
          <a:ln/>
        </p:spPr>
      </p:sp>
      <p:sp>
        <p:nvSpPr>
          <p:cNvPr id="53" name="Text 51"/>
          <p:cNvSpPr/>
          <p:nvPr/>
        </p:nvSpPr>
        <p:spPr>
          <a:xfrm>
            <a:off x="4626864" y="425196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3.3V operating voltage</a:t>
            </a:r>
            <a:endParaRPr lang="en-US" sz="1000" dirty="0"/>
          </a:p>
        </p:txBody>
      </p:sp>
      <p:sp>
        <p:nvSpPr>
          <p:cNvPr id="54" name="Shape 52"/>
          <p:cNvSpPr/>
          <p:nvPr/>
        </p:nvSpPr>
        <p:spPr>
          <a:xfrm>
            <a:off x="8247888" y="987552"/>
            <a:ext cx="3794760" cy="3977640"/>
          </a:xfrm>
          <a:prstGeom prst="roundRect">
            <a:avLst>
              <a:gd name="adj" fmla="val 2410"/>
            </a:avLst>
          </a:prstGeom>
          <a:solidFill>
            <a:srgbClr val="FFFFFF"/>
          </a:solidFill>
          <a:ln w="9525">
            <a:solidFill>
              <a:srgbClr val="388E3C"/>
            </a:solidFill>
            <a:prstDash val="solid"/>
          </a:ln>
        </p:spPr>
      </p:sp>
      <p:sp>
        <p:nvSpPr>
          <p:cNvPr id="55" name="Shape 53"/>
          <p:cNvSpPr/>
          <p:nvPr/>
        </p:nvSpPr>
        <p:spPr>
          <a:xfrm>
            <a:off x="8247888" y="987552"/>
            <a:ext cx="3794760" cy="438912"/>
          </a:xfrm>
          <a:prstGeom prst="roundRect">
            <a:avLst>
              <a:gd name="adj" fmla="val 20833"/>
            </a:avLst>
          </a:prstGeom>
          <a:solidFill>
            <a:srgbClr val="388E3C"/>
          </a:solidFill>
          <a:ln w="12700">
            <a:solidFill>
              <a:srgbClr val="388E3C"/>
            </a:solidFill>
            <a:prstDash val="solid"/>
          </a:ln>
        </p:spPr>
      </p:sp>
      <p:sp>
        <p:nvSpPr>
          <p:cNvPr id="56" name="Shape 54"/>
          <p:cNvSpPr/>
          <p:nvPr/>
        </p:nvSpPr>
        <p:spPr>
          <a:xfrm>
            <a:off x="8247888" y="1335024"/>
            <a:ext cx="3794760" cy="91440"/>
          </a:xfrm>
          <a:prstGeom prst="rect">
            <a:avLst/>
          </a:prstGeom>
          <a:solidFill>
            <a:srgbClr val="388E3C"/>
          </a:solidFill>
          <a:ln w="12700">
            <a:solidFill>
              <a:srgbClr val="388E3C"/>
            </a:solidFill>
            <a:prstDash val="solid"/>
          </a:ln>
        </p:spPr>
      </p:sp>
      <p:sp>
        <p:nvSpPr>
          <p:cNvPr id="57" name="Text 55"/>
          <p:cNvSpPr/>
          <p:nvPr/>
        </p:nvSpPr>
        <p:spPr>
          <a:xfrm>
            <a:off x="8385048" y="1005840"/>
            <a:ext cx="34747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C.  Communication</a:t>
            </a:r>
            <a:endParaRPr lang="en-US" sz="1250" dirty="0"/>
          </a:p>
        </p:txBody>
      </p:sp>
      <p:sp>
        <p:nvSpPr>
          <p:cNvPr id="58" name="Shape 56"/>
          <p:cNvSpPr/>
          <p:nvPr/>
        </p:nvSpPr>
        <p:spPr>
          <a:xfrm>
            <a:off x="8385048" y="1426464"/>
            <a:ext cx="3474720" cy="237744"/>
          </a:xfrm>
          <a:prstGeom prst="roundRect">
            <a:avLst>
              <a:gd name="adj" fmla="val 15385"/>
            </a:avLst>
          </a:prstGeom>
          <a:solidFill>
            <a:srgbClr val="E8F4FD"/>
          </a:solidFill>
          <a:ln/>
        </p:spPr>
      </p:sp>
      <p:sp>
        <p:nvSpPr>
          <p:cNvPr id="59" name="Text 57"/>
          <p:cNvSpPr/>
          <p:nvPr/>
        </p:nvSpPr>
        <p:spPr>
          <a:xfrm>
            <a:off x="8385048" y="1435608"/>
            <a:ext cx="3474720" cy="219456"/>
          </a:xfrm>
          <a:prstGeom prst="rect">
            <a:avLst/>
          </a:prstGeom>
          <a:noFill/>
          <a:ln/>
        </p:spPr>
        <p:txBody>
          <a:bodyPr wrap="square" rtlCol="0" anchor="ctr"/>
          <a:lstStyle/>
          <a:p>
            <a:pPr algn="ctr" indent="0" marL="0">
              <a:buNone/>
            </a:pPr>
            <a:r>
              <a:rPr lang="en-US" sz="950" b="1" dirty="0">
                <a:solidFill>
                  <a:srgbClr val="388E3C"/>
                </a:solidFill>
                <a:latin typeface="Calibri" pitchFamily="34" charset="0"/>
                <a:ea typeface="Calibri" pitchFamily="34" charset="-122"/>
                <a:cs typeface="Calibri" pitchFamily="34" charset="-120"/>
              </a:rPr>
              <a:t>Why REST API?</a:t>
            </a:r>
            <a:endParaRPr lang="en-US" sz="950" dirty="0"/>
          </a:p>
        </p:txBody>
      </p:sp>
      <p:sp>
        <p:nvSpPr>
          <p:cNvPr id="60" name="Shape 58"/>
          <p:cNvSpPr/>
          <p:nvPr/>
        </p:nvSpPr>
        <p:spPr>
          <a:xfrm>
            <a:off x="8430768" y="1847088"/>
            <a:ext cx="91440" cy="91440"/>
          </a:xfrm>
          <a:prstGeom prst="ellipse">
            <a:avLst/>
          </a:prstGeom>
          <a:solidFill>
            <a:srgbClr val="388E3C"/>
          </a:solidFill>
          <a:ln/>
        </p:spPr>
      </p:sp>
      <p:sp>
        <p:nvSpPr>
          <p:cNvPr id="61" name="Text 59"/>
          <p:cNvSpPr/>
          <p:nvPr/>
        </p:nvSpPr>
        <p:spPr>
          <a:xfrm>
            <a:off x="8613648" y="175564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Simple HTTP request/response</a:t>
            </a:r>
            <a:endParaRPr lang="en-US" sz="1000" dirty="0"/>
          </a:p>
        </p:txBody>
      </p:sp>
      <p:sp>
        <p:nvSpPr>
          <p:cNvPr id="62" name="Shape 60"/>
          <p:cNvSpPr/>
          <p:nvPr/>
        </p:nvSpPr>
        <p:spPr>
          <a:xfrm>
            <a:off x="8430768" y="2203704"/>
            <a:ext cx="91440" cy="91440"/>
          </a:xfrm>
          <a:prstGeom prst="ellipse">
            <a:avLst/>
          </a:prstGeom>
          <a:solidFill>
            <a:srgbClr val="388E3C"/>
          </a:solidFill>
          <a:ln/>
        </p:spPr>
      </p:sp>
      <p:sp>
        <p:nvSpPr>
          <p:cNvPr id="63" name="Text 61"/>
          <p:cNvSpPr/>
          <p:nvPr/>
        </p:nvSpPr>
        <p:spPr>
          <a:xfrm>
            <a:off x="8613648" y="211226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No broker required (vs MQTT)</a:t>
            </a:r>
            <a:endParaRPr lang="en-US" sz="1000" dirty="0"/>
          </a:p>
        </p:txBody>
      </p:sp>
      <p:sp>
        <p:nvSpPr>
          <p:cNvPr id="64" name="Shape 62"/>
          <p:cNvSpPr/>
          <p:nvPr/>
        </p:nvSpPr>
        <p:spPr>
          <a:xfrm>
            <a:off x="8430768" y="2560320"/>
            <a:ext cx="91440" cy="91440"/>
          </a:xfrm>
          <a:prstGeom prst="ellipse">
            <a:avLst/>
          </a:prstGeom>
          <a:solidFill>
            <a:srgbClr val="388E3C"/>
          </a:solidFill>
          <a:ln/>
        </p:spPr>
      </p:sp>
      <p:sp>
        <p:nvSpPr>
          <p:cNvPr id="65" name="Text 63"/>
          <p:cNvSpPr/>
          <p:nvPr/>
        </p:nvSpPr>
        <p:spPr>
          <a:xfrm>
            <a:off x="8613648" y="246888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Natively compatible with Next.js</a:t>
            </a:r>
            <a:endParaRPr lang="en-US" sz="1000" dirty="0"/>
          </a:p>
        </p:txBody>
      </p:sp>
      <p:sp>
        <p:nvSpPr>
          <p:cNvPr id="66" name="Shape 64"/>
          <p:cNvSpPr/>
          <p:nvPr/>
        </p:nvSpPr>
        <p:spPr>
          <a:xfrm>
            <a:off x="8430768" y="2916936"/>
            <a:ext cx="91440" cy="91440"/>
          </a:xfrm>
          <a:prstGeom prst="ellipse">
            <a:avLst/>
          </a:prstGeom>
          <a:solidFill>
            <a:srgbClr val="388E3C"/>
          </a:solidFill>
          <a:ln/>
        </p:spPr>
      </p:sp>
      <p:sp>
        <p:nvSpPr>
          <p:cNvPr id="67" name="Text 65"/>
          <p:cNvSpPr/>
          <p:nvPr/>
        </p:nvSpPr>
        <p:spPr>
          <a:xfrm>
            <a:off x="8613648" y="2825496"/>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Easy to debug with standard tools</a:t>
            </a:r>
            <a:endParaRPr lang="en-US" sz="1000" dirty="0"/>
          </a:p>
        </p:txBody>
      </p:sp>
      <p:sp>
        <p:nvSpPr>
          <p:cNvPr id="68" name="Shape 66"/>
          <p:cNvSpPr/>
          <p:nvPr/>
        </p:nvSpPr>
        <p:spPr>
          <a:xfrm>
            <a:off x="8430768" y="3273552"/>
            <a:ext cx="91440" cy="91440"/>
          </a:xfrm>
          <a:prstGeom prst="ellipse">
            <a:avLst/>
          </a:prstGeom>
          <a:solidFill>
            <a:srgbClr val="388E3C"/>
          </a:solidFill>
          <a:ln/>
        </p:spPr>
      </p:sp>
      <p:sp>
        <p:nvSpPr>
          <p:cNvPr id="69" name="Text 67"/>
          <p:cNvSpPr/>
          <p:nvPr/>
        </p:nvSpPr>
        <p:spPr>
          <a:xfrm>
            <a:off x="8613648" y="3182112"/>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JSON payload format</a:t>
            </a:r>
            <a:endParaRPr lang="en-US" sz="1000" dirty="0"/>
          </a:p>
        </p:txBody>
      </p:sp>
      <p:sp>
        <p:nvSpPr>
          <p:cNvPr id="70" name="Shape 68"/>
          <p:cNvSpPr/>
          <p:nvPr/>
        </p:nvSpPr>
        <p:spPr>
          <a:xfrm>
            <a:off x="8430768" y="3630168"/>
            <a:ext cx="91440" cy="91440"/>
          </a:xfrm>
          <a:prstGeom prst="ellipse">
            <a:avLst/>
          </a:prstGeom>
          <a:solidFill>
            <a:srgbClr val="388E3C"/>
          </a:solidFill>
          <a:ln/>
        </p:spPr>
      </p:sp>
      <p:sp>
        <p:nvSpPr>
          <p:cNvPr id="71" name="Text 69"/>
          <p:cNvSpPr/>
          <p:nvPr/>
        </p:nvSpPr>
        <p:spPr>
          <a:xfrm>
            <a:off x="8613648" y="3538728"/>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HTTPS over Wi-Fi</a:t>
            </a:r>
            <a:endParaRPr lang="en-US" sz="1000" dirty="0"/>
          </a:p>
        </p:txBody>
      </p:sp>
      <p:sp>
        <p:nvSpPr>
          <p:cNvPr id="72" name="Shape 70"/>
          <p:cNvSpPr/>
          <p:nvPr/>
        </p:nvSpPr>
        <p:spPr>
          <a:xfrm>
            <a:off x="8430768" y="3986784"/>
            <a:ext cx="91440" cy="91440"/>
          </a:xfrm>
          <a:prstGeom prst="ellipse">
            <a:avLst/>
          </a:prstGeom>
          <a:solidFill>
            <a:srgbClr val="388E3C"/>
          </a:solidFill>
          <a:ln/>
        </p:spPr>
      </p:sp>
      <p:sp>
        <p:nvSpPr>
          <p:cNvPr id="73" name="Text 71"/>
          <p:cNvSpPr/>
          <p:nvPr/>
        </p:nvSpPr>
        <p:spPr>
          <a:xfrm>
            <a:off x="8613648" y="3895344"/>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Stateless, scalable</a:t>
            </a:r>
            <a:endParaRPr lang="en-US" sz="1000" dirty="0"/>
          </a:p>
        </p:txBody>
      </p:sp>
      <p:sp>
        <p:nvSpPr>
          <p:cNvPr id="74" name="Shape 72"/>
          <p:cNvSpPr/>
          <p:nvPr/>
        </p:nvSpPr>
        <p:spPr>
          <a:xfrm>
            <a:off x="8430768" y="4343400"/>
            <a:ext cx="91440" cy="91440"/>
          </a:xfrm>
          <a:prstGeom prst="ellipse">
            <a:avLst/>
          </a:prstGeom>
          <a:solidFill>
            <a:srgbClr val="388E3C"/>
          </a:solidFill>
          <a:ln/>
        </p:spPr>
      </p:sp>
      <p:sp>
        <p:nvSpPr>
          <p:cNvPr id="75" name="Text 73"/>
          <p:cNvSpPr/>
          <p:nvPr/>
        </p:nvSpPr>
        <p:spPr>
          <a:xfrm>
            <a:off x="8613648" y="4251960"/>
            <a:ext cx="3291840" cy="329184"/>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Works behind firewalls</a:t>
            </a:r>
            <a:endParaRPr lang="en-US" sz="1000" dirty="0"/>
          </a:p>
        </p:txBody>
      </p:sp>
      <p:sp>
        <p:nvSpPr>
          <p:cNvPr id="76" name="Text 74"/>
          <p:cNvSpPr/>
          <p:nvPr/>
        </p:nvSpPr>
        <p:spPr>
          <a:xfrm>
            <a:off x="274320" y="5102352"/>
            <a:ext cx="11640312" cy="292608"/>
          </a:xfrm>
          <a:prstGeom prst="rect">
            <a:avLst/>
          </a:prstGeom>
          <a:noFill/>
          <a:ln/>
        </p:spPr>
        <p:txBody>
          <a:bodyPr wrap="square" rtlCol="0" anchor="ctr"/>
          <a:lstStyle/>
          <a:p>
            <a:pPr algn="ctr" indent="0" marL="0">
              <a:buNone/>
            </a:pPr>
            <a:r>
              <a:rPr lang="en-US" sz="1200" b="1" dirty="0">
                <a:solidFill>
                  <a:srgbClr val="0D2B5E"/>
                </a:solidFill>
                <a:latin typeface="Calibri" pitchFamily="34" charset="0"/>
                <a:ea typeface="Calibri" pitchFamily="34" charset="-122"/>
                <a:cs typeface="Calibri" pitchFamily="34" charset="-120"/>
              </a:rPr>
              <a:t>System Architecture Flow</a:t>
            </a:r>
            <a:endParaRPr lang="en-US" sz="1200" dirty="0"/>
          </a:p>
        </p:txBody>
      </p:sp>
      <p:sp>
        <p:nvSpPr>
          <p:cNvPr id="77" name="Shape 75"/>
          <p:cNvSpPr/>
          <p:nvPr/>
        </p:nvSpPr>
        <p:spPr>
          <a:xfrm>
            <a:off x="274320" y="5394960"/>
            <a:ext cx="11640312" cy="16459"/>
          </a:xfrm>
          <a:prstGeom prst="rect">
            <a:avLst/>
          </a:prstGeom>
          <a:solidFill>
            <a:srgbClr val="BBDEFB"/>
          </a:solidFill>
          <a:ln/>
        </p:spPr>
      </p:sp>
      <p:sp>
        <p:nvSpPr>
          <p:cNvPr id="78" name="Shape 76"/>
          <p:cNvSpPr/>
          <p:nvPr/>
        </p:nvSpPr>
        <p:spPr>
          <a:xfrm>
            <a:off x="347472" y="5486400"/>
            <a:ext cx="1737360" cy="1024128"/>
          </a:xfrm>
          <a:prstGeom prst="roundRect">
            <a:avLst>
              <a:gd name="adj" fmla="val 8929"/>
            </a:avLst>
          </a:prstGeom>
          <a:solidFill>
            <a:srgbClr val="E8F4FD"/>
          </a:solidFill>
          <a:ln w="9525">
            <a:solidFill>
              <a:srgbClr val="F57F17"/>
            </a:solidFill>
            <a:prstDash val="solid"/>
          </a:ln>
        </p:spPr>
      </p:sp>
      <p:sp>
        <p:nvSpPr>
          <p:cNvPr id="79" name="Text 77"/>
          <p:cNvSpPr/>
          <p:nvPr/>
        </p:nvSpPr>
        <p:spPr>
          <a:xfrm>
            <a:off x="34747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80" name="Text 78"/>
          <p:cNvSpPr/>
          <p:nvPr/>
        </p:nvSpPr>
        <p:spPr>
          <a:xfrm>
            <a:off x="393192" y="5907024"/>
            <a:ext cx="1645920" cy="237744"/>
          </a:xfrm>
          <a:prstGeom prst="rect">
            <a:avLst/>
          </a:prstGeom>
          <a:noFill/>
          <a:ln/>
        </p:spPr>
        <p:txBody>
          <a:bodyPr wrap="square" rtlCol="0" anchor="ctr"/>
          <a:lstStyle/>
          <a:p>
            <a:pPr algn="ctr" indent="0" marL="0">
              <a:buNone/>
            </a:pPr>
            <a:r>
              <a:rPr lang="en-US" sz="950" b="1" dirty="0">
                <a:solidFill>
                  <a:srgbClr val="F57F17"/>
                </a:solidFill>
                <a:latin typeface="Calibri" pitchFamily="34" charset="0"/>
                <a:ea typeface="Calibri" pitchFamily="34" charset="-122"/>
                <a:cs typeface="Calibri" pitchFamily="34" charset="-120"/>
              </a:rPr>
              <a:t>LDR Sensor</a:t>
            </a:r>
            <a:endParaRPr lang="en-US" sz="950" dirty="0"/>
          </a:p>
        </p:txBody>
      </p:sp>
      <p:sp>
        <p:nvSpPr>
          <p:cNvPr id="81" name="Text 79"/>
          <p:cNvSpPr/>
          <p:nvPr/>
        </p:nvSpPr>
        <p:spPr>
          <a:xfrm>
            <a:off x="39319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Analog voltage</a:t>
            </a:r>
            <a:endParaRPr lang="en-US" sz="850" dirty="0"/>
          </a:p>
        </p:txBody>
      </p:sp>
      <p:sp>
        <p:nvSpPr>
          <p:cNvPr id="82" name="Shape 80"/>
          <p:cNvSpPr/>
          <p:nvPr/>
        </p:nvSpPr>
        <p:spPr>
          <a:xfrm>
            <a:off x="2084832" y="5916168"/>
            <a:ext cx="219456" cy="164592"/>
          </a:xfrm>
          <a:prstGeom prst="rightArrow">
            <a:avLst/>
          </a:prstGeom>
          <a:solidFill>
            <a:srgbClr val="42A5F5"/>
          </a:solidFill>
          <a:ln w="12700">
            <a:solidFill>
              <a:srgbClr val="42A5F5"/>
            </a:solidFill>
            <a:prstDash val="solid"/>
          </a:ln>
        </p:spPr>
      </p:sp>
      <p:sp>
        <p:nvSpPr>
          <p:cNvPr id="83" name="Shape 81"/>
          <p:cNvSpPr/>
          <p:nvPr/>
        </p:nvSpPr>
        <p:spPr>
          <a:xfrm>
            <a:off x="2313432" y="5486400"/>
            <a:ext cx="1737360" cy="1024128"/>
          </a:xfrm>
          <a:prstGeom prst="roundRect">
            <a:avLst>
              <a:gd name="adj" fmla="val 8929"/>
            </a:avLst>
          </a:prstGeom>
          <a:solidFill>
            <a:srgbClr val="E8F4FD"/>
          </a:solidFill>
          <a:ln w="9525">
            <a:solidFill>
              <a:srgbClr val="D84315"/>
            </a:solidFill>
            <a:prstDash val="solid"/>
          </a:ln>
        </p:spPr>
      </p:sp>
      <p:sp>
        <p:nvSpPr>
          <p:cNvPr id="84" name="Text 82"/>
          <p:cNvSpPr/>
          <p:nvPr/>
        </p:nvSpPr>
        <p:spPr>
          <a:xfrm>
            <a:off x="231343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85" name="Text 83"/>
          <p:cNvSpPr/>
          <p:nvPr/>
        </p:nvSpPr>
        <p:spPr>
          <a:xfrm>
            <a:off x="2359152" y="5907024"/>
            <a:ext cx="1645920" cy="237744"/>
          </a:xfrm>
          <a:prstGeom prst="rect">
            <a:avLst/>
          </a:prstGeom>
          <a:noFill/>
          <a:ln/>
        </p:spPr>
        <p:txBody>
          <a:bodyPr wrap="square" rtlCol="0" anchor="ctr"/>
          <a:lstStyle/>
          <a:p>
            <a:pPr algn="ctr" indent="0" marL="0">
              <a:buNone/>
            </a:pPr>
            <a:r>
              <a:rPr lang="en-US" sz="950" b="1" dirty="0">
                <a:solidFill>
                  <a:srgbClr val="D84315"/>
                </a:solidFill>
                <a:latin typeface="Calibri" pitchFamily="34" charset="0"/>
                <a:ea typeface="Calibri" pitchFamily="34" charset="-122"/>
                <a:cs typeface="Calibri" pitchFamily="34" charset="-120"/>
              </a:rPr>
              <a:t>ESP32</a:t>
            </a:r>
            <a:endParaRPr lang="en-US" sz="950" dirty="0"/>
          </a:p>
        </p:txBody>
      </p:sp>
      <p:sp>
        <p:nvSpPr>
          <p:cNvPr id="86" name="Text 84"/>
          <p:cNvSpPr/>
          <p:nvPr/>
        </p:nvSpPr>
        <p:spPr>
          <a:xfrm>
            <a:off x="235915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ADC + firmware</a:t>
            </a:r>
            <a:endParaRPr lang="en-US" sz="850" dirty="0"/>
          </a:p>
        </p:txBody>
      </p:sp>
      <p:sp>
        <p:nvSpPr>
          <p:cNvPr id="87" name="Shape 85"/>
          <p:cNvSpPr/>
          <p:nvPr/>
        </p:nvSpPr>
        <p:spPr>
          <a:xfrm>
            <a:off x="4050792" y="5916168"/>
            <a:ext cx="219456" cy="164592"/>
          </a:xfrm>
          <a:prstGeom prst="rightArrow">
            <a:avLst/>
          </a:prstGeom>
          <a:solidFill>
            <a:srgbClr val="42A5F5"/>
          </a:solidFill>
          <a:ln w="12700">
            <a:solidFill>
              <a:srgbClr val="42A5F5"/>
            </a:solidFill>
            <a:prstDash val="solid"/>
          </a:ln>
        </p:spPr>
      </p:sp>
      <p:sp>
        <p:nvSpPr>
          <p:cNvPr id="88" name="Shape 86"/>
          <p:cNvSpPr/>
          <p:nvPr/>
        </p:nvSpPr>
        <p:spPr>
          <a:xfrm>
            <a:off x="4279392" y="5486400"/>
            <a:ext cx="1737360" cy="1024128"/>
          </a:xfrm>
          <a:prstGeom prst="roundRect">
            <a:avLst>
              <a:gd name="adj" fmla="val 8929"/>
            </a:avLst>
          </a:prstGeom>
          <a:solidFill>
            <a:srgbClr val="E8F4FD"/>
          </a:solidFill>
          <a:ln w="9525">
            <a:solidFill>
              <a:srgbClr val="1565C0"/>
            </a:solidFill>
            <a:prstDash val="solid"/>
          </a:ln>
        </p:spPr>
      </p:sp>
      <p:sp>
        <p:nvSpPr>
          <p:cNvPr id="89" name="Text 87"/>
          <p:cNvSpPr/>
          <p:nvPr/>
        </p:nvSpPr>
        <p:spPr>
          <a:xfrm>
            <a:off x="427939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0" name="Text 88"/>
          <p:cNvSpPr/>
          <p:nvPr/>
        </p:nvSpPr>
        <p:spPr>
          <a:xfrm>
            <a:off x="4325112" y="5907024"/>
            <a:ext cx="1645920" cy="237744"/>
          </a:xfrm>
          <a:prstGeom prst="rect">
            <a:avLst/>
          </a:prstGeom>
          <a:noFill/>
          <a:ln/>
        </p:spPr>
        <p:txBody>
          <a:bodyPr wrap="square" rtlCol="0" anchor="ctr"/>
          <a:lstStyle/>
          <a:p>
            <a:pPr algn="ctr" indent="0" marL="0">
              <a:buNone/>
            </a:pPr>
            <a:r>
              <a:rPr lang="en-US" sz="950" b="1" dirty="0">
                <a:solidFill>
                  <a:srgbClr val="1565C0"/>
                </a:solidFill>
                <a:latin typeface="Calibri" pitchFamily="34" charset="0"/>
                <a:ea typeface="Calibri" pitchFamily="34" charset="-122"/>
                <a:cs typeface="Calibri" pitchFamily="34" charset="-120"/>
              </a:rPr>
              <a:t>REST API</a:t>
            </a:r>
            <a:endParaRPr lang="en-US" sz="950" dirty="0"/>
          </a:p>
        </p:txBody>
      </p:sp>
      <p:sp>
        <p:nvSpPr>
          <p:cNvPr id="91" name="Text 89"/>
          <p:cNvSpPr/>
          <p:nvPr/>
        </p:nvSpPr>
        <p:spPr>
          <a:xfrm>
            <a:off x="432511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POST /api/light</a:t>
            </a:r>
            <a:endParaRPr lang="en-US" sz="850" dirty="0"/>
          </a:p>
        </p:txBody>
      </p:sp>
      <p:sp>
        <p:nvSpPr>
          <p:cNvPr id="92" name="Shape 90"/>
          <p:cNvSpPr/>
          <p:nvPr/>
        </p:nvSpPr>
        <p:spPr>
          <a:xfrm>
            <a:off x="6016752" y="5916168"/>
            <a:ext cx="219456" cy="164592"/>
          </a:xfrm>
          <a:prstGeom prst="rightArrow">
            <a:avLst/>
          </a:prstGeom>
          <a:solidFill>
            <a:srgbClr val="42A5F5"/>
          </a:solidFill>
          <a:ln w="12700">
            <a:solidFill>
              <a:srgbClr val="42A5F5"/>
            </a:solidFill>
            <a:prstDash val="solid"/>
          </a:ln>
        </p:spPr>
      </p:sp>
      <p:sp>
        <p:nvSpPr>
          <p:cNvPr id="93" name="Shape 91"/>
          <p:cNvSpPr/>
          <p:nvPr/>
        </p:nvSpPr>
        <p:spPr>
          <a:xfrm>
            <a:off x="6245352" y="5486400"/>
            <a:ext cx="1737360" cy="1024128"/>
          </a:xfrm>
          <a:prstGeom prst="roundRect">
            <a:avLst>
              <a:gd name="adj" fmla="val 8929"/>
            </a:avLst>
          </a:prstGeom>
          <a:solidFill>
            <a:srgbClr val="E8F4FD"/>
          </a:solidFill>
          <a:ln w="9525">
            <a:solidFill>
              <a:srgbClr val="388E3C"/>
            </a:solidFill>
            <a:prstDash val="solid"/>
          </a:ln>
        </p:spPr>
      </p:sp>
      <p:sp>
        <p:nvSpPr>
          <p:cNvPr id="94" name="Text 92"/>
          <p:cNvSpPr/>
          <p:nvPr/>
        </p:nvSpPr>
        <p:spPr>
          <a:xfrm>
            <a:off x="624535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5" name="Text 93"/>
          <p:cNvSpPr/>
          <p:nvPr/>
        </p:nvSpPr>
        <p:spPr>
          <a:xfrm>
            <a:off x="6291072" y="5907024"/>
            <a:ext cx="1645920" cy="237744"/>
          </a:xfrm>
          <a:prstGeom prst="rect">
            <a:avLst/>
          </a:prstGeom>
          <a:noFill/>
          <a:ln/>
        </p:spPr>
        <p:txBody>
          <a:bodyPr wrap="square" rtlCol="0" anchor="ctr"/>
          <a:lstStyle/>
          <a:p>
            <a:pPr algn="ctr" indent="0" marL="0">
              <a:buNone/>
            </a:pPr>
            <a:r>
              <a:rPr lang="en-US" sz="950" b="1" dirty="0">
                <a:solidFill>
                  <a:srgbClr val="388E3C"/>
                </a:solidFill>
                <a:latin typeface="Calibri" pitchFamily="34" charset="0"/>
                <a:ea typeface="Calibri" pitchFamily="34" charset="-122"/>
                <a:cs typeface="Calibri" pitchFamily="34" charset="-120"/>
              </a:rPr>
              <a:t>MongoDB</a:t>
            </a:r>
            <a:endParaRPr lang="en-US" sz="950" dirty="0"/>
          </a:p>
        </p:txBody>
      </p:sp>
      <p:sp>
        <p:nvSpPr>
          <p:cNvPr id="96" name="Text 94"/>
          <p:cNvSpPr/>
          <p:nvPr/>
        </p:nvSpPr>
        <p:spPr>
          <a:xfrm>
            <a:off x="629107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lightState / data</a:t>
            </a:r>
            <a:endParaRPr lang="en-US" sz="850" dirty="0"/>
          </a:p>
        </p:txBody>
      </p:sp>
      <p:sp>
        <p:nvSpPr>
          <p:cNvPr id="97" name="Shape 95"/>
          <p:cNvSpPr/>
          <p:nvPr/>
        </p:nvSpPr>
        <p:spPr>
          <a:xfrm>
            <a:off x="7982712" y="5916168"/>
            <a:ext cx="219456" cy="164592"/>
          </a:xfrm>
          <a:prstGeom prst="rightArrow">
            <a:avLst/>
          </a:prstGeom>
          <a:solidFill>
            <a:srgbClr val="42A5F5"/>
          </a:solidFill>
          <a:ln w="12700">
            <a:solidFill>
              <a:srgbClr val="42A5F5"/>
            </a:solidFill>
            <a:prstDash val="solid"/>
          </a:ln>
        </p:spPr>
      </p:sp>
      <p:sp>
        <p:nvSpPr>
          <p:cNvPr id="98" name="Shape 96"/>
          <p:cNvSpPr/>
          <p:nvPr/>
        </p:nvSpPr>
        <p:spPr>
          <a:xfrm>
            <a:off x="8211312" y="5486400"/>
            <a:ext cx="1737360" cy="1024128"/>
          </a:xfrm>
          <a:prstGeom prst="roundRect">
            <a:avLst>
              <a:gd name="adj" fmla="val 8929"/>
            </a:avLst>
          </a:prstGeom>
          <a:solidFill>
            <a:srgbClr val="E8F4FD"/>
          </a:solidFill>
          <a:ln w="9525">
            <a:solidFill>
              <a:srgbClr val="0D2B5E"/>
            </a:solidFill>
            <a:prstDash val="solid"/>
          </a:ln>
        </p:spPr>
      </p:sp>
      <p:sp>
        <p:nvSpPr>
          <p:cNvPr id="99" name="Text 97"/>
          <p:cNvSpPr/>
          <p:nvPr/>
        </p:nvSpPr>
        <p:spPr>
          <a:xfrm>
            <a:off x="821131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0" name="Text 98"/>
          <p:cNvSpPr/>
          <p:nvPr/>
        </p:nvSpPr>
        <p:spPr>
          <a:xfrm>
            <a:off x="8257032" y="5907024"/>
            <a:ext cx="1645920" cy="237744"/>
          </a:xfrm>
          <a:prstGeom prst="rect">
            <a:avLst/>
          </a:prstGeom>
          <a:noFill/>
          <a:ln/>
        </p:spPr>
        <p:txBody>
          <a:bodyPr wrap="square" rtlCol="0" anchor="ctr"/>
          <a:lstStyle/>
          <a:p>
            <a:pPr algn="ctr" indent="0" marL="0">
              <a:buNone/>
            </a:pPr>
            <a:r>
              <a:rPr lang="en-US" sz="950" b="1" dirty="0">
                <a:solidFill>
                  <a:srgbClr val="0D2B5E"/>
                </a:solidFill>
                <a:latin typeface="Calibri" pitchFamily="34" charset="0"/>
                <a:ea typeface="Calibri" pitchFamily="34" charset="-122"/>
                <a:cs typeface="Calibri" pitchFamily="34" charset="-120"/>
              </a:rPr>
              <a:t>Web Dashboard</a:t>
            </a:r>
            <a:endParaRPr lang="en-US" sz="950" dirty="0"/>
          </a:p>
        </p:txBody>
      </p:sp>
      <p:sp>
        <p:nvSpPr>
          <p:cNvPr id="101" name="Text 99"/>
          <p:cNvSpPr/>
          <p:nvPr/>
        </p:nvSpPr>
        <p:spPr>
          <a:xfrm>
            <a:off x="825703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Next.js + React</a:t>
            </a:r>
            <a:endParaRPr lang="en-US" sz="850" dirty="0"/>
          </a:p>
        </p:txBody>
      </p:sp>
      <p:sp>
        <p:nvSpPr>
          <p:cNvPr id="102" name="Shape 100"/>
          <p:cNvSpPr/>
          <p:nvPr/>
        </p:nvSpPr>
        <p:spPr>
          <a:xfrm>
            <a:off x="9948672" y="5916168"/>
            <a:ext cx="219456" cy="164592"/>
          </a:xfrm>
          <a:prstGeom prst="rightArrow">
            <a:avLst/>
          </a:prstGeom>
          <a:solidFill>
            <a:srgbClr val="42A5F5"/>
          </a:solidFill>
          <a:ln w="12700">
            <a:solidFill>
              <a:srgbClr val="42A5F5"/>
            </a:solidFill>
            <a:prstDash val="solid"/>
          </a:ln>
        </p:spPr>
      </p:sp>
      <p:sp>
        <p:nvSpPr>
          <p:cNvPr id="103" name="Shape 101"/>
          <p:cNvSpPr/>
          <p:nvPr/>
        </p:nvSpPr>
        <p:spPr>
          <a:xfrm>
            <a:off x="10177272" y="5486400"/>
            <a:ext cx="1737360" cy="1024128"/>
          </a:xfrm>
          <a:prstGeom prst="roundRect">
            <a:avLst>
              <a:gd name="adj" fmla="val 8929"/>
            </a:avLst>
          </a:prstGeom>
          <a:solidFill>
            <a:srgbClr val="E8F4FD"/>
          </a:solidFill>
          <a:ln w="9525">
            <a:solidFill>
              <a:srgbClr val="1976D2"/>
            </a:solidFill>
            <a:prstDash val="solid"/>
          </a:ln>
        </p:spPr>
      </p:sp>
      <p:sp>
        <p:nvSpPr>
          <p:cNvPr id="104" name="Text 102"/>
          <p:cNvSpPr/>
          <p:nvPr/>
        </p:nvSpPr>
        <p:spPr>
          <a:xfrm>
            <a:off x="10177272" y="5504688"/>
            <a:ext cx="1737360" cy="38404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5" name="Text 103"/>
          <p:cNvSpPr/>
          <p:nvPr/>
        </p:nvSpPr>
        <p:spPr>
          <a:xfrm>
            <a:off x="10222992" y="5907024"/>
            <a:ext cx="1645920" cy="237744"/>
          </a:xfrm>
          <a:prstGeom prst="rect">
            <a:avLst/>
          </a:prstGeom>
          <a:noFill/>
          <a:ln/>
        </p:spPr>
        <p:txBody>
          <a:bodyPr wrap="square" rtlCol="0" anchor="ctr"/>
          <a:lstStyle/>
          <a:p>
            <a:pPr algn="ctr" indent="0" marL="0">
              <a:buNone/>
            </a:pPr>
            <a:r>
              <a:rPr lang="en-US" sz="950" b="1" dirty="0">
                <a:solidFill>
                  <a:srgbClr val="1976D2"/>
                </a:solidFill>
                <a:latin typeface="Calibri" pitchFamily="34" charset="0"/>
                <a:ea typeface="Calibri" pitchFamily="34" charset="-122"/>
                <a:cs typeface="Calibri" pitchFamily="34" charset="-120"/>
              </a:rPr>
              <a:t>User Browser</a:t>
            </a:r>
            <a:endParaRPr lang="en-US" sz="950" dirty="0"/>
          </a:p>
        </p:txBody>
      </p:sp>
      <p:sp>
        <p:nvSpPr>
          <p:cNvPr id="106" name="Text 104"/>
          <p:cNvSpPr/>
          <p:nvPr/>
        </p:nvSpPr>
        <p:spPr>
          <a:xfrm>
            <a:off x="10222992" y="6144768"/>
            <a:ext cx="1645920" cy="201168"/>
          </a:xfrm>
          <a:prstGeom prst="rect">
            <a:avLst/>
          </a:prstGeom>
          <a:noFill/>
          <a:ln/>
        </p:spPr>
        <p:txBody>
          <a:bodyPr wrap="square" rtlCol="0" anchor="ctr"/>
          <a:lstStyle/>
          <a:p>
            <a:pPr algn="ctr" indent="0" marL="0">
              <a:buNone/>
            </a:pPr>
            <a:r>
              <a:rPr lang="en-US" sz="850" dirty="0">
                <a:solidFill>
                  <a:srgbClr val="78909C"/>
                </a:solidFill>
                <a:latin typeface="Calibri" pitchFamily="34" charset="0"/>
                <a:ea typeface="Calibri" pitchFamily="34" charset="-122"/>
                <a:cs typeface="Calibri" pitchFamily="34" charset="-120"/>
              </a:rPr>
              <a:t>Real-time control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6</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Working Principle</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6 of 10</a:t>
            </a:r>
            <a:endParaRPr lang="en-US" sz="750" dirty="0"/>
          </a:p>
        </p:txBody>
      </p:sp>
      <p:sp>
        <p:nvSpPr>
          <p:cNvPr id="10" name="Shape 8"/>
          <p:cNvSpPr/>
          <p:nvPr/>
        </p:nvSpPr>
        <p:spPr>
          <a:xfrm>
            <a:off x="274320" y="1097280"/>
            <a:ext cx="1828800" cy="2377440"/>
          </a:xfrm>
          <a:prstGeom prst="roundRect">
            <a:avLst>
              <a:gd name="adj" fmla="val 5000"/>
            </a:avLst>
          </a:prstGeom>
          <a:solidFill>
            <a:srgbClr val="E8F4FD"/>
          </a:solidFill>
          <a:ln w="12700">
            <a:solidFill>
              <a:srgbClr val="F57F17"/>
            </a:solidFill>
            <a:prstDash val="solid"/>
          </a:ln>
        </p:spPr>
      </p:sp>
      <p:sp>
        <p:nvSpPr>
          <p:cNvPr id="11" name="Shape 9"/>
          <p:cNvSpPr/>
          <p:nvPr/>
        </p:nvSpPr>
        <p:spPr>
          <a:xfrm>
            <a:off x="274320" y="1097280"/>
            <a:ext cx="1828800" cy="384048"/>
          </a:xfrm>
          <a:prstGeom prst="rect">
            <a:avLst/>
          </a:prstGeom>
          <a:solidFill>
            <a:srgbClr val="F57F17"/>
          </a:solidFill>
          <a:ln w="12700">
            <a:solidFill>
              <a:srgbClr val="F57F17"/>
            </a:solidFill>
            <a:prstDash val="solid"/>
          </a:ln>
        </p:spPr>
      </p:sp>
      <p:sp>
        <p:nvSpPr>
          <p:cNvPr id="12" name="Shape 10"/>
          <p:cNvSpPr/>
          <p:nvPr/>
        </p:nvSpPr>
        <p:spPr>
          <a:xfrm>
            <a:off x="274320" y="1097280"/>
            <a:ext cx="1828800" cy="384048"/>
          </a:xfrm>
          <a:prstGeom prst="roundRect">
            <a:avLst>
              <a:gd name="adj" fmla="val 23810"/>
            </a:avLst>
          </a:prstGeom>
          <a:solidFill>
            <a:srgbClr val="F57F17"/>
          </a:solidFill>
          <a:ln w="12700">
            <a:solidFill>
              <a:srgbClr val="F57F17"/>
            </a:solidFill>
            <a:prstDash val="solid"/>
          </a:ln>
        </p:spPr>
      </p:sp>
      <p:sp>
        <p:nvSpPr>
          <p:cNvPr id="13" name="Shape 11"/>
          <p:cNvSpPr/>
          <p:nvPr/>
        </p:nvSpPr>
        <p:spPr>
          <a:xfrm>
            <a:off x="274320" y="1280160"/>
            <a:ext cx="1828800" cy="201168"/>
          </a:xfrm>
          <a:prstGeom prst="rect">
            <a:avLst/>
          </a:prstGeom>
          <a:solidFill>
            <a:srgbClr val="F57F17"/>
          </a:solidFill>
          <a:ln w="12700">
            <a:solidFill>
              <a:srgbClr val="F57F17"/>
            </a:solidFill>
            <a:prstDash val="solid"/>
          </a:ln>
        </p:spPr>
      </p:sp>
      <p:sp>
        <p:nvSpPr>
          <p:cNvPr id="14" name="Text 12"/>
          <p:cNvSpPr/>
          <p:nvPr/>
        </p:nvSpPr>
        <p:spPr>
          <a:xfrm>
            <a:off x="274320"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15" name="Text 13"/>
          <p:cNvSpPr/>
          <p:nvPr/>
        </p:nvSpPr>
        <p:spPr>
          <a:xfrm>
            <a:off x="274320"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365760" y="2039112"/>
            <a:ext cx="1645920" cy="411480"/>
          </a:xfrm>
          <a:prstGeom prst="rect">
            <a:avLst/>
          </a:prstGeom>
          <a:noFill/>
          <a:ln/>
        </p:spPr>
        <p:txBody>
          <a:bodyPr wrap="square" rtlCol="0" anchor="ctr"/>
          <a:lstStyle/>
          <a:p>
            <a:pPr algn="ctr" indent="0" marL="0">
              <a:buNone/>
            </a:pPr>
            <a:r>
              <a:rPr lang="en-US" sz="1050" b="1" dirty="0">
                <a:solidFill>
                  <a:srgbClr val="F57F17"/>
                </a:solidFill>
                <a:latin typeface="Calibri" pitchFamily="34" charset="0"/>
                <a:ea typeface="Calibri" pitchFamily="34" charset="-122"/>
                <a:cs typeface="Calibri" pitchFamily="34" charset="-120"/>
              </a:rPr>
              <a:t>LDR Senses Light</a:t>
            </a:r>
            <a:endParaRPr lang="en-US" sz="1050" dirty="0"/>
          </a:p>
        </p:txBody>
      </p:sp>
      <p:sp>
        <p:nvSpPr>
          <p:cNvPr id="17" name="Text 15"/>
          <p:cNvSpPr/>
          <p:nvPr/>
        </p:nvSpPr>
        <p:spPr>
          <a:xfrm>
            <a:off x="365760"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Photoresistor voltage changes with ambient illumination</a:t>
            </a:r>
            <a:endParaRPr lang="en-US" sz="950" dirty="0"/>
          </a:p>
        </p:txBody>
      </p:sp>
      <p:sp>
        <p:nvSpPr>
          <p:cNvPr id="18" name="Shape 16"/>
          <p:cNvSpPr/>
          <p:nvPr/>
        </p:nvSpPr>
        <p:spPr>
          <a:xfrm>
            <a:off x="2103120" y="1892808"/>
            <a:ext cx="137160" cy="228600"/>
          </a:xfrm>
          <a:prstGeom prst="rightArrow">
            <a:avLst/>
          </a:prstGeom>
          <a:solidFill>
            <a:srgbClr val="42A5F5"/>
          </a:solidFill>
          <a:ln w="12700">
            <a:solidFill>
              <a:srgbClr val="42A5F5"/>
            </a:solidFill>
            <a:prstDash val="solid"/>
          </a:ln>
        </p:spPr>
      </p:sp>
      <p:sp>
        <p:nvSpPr>
          <p:cNvPr id="19" name="Shape 17"/>
          <p:cNvSpPr/>
          <p:nvPr/>
        </p:nvSpPr>
        <p:spPr>
          <a:xfrm>
            <a:off x="2121408" y="1920240"/>
            <a:ext cx="128016" cy="36576"/>
          </a:xfrm>
          <a:prstGeom prst="rect">
            <a:avLst/>
          </a:prstGeom>
          <a:solidFill>
            <a:srgbClr val="42A5F5"/>
          </a:solidFill>
          <a:ln/>
        </p:spPr>
      </p:sp>
      <p:sp>
        <p:nvSpPr>
          <p:cNvPr id="20" name="Shape 18"/>
          <p:cNvSpPr/>
          <p:nvPr/>
        </p:nvSpPr>
        <p:spPr>
          <a:xfrm>
            <a:off x="2249424" y="1097280"/>
            <a:ext cx="1828800" cy="2377440"/>
          </a:xfrm>
          <a:prstGeom prst="roundRect">
            <a:avLst>
              <a:gd name="adj" fmla="val 5000"/>
            </a:avLst>
          </a:prstGeom>
          <a:solidFill>
            <a:srgbClr val="E8F4FD"/>
          </a:solidFill>
          <a:ln w="12700">
            <a:solidFill>
              <a:srgbClr val="D84315"/>
            </a:solidFill>
            <a:prstDash val="solid"/>
          </a:ln>
        </p:spPr>
      </p:sp>
      <p:sp>
        <p:nvSpPr>
          <p:cNvPr id="21" name="Shape 19"/>
          <p:cNvSpPr/>
          <p:nvPr/>
        </p:nvSpPr>
        <p:spPr>
          <a:xfrm>
            <a:off x="2249424" y="1097280"/>
            <a:ext cx="1828800" cy="384048"/>
          </a:xfrm>
          <a:prstGeom prst="rect">
            <a:avLst/>
          </a:prstGeom>
          <a:solidFill>
            <a:srgbClr val="D84315"/>
          </a:solidFill>
          <a:ln w="12700">
            <a:solidFill>
              <a:srgbClr val="D84315"/>
            </a:solidFill>
            <a:prstDash val="solid"/>
          </a:ln>
        </p:spPr>
      </p:sp>
      <p:sp>
        <p:nvSpPr>
          <p:cNvPr id="22" name="Shape 20"/>
          <p:cNvSpPr/>
          <p:nvPr/>
        </p:nvSpPr>
        <p:spPr>
          <a:xfrm>
            <a:off x="2249424" y="1097280"/>
            <a:ext cx="1828800" cy="384048"/>
          </a:xfrm>
          <a:prstGeom prst="roundRect">
            <a:avLst>
              <a:gd name="adj" fmla="val 23810"/>
            </a:avLst>
          </a:prstGeom>
          <a:solidFill>
            <a:srgbClr val="D84315"/>
          </a:solidFill>
          <a:ln w="12700">
            <a:solidFill>
              <a:srgbClr val="D84315"/>
            </a:solidFill>
            <a:prstDash val="solid"/>
          </a:ln>
        </p:spPr>
      </p:sp>
      <p:sp>
        <p:nvSpPr>
          <p:cNvPr id="23" name="Shape 21"/>
          <p:cNvSpPr/>
          <p:nvPr/>
        </p:nvSpPr>
        <p:spPr>
          <a:xfrm>
            <a:off x="2249424" y="1280160"/>
            <a:ext cx="1828800" cy="201168"/>
          </a:xfrm>
          <a:prstGeom prst="rect">
            <a:avLst/>
          </a:prstGeom>
          <a:solidFill>
            <a:srgbClr val="D84315"/>
          </a:solidFill>
          <a:ln w="12700">
            <a:solidFill>
              <a:srgbClr val="D84315"/>
            </a:solidFill>
            <a:prstDash val="solid"/>
          </a:ln>
        </p:spPr>
      </p:sp>
      <p:sp>
        <p:nvSpPr>
          <p:cNvPr id="24" name="Text 22"/>
          <p:cNvSpPr/>
          <p:nvPr/>
        </p:nvSpPr>
        <p:spPr>
          <a:xfrm>
            <a:off x="2249424"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25" name="Text 23"/>
          <p:cNvSpPr/>
          <p:nvPr/>
        </p:nvSpPr>
        <p:spPr>
          <a:xfrm>
            <a:off x="2249424"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2340864" y="2039112"/>
            <a:ext cx="1645920" cy="411480"/>
          </a:xfrm>
          <a:prstGeom prst="rect">
            <a:avLst/>
          </a:prstGeom>
          <a:noFill/>
          <a:ln/>
        </p:spPr>
        <p:txBody>
          <a:bodyPr wrap="square" rtlCol="0" anchor="ctr"/>
          <a:lstStyle/>
          <a:p>
            <a:pPr algn="ctr" indent="0" marL="0">
              <a:buNone/>
            </a:pPr>
            <a:r>
              <a:rPr lang="en-US" sz="1050" b="1" dirty="0">
                <a:solidFill>
                  <a:srgbClr val="D84315"/>
                </a:solidFill>
                <a:latin typeface="Calibri" pitchFamily="34" charset="0"/>
                <a:ea typeface="Calibri" pitchFamily="34" charset="-122"/>
                <a:cs typeface="Calibri" pitchFamily="34" charset="-120"/>
              </a:rPr>
              <a:t>ESP32 Reads ADC</a:t>
            </a:r>
            <a:endParaRPr lang="en-US" sz="1050" dirty="0"/>
          </a:p>
        </p:txBody>
      </p:sp>
      <p:sp>
        <p:nvSpPr>
          <p:cNvPr id="27" name="Text 25"/>
          <p:cNvSpPr/>
          <p:nvPr/>
        </p:nvSpPr>
        <p:spPr>
          <a:xfrm>
            <a:off x="2340864"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12-bit ADC samples the LDR: raw value 0–4095</a:t>
            </a:r>
            <a:endParaRPr lang="en-US" sz="950" dirty="0"/>
          </a:p>
        </p:txBody>
      </p:sp>
      <p:sp>
        <p:nvSpPr>
          <p:cNvPr id="28" name="Shape 26"/>
          <p:cNvSpPr/>
          <p:nvPr/>
        </p:nvSpPr>
        <p:spPr>
          <a:xfrm>
            <a:off x="4078224" y="1892808"/>
            <a:ext cx="137160" cy="228600"/>
          </a:xfrm>
          <a:prstGeom prst="rightArrow">
            <a:avLst/>
          </a:prstGeom>
          <a:solidFill>
            <a:srgbClr val="42A5F5"/>
          </a:solidFill>
          <a:ln w="12700">
            <a:solidFill>
              <a:srgbClr val="42A5F5"/>
            </a:solidFill>
            <a:prstDash val="solid"/>
          </a:ln>
        </p:spPr>
      </p:sp>
      <p:sp>
        <p:nvSpPr>
          <p:cNvPr id="29" name="Shape 27"/>
          <p:cNvSpPr/>
          <p:nvPr/>
        </p:nvSpPr>
        <p:spPr>
          <a:xfrm>
            <a:off x="4096512" y="1920240"/>
            <a:ext cx="128016" cy="36576"/>
          </a:xfrm>
          <a:prstGeom prst="rect">
            <a:avLst/>
          </a:prstGeom>
          <a:solidFill>
            <a:srgbClr val="42A5F5"/>
          </a:solidFill>
          <a:ln/>
        </p:spPr>
      </p:sp>
      <p:sp>
        <p:nvSpPr>
          <p:cNvPr id="30" name="Shape 28"/>
          <p:cNvSpPr/>
          <p:nvPr/>
        </p:nvSpPr>
        <p:spPr>
          <a:xfrm>
            <a:off x="4224528" y="1097280"/>
            <a:ext cx="1828800" cy="2377440"/>
          </a:xfrm>
          <a:prstGeom prst="roundRect">
            <a:avLst>
              <a:gd name="adj" fmla="val 5000"/>
            </a:avLst>
          </a:prstGeom>
          <a:solidFill>
            <a:srgbClr val="E8F4FD"/>
          </a:solidFill>
          <a:ln w="12700">
            <a:solidFill>
              <a:srgbClr val="1976D2"/>
            </a:solidFill>
            <a:prstDash val="solid"/>
          </a:ln>
        </p:spPr>
      </p:sp>
      <p:sp>
        <p:nvSpPr>
          <p:cNvPr id="31" name="Shape 29"/>
          <p:cNvSpPr/>
          <p:nvPr/>
        </p:nvSpPr>
        <p:spPr>
          <a:xfrm>
            <a:off x="4224528" y="1097280"/>
            <a:ext cx="1828800" cy="384048"/>
          </a:xfrm>
          <a:prstGeom prst="rect">
            <a:avLst/>
          </a:prstGeom>
          <a:solidFill>
            <a:srgbClr val="1976D2"/>
          </a:solidFill>
          <a:ln w="12700">
            <a:solidFill>
              <a:srgbClr val="1976D2"/>
            </a:solidFill>
            <a:prstDash val="solid"/>
          </a:ln>
        </p:spPr>
      </p:sp>
      <p:sp>
        <p:nvSpPr>
          <p:cNvPr id="32" name="Shape 30"/>
          <p:cNvSpPr/>
          <p:nvPr/>
        </p:nvSpPr>
        <p:spPr>
          <a:xfrm>
            <a:off x="4224528" y="1097280"/>
            <a:ext cx="1828800" cy="384048"/>
          </a:xfrm>
          <a:prstGeom prst="roundRect">
            <a:avLst>
              <a:gd name="adj" fmla="val 23810"/>
            </a:avLst>
          </a:prstGeom>
          <a:solidFill>
            <a:srgbClr val="1976D2"/>
          </a:solidFill>
          <a:ln w="12700">
            <a:solidFill>
              <a:srgbClr val="1976D2"/>
            </a:solidFill>
            <a:prstDash val="solid"/>
          </a:ln>
        </p:spPr>
      </p:sp>
      <p:sp>
        <p:nvSpPr>
          <p:cNvPr id="33" name="Shape 31"/>
          <p:cNvSpPr/>
          <p:nvPr/>
        </p:nvSpPr>
        <p:spPr>
          <a:xfrm>
            <a:off x="4224528" y="1280160"/>
            <a:ext cx="1828800" cy="201168"/>
          </a:xfrm>
          <a:prstGeom prst="rect">
            <a:avLst/>
          </a:prstGeom>
          <a:solidFill>
            <a:srgbClr val="1976D2"/>
          </a:solidFill>
          <a:ln w="12700">
            <a:solidFill>
              <a:srgbClr val="1976D2"/>
            </a:solidFill>
            <a:prstDash val="solid"/>
          </a:ln>
        </p:spPr>
      </p:sp>
      <p:sp>
        <p:nvSpPr>
          <p:cNvPr id="34" name="Text 32"/>
          <p:cNvSpPr/>
          <p:nvPr/>
        </p:nvSpPr>
        <p:spPr>
          <a:xfrm>
            <a:off x="4224528"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35" name="Text 33"/>
          <p:cNvSpPr/>
          <p:nvPr/>
        </p:nvSpPr>
        <p:spPr>
          <a:xfrm>
            <a:off x="4224528"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6" name="Text 34"/>
          <p:cNvSpPr/>
          <p:nvPr/>
        </p:nvSpPr>
        <p:spPr>
          <a:xfrm>
            <a:off x="4315968" y="2039112"/>
            <a:ext cx="1645920" cy="411480"/>
          </a:xfrm>
          <a:prstGeom prst="rect">
            <a:avLst/>
          </a:prstGeom>
          <a:noFill/>
          <a:ln/>
        </p:spPr>
        <p:txBody>
          <a:bodyPr wrap="square" rtlCol="0" anchor="ctr"/>
          <a:lstStyle/>
          <a:p>
            <a:pPr algn="ctr" indent="0" marL="0">
              <a:buNone/>
            </a:pPr>
            <a:r>
              <a:rPr lang="en-US" sz="1050" b="1" dirty="0">
                <a:solidFill>
                  <a:srgbClr val="1976D2"/>
                </a:solidFill>
                <a:latin typeface="Calibri" pitchFamily="34" charset="0"/>
                <a:ea typeface="Calibri" pitchFamily="34" charset="-122"/>
                <a:cs typeface="Calibri" pitchFamily="34" charset="-120"/>
              </a:rPr>
              <a:t>ADC Converts Value</a:t>
            </a:r>
            <a:endParaRPr lang="en-US" sz="1050" dirty="0"/>
          </a:p>
        </p:txBody>
      </p:sp>
      <p:sp>
        <p:nvSpPr>
          <p:cNvPr id="37" name="Text 35"/>
          <p:cNvSpPr/>
          <p:nvPr/>
        </p:nvSpPr>
        <p:spPr>
          <a:xfrm>
            <a:off x="4315968"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value% = (4095−raw)/4095 × 100 → percentage 0–100</a:t>
            </a:r>
            <a:endParaRPr lang="en-US" sz="950" dirty="0"/>
          </a:p>
        </p:txBody>
      </p:sp>
      <p:sp>
        <p:nvSpPr>
          <p:cNvPr id="38" name="Shape 36"/>
          <p:cNvSpPr/>
          <p:nvPr/>
        </p:nvSpPr>
        <p:spPr>
          <a:xfrm>
            <a:off x="6053328" y="1892808"/>
            <a:ext cx="137160" cy="228600"/>
          </a:xfrm>
          <a:prstGeom prst="rightArrow">
            <a:avLst/>
          </a:prstGeom>
          <a:solidFill>
            <a:srgbClr val="42A5F5"/>
          </a:solidFill>
          <a:ln w="12700">
            <a:solidFill>
              <a:srgbClr val="42A5F5"/>
            </a:solidFill>
            <a:prstDash val="solid"/>
          </a:ln>
        </p:spPr>
      </p:sp>
      <p:sp>
        <p:nvSpPr>
          <p:cNvPr id="39" name="Shape 37"/>
          <p:cNvSpPr/>
          <p:nvPr/>
        </p:nvSpPr>
        <p:spPr>
          <a:xfrm>
            <a:off x="6071616" y="1920240"/>
            <a:ext cx="128016" cy="36576"/>
          </a:xfrm>
          <a:prstGeom prst="rect">
            <a:avLst/>
          </a:prstGeom>
          <a:solidFill>
            <a:srgbClr val="42A5F5"/>
          </a:solidFill>
          <a:ln/>
        </p:spPr>
      </p:sp>
      <p:sp>
        <p:nvSpPr>
          <p:cNvPr id="40" name="Shape 38"/>
          <p:cNvSpPr/>
          <p:nvPr/>
        </p:nvSpPr>
        <p:spPr>
          <a:xfrm>
            <a:off x="6199632" y="1097280"/>
            <a:ext cx="1828800" cy="2377440"/>
          </a:xfrm>
          <a:prstGeom prst="roundRect">
            <a:avLst>
              <a:gd name="adj" fmla="val 5000"/>
            </a:avLst>
          </a:prstGeom>
          <a:solidFill>
            <a:srgbClr val="E8F4FD"/>
          </a:solidFill>
          <a:ln w="12700">
            <a:solidFill>
              <a:srgbClr val="1565C0"/>
            </a:solidFill>
            <a:prstDash val="solid"/>
          </a:ln>
        </p:spPr>
      </p:sp>
      <p:sp>
        <p:nvSpPr>
          <p:cNvPr id="41" name="Shape 39"/>
          <p:cNvSpPr/>
          <p:nvPr/>
        </p:nvSpPr>
        <p:spPr>
          <a:xfrm>
            <a:off x="6199632" y="1097280"/>
            <a:ext cx="1828800" cy="384048"/>
          </a:xfrm>
          <a:prstGeom prst="rect">
            <a:avLst/>
          </a:prstGeom>
          <a:solidFill>
            <a:srgbClr val="1565C0"/>
          </a:solidFill>
          <a:ln w="12700">
            <a:solidFill>
              <a:srgbClr val="1565C0"/>
            </a:solidFill>
            <a:prstDash val="solid"/>
          </a:ln>
        </p:spPr>
      </p:sp>
      <p:sp>
        <p:nvSpPr>
          <p:cNvPr id="42" name="Shape 40"/>
          <p:cNvSpPr/>
          <p:nvPr/>
        </p:nvSpPr>
        <p:spPr>
          <a:xfrm>
            <a:off x="6199632" y="1097280"/>
            <a:ext cx="1828800" cy="384048"/>
          </a:xfrm>
          <a:prstGeom prst="roundRect">
            <a:avLst>
              <a:gd name="adj" fmla="val 23810"/>
            </a:avLst>
          </a:prstGeom>
          <a:solidFill>
            <a:srgbClr val="1565C0"/>
          </a:solidFill>
          <a:ln w="12700">
            <a:solidFill>
              <a:srgbClr val="1565C0"/>
            </a:solidFill>
            <a:prstDash val="solid"/>
          </a:ln>
        </p:spPr>
      </p:sp>
      <p:sp>
        <p:nvSpPr>
          <p:cNvPr id="43" name="Shape 41"/>
          <p:cNvSpPr/>
          <p:nvPr/>
        </p:nvSpPr>
        <p:spPr>
          <a:xfrm>
            <a:off x="6199632" y="1280160"/>
            <a:ext cx="1828800" cy="201168"/>
          </a:xfrm>
          <a:prstGeom prst="rect">
            <a:avLst/>
          </a:prstGeom>
          <a:solidFill>
            <a:srgbClr val="1565C0"/>
          </a:solidFill>
          <a:ln w="12700">
            <a:solidFill>
              <a:srgbClr val="1565C0"/>
            </a:solidFill>
            <a:prstDash val="solid"/>
          </a:ln>
        </p:spPr>
      </p:sp>
      <p:sp>
        <p:nvSpPr>
          <p:cNvPr id="44" name="Text 42"/>
          <p:cNvSpPr/>
          <p:nvPr/>
        </p:nvSpPr>
        <p:spPr>
          <a:xfrm>
            <a:off x="6199632"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4</a:t>
            </a:r>
            <a:endParaRPr lang="en-US" sz="1050" dirty="0"/>
          </a:p>
        </p:txBody>
      </p:sp>
      <p:sp>
        <p:nvSpPr>
          <p:cNvPr id="45" name="Text 43"/>
          <p:cNvSpPr/>
          <p:nvPr/>
        </p:nvSpPr>
        <p:spPr>
          <a:xfrm>
            <a:off x="6199632"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46" name="Text 44"/>
          <p:cNvSpPr/>
          <p:nvPr/>
        </p:nvSpPr>
        <p:spPr>
          <a:xfrm>
            <a:off x="6291072" y="2039112"/>
            <a:ext cx="1645920" cy="411480"/>
          </a:xfrm>
          <a:prstGeom prst="rect">
            <a:avLst/>
          </a:prstGeom>
          <a:noFill/>
          <a:ln/>
        </p:spPr>
        <p:txBody>
          <a:bodyPr wrap="square" rtlCol="0" anchor="ctr"/>
          <a:lstStyle/>
          <a:p>
            <a:pPr algn="ctr" indent="0" marL="0">
              <a:buNone/>
            </a:pPr>
            <a:r>
              <a:rPr lang="en-US" sz="1050" b="1" dirty="0">
                <a:solidFill>
                  <a:srgbClr val="1565C0"/>
                </a:solidFill>
                <a:latin typeface="Calibri" pitchFamily="34" charset="0"/>
                <a:ea typeface="Calibri" pitchFamily="34" charset="-122"/>
                <a:cs typeface="Calibri" pitchFamily="34" charset="-120"/>
              </a:rPr>
              <a:t>Compare with Threshold</a:t>
            </a:r>
            <a:endParaRPr lang="en-US" sz="1050" dirty="0"/>
          </a:p>
        </p:txBody>
      </p:sp>
      <p:sp>
        <p:nvSpPr>
          <p:cNvPr id="47" name="Text 45"/>
          <p:cNvSpPr/>
          <p:nvPr/>
        </p:nvSpPr>
        <p:spPr>
          <a:xfrm>
            <a:off x="6291072"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If value ≥ threshold → status = Bright, else status = Dark</a:t>
            </a:r>
            <a:endParaRPr lang="en-US" sz="950" dirty="0"/>
          </a:p>
        </p:txBody>
      </p:sp>
      <p:sp>
        <p:nvSpPr>
          <p:cNvPr id="48" name="Shape 46"/>
          <p:cNvSpPr/>
          <p:nvPr/>
        </p:nvSpPr>
        <p:spPr>
          <a:xfrm>
            <a:off x="8028432" y="1892808"/>
            <a:ext cx="137160" cy="228600"/>
          </a:xfrm>
          <a:prstGeom prst="rightArrow">
            <a:avLst/>
          </a:prstGeom>
          <a:solidFill>
            <a:srgbClr val="42A5F5"/>
          </a:solidFill>
          <a:ln w="12700">
            <a:solidFill>
              <a:srgbClr val="42A5F5"/>
            </a:solidFill>
            <a:prstDash val="solid"/>
          </a:ln>
        </p:spPr>
      </p:sp>
      <p:sp>
        <p:nvSpPr>
          <p:cNvPr id="49" name="Shape 47"/>
          <p:cNvSpPr/>
          <p:nvPr/>
        </p:nvSpPr>
        <p:spPr>
          <a:xfrm>
            <a:off x="8046720" y="1920240"/>
            <a:ext cx="128016" cy="36576"/>
          </a:xfrm>
          <a:prstGeom prst="rect">
            <a:avLst/>
          </a:prstGeom>
          <a:solidFill>
            <a:srgbClr val="42A5F5"/>
          </a:solidFill>
          <a:ln/>
        </p:spPr>
      </p:sp>
      <p:sp>
        <p:nvSpPr>
          <p:cNvPr id="50" name="Shape 48"/>
          <p:cNvSpPr/>
          <p:nvPr/>
        </p:nvSpPr>
        <p:spPr>
          <a:xfrm>
            <a:off x="8174736" y="1097280"/>
            <a:ext cx="1828800" cy="2377440"/>
          </a:xfrm>
          <a:prstGeom prst="roundRect">
            <a:avLst>
              <a:gd name="adj" fmla="val 5000"/>
            </a:avLst>
          </a:prstGeom>
          <a:solidFill>
            <a:srgbClr val="E8F4FD"/>
          </a:solidFill>
          <a:ln w="12700">
            <a:solidFill>
              <a:srgbClr val="388E3C"/>
            </a:solidFill>
            <a:prstDash val="solid"/>
          </a:ln>
        </p:spPr>
      </p:sp>
      <p:sp>
        <p:nvSpPr>
          <p:cNvPr id="51" name="Shape 49"/>
          <p:cNvSpPr/>
          <p:nvPr/>
        </p:nvSpPr>
        <p:spPr>
          <a:xfrm>
            <a:off x="8174736" y="1097280"/>
            <a:ext cx="1828800" cy="384048"/>
          </a:xfrm>
          <a:prstGeom prst="rect">
            <a:avLst/>
          </a:prstGeom>
          <a:solidFill>
            <a:srgbClr val="388E3C"/>
          </a:solidFill>
          <a:ln w="12700">
            <a:solidFill>
              <a:srgbClr val="388E3C"/>
            </a:solidFill>
            <a:prstDash val="solid"/>
          </a:ln>
        </p:spPr>
      </p:sp>
      <p:sp>
        <p:nvSpPr>
          <p:cNvPr id="52" name="Shape 50"/>
          <p:cNvSpPr/>
          <p:nvPr/>
        </p:nvSpPr>
        <p:spPr>
          <a:xfrm>
            <a:off x="8174736" y="1097280"/>
            <a:ext cx="1828800" cy="384048"/>
          </a:xfrm>
          <a:prstGeom prst="roundRect">
            <a:avLst>
              <a:gd name="adj" fmla="val 23810"/>
            </a:avLst>
          </a:prstGeom>
          <a:solidFill>
            <a:srgbClr val="388E3C"/>
          </a:solidFill>
          <a:ln w="12700">
            <a:solidFill>
              <a:srgbClr val="388E3C"/>
            </a:solidFill>
            <a:prstDash val="solid"/>
          </a:ln>
        </p:spPr>
      </p:sp>
      <p:sp>
        <p:nvSpPr>
          <p:cNvPr id="53" name="Shape 51"/>
          <p:cNvSpPr/>
          <p:nvPr/>
        </p:nvSpPr>
        <p:spPr>
          <a:xfrm>
            <a:off x="8174736" y="1280160"/>
            <a:ext cx="1828800" cy="201168"/>
          </a:xfrm>
          <a:prstGeom prst="rect">
            <a:avLst/>
          </a:prstGeom>
          <a:solidFill>
            <a:srgbClr val="388E3C"/>
          </a:solidFill>
          <a:ln w="12700">
            <a:solidFill>
              <a:srgbClr val="388E3C"/>
            </a:solidFill>
            <a:prstDash val="solid"/>
          </a:ln>
        </p:spPr>
      </p:sp>
      <p:sp>
        <p:nvSpPr>
          <p:cNvPr id="54" name="Text 52"/>
          <p:cNvSpPr/>
          <p:nvPr/>
        </p:nvSpPr>
        <p:spPr>
          <a:xfrm>
            <a:off x="8174736"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5</a:t>
            </a:r>
            <a:endParaRPr lang="en-US" sz="1050" dirty="0"/>
          </a:p>
        </p:txBody>
      </p:sp>
      <p:sp>
        <p:nvSpPr>
          <p:cNvPr id="55" name="Text 53"/>
          <p:cNvSpPr/>
          <p:nvPr/>
        </p:nvSpPr>
        <p:spPr>
          <a:xfrm>
            <a:off x="8174736"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56" name="Text 54"/>
          <p:cNvSpPr/>
          <p:nvPr/>
        </p:nvSpPr>
        <p:spPr>
          <a:xfrm>
            <a:off x="8266176" y="2039112"/>
            <a:ext cx="1645920" cy="411480"/>
          </a:xfrm>
          <a:prstGeom prst="rect">
            <a:avLst/>
          </a:prstGeom>
          <a:noFill/>
          <a:ln/>
        </p:spPr>
        <p:txBody>
          <a:bodyPr wrap="square" rtlCol="0" anchor="ctr"/>
          <a:lstStyle/>
          <a:p>
            <a:pPr algn="ctr" indent="0" marL="0">
              <a:buNone/>
            </a:pPr>
            <a:r>
              <a:rPr lang="en-US" sz="1050" b="1" dirty="0">
                <a:solidFill>
                  <a:srgbClr val="388E3C"/>
                </a:solidFill>
                <a:latin typeface="Calibri" pitchFamily="34" charset="0"/>
                <a:ea typeface="Calibri" pitchFamily="34" charset="-122"/>
                <a:cs typeface="Calibri" pitchFamily="34" charset="-120"/>
              </a:rPr>
              <a:t>LED ON / OFF Control</a:t>
            </a:r>
            <a:endParaRPr lang="en-US" sz="1050" dirty="0"/>
          </a:p>
        </p:txBody>
      </p:sp>
      <p:sp>
        <p:nvSpPr>
          <p:cNvPr id="57" name="Text 55"/>
          <p:cNvSpPr/>
          <p:nvPr/>
        </p:nvSpPr>
        <p:spPr>
          <a:xfrm>
            <a:off x="8266176"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Auto mode: LED ON when Dark; OFF when Bright. Manual overrides.</a:t>
            </a:r>
            <a:endParaRPr lang="en-US" sz="950" dirty="0"/>
          </a:p>
        </p:txBody>
      </p:sp>
      <p:sp>
        <p:nvSpPr>
          <p:cNvPr id="58" name="Shape 56"/>
          <p:cNvSpPr/>
          <p:nvPr/>
        </p:nvSpPr>
        <p:spPr>
          <a:xfrm>
            <a:off x="10003536" y="1892808"/>
            <a:ext cx="137160" cy="228600"/>
          </a:xfrm>
          <a:prstGeom prst="rightArrow">
            <a:avLst/>
          </a:prstGeom>
          <a:solidFill>
            <a:srgbClr val="42A5F5"/>
          </a:solidFill>
          <a:ln w="12700">
            <a:solidFill>
              <a:srgbClr val="42A5F5"/>
            </a:solidFill>
            <a:prstDash val="solid"/>
          </a:ln>
        </p:spPr>
      </p:sp>
      <p:sp>
        <p:nvSpPr>
          <p:cNvPr id="59" name="Shape 57"/>
          <p:cNvSpPr/>
          <p:nvPr/>
        </p:nvSpPr>
        <p:spPr>
          <a:xfrm>
            <a:off x="10021824" y="1920240"/>
            <a:ext cx="128016" cy="36576"/>
          </a:xfrm>
          <a:prstGeom prst="rect">
            <a:avLst/>
          </a:prstGeom>
          <a:solidFill>
            <a:srgbClr val="42A5F5"/>
          </a:solidFill>
          <a:ln/>
        </p:spPr>
      </p:sp>
      <p:sp>
        <p:nvSpPr>
          <p:cNvPr id="60" name="Shape 58"/>
          <p:cNvSpPr/>
          <p:nvPr/>
        </p:nvSpPr>
        <p:spPr>
          <a:xfrm>
            <a:off x="10149840" y="1097280"/>
            <a:ext cx="1828800" cy="2377440"/>
          </a:xfrm>
          <a:prstGeom prst="roundRect">
            <a:avLst>
              <a:gd name="adj" fmla="val 5000"/>
            </a:avLst>
          </a:prstGeom>
          <a:solidFill>
            <a:srgbClr val="E8F4FD"/>
          </a:solidFill>
          <a:ln w="12700">
            <a:solidFill>
              <a:srgbClr val="0D2B5E"/>
            </a:solidFill>
            <a:prstDash val="solid"/>
          </a:ln>
        </p:spPr>
      </p:sp>
      <p:sp>
        <p:nvSpPr>
          <p:cNvPr id="61" name="Shape 59"/>
          <p:cNvSpPr/>
          <p:nvPr/>
        </p:nvSpPr>
        <p:spPr>
          <a:xfrm>
            <a:off x="10149840" y="1097280"/>
            <a:ext cx="1828800" cy="384048"/>
          </a:xfrm>
          <a:prstGeom prst="rect">
            <a:avLst/>
          </a:prstGeom>
          <a:solidFill>
            <a:srgbClr val="0D2B5E"/>
          </a:solidFill>
          <a:ln w="12700">
            <a:solidFill>
              <a:srgbClr val="0D2B5E"/>
            </a:solidFill>
            <a:prstDash val="solid"/>
          </a:ln>
        </p:spPr>
      </p:sp>
      <p:sp>
        <p:nvSpPr>
          <p:cNvPr id="62" name="Shape 60"/>
          <p:cNvSpPr/>
          <p:nvPr/>
        </p:nvSpPr>
        <p:spPr>
          <a:xfrm>
            <a:off x="10149840" y="1097280"/>
            <a:ext cx="1828800" cy="384048"/>
          </a:xfrm>
          <a:prstGeom prst="roundRect">
            <a:avLst>
              <a:gd name="adj" fmla="val 23810"/>
            </a:avLst>
          </a:prstGeom>
          <a:solidFill>
            <a:srgbClr val="0D2B5E"/>
          </a:solidFill>
          <a:ln w="12700">
            <a:solidFill>
              <a:srgbClr val="0D2B5E"/>
            </a:solidFill>
            <a:prstDash val="solid"/>
          </a:ln>
        </p:spPr>
      </p:sp>
      <p:sp>
        <p:nvSpPr>
          <p:cNvPr id="63" name="Shape 61"/>
          <p:cNvSpPr/>
          <p:nvPr/>
        </p:nvSpPr>
        <p:spPr>
          <a:xfrm>
            <a:off x="10149840" y="1280160"/>
            <a:ext cx="1828800" cy="201168"/>
          </a:xfrm>
          <a:prstGeom prst="rect">
            <a:avLst/>
          </a:prstGeom>
          <a:solidFill>
            <a:srgbClr val="0D2B5E"/>
          </a:solidFill>
          <a:ln w="12700">
            <a:solidFill>
              <a:srgbClr val="0D2B5E"/>
            </a:solidFill>
            <a:prstDash val="solid"/>
          </a:ln>
        </p:spPr>
      </p:sp>
      <p:sp>
        <p:nvSpPr>
          <p:cNvPr id="64" name="Text 62"/>
          <p:cNvSpPr/>
          <p:nvPr/>
        </p:nvSpPr>
        <p:spPr>
          <a:xfrm>
            <a:off x="10149840" y="1115568"/>
            <a:ext cx="182880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6</a:t>
            </a:r>
            <a:endParaRPr lang="en-US" sz="1050" dirty="0"/>
          </a:p>
        </p:txBody>
      </p:sp>
      <p:sp>
        <p:nvSpPr>
          <p:cNvPr id="65" name="Text 63"/>
          <p:cNvSpPr/>
          <p:nvPr/>
        </p:nvSpPr>
        <p:spPr>
          <a:xfrm>
            <a:off x="10149840" y="1508760"/>
            <a:ext cx="18288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6" name="Text 64"/>
          <p:cNvSpPr/>
          <p:nvPr/>
        </p:nvSpPr>
        <p:spPr>
          <a:xfrm>
            <a:off x="10241280" y="2039112"/>
            <a:ext cx="1645920" cy="411480"/>
          </a:xfrm>
          <a:prstGeom prst="rect">
            <a:avLst/>
          </a:prstGeom>
          <a:noFill/>
          <a:ln/>
        </p:spPr>
        <p:txBody>
          <a:bodyPr wrap="square" rtlCol="0" anchor="ctr"/>
          <a:lstStyle/>
          <a:p>
            <a:pPr algn="ctr" indent="0" marL="0">
              <a:buNone/>
            </a:pPr>
            <a:r>
              <a:rPr lang="en-US" sz="1050" b="1" dirty="0">
                <a:solidFill>
                  <a:srgbClr val="0D2B5E"/>
                </a:solidFill>
                <a:latin typeface="Calibri" pitchFamily="34" charset="0"/>
                <a:ea typeface="Calibri" pitchFamily="34" charset="-122"/>
                <a:cs typeface="Calibri" pitchFamily="34" charset="-120"/>
              </a:rPr>
              <a:t>Data Sent via REST API</a:t>
            </a:r>
            <a:endParaRPr lang="en-US" sz="1050" dirty="0"/>
          </a:p>
        </p:txBody>
      </p:sp>
      <p:sp>
        <p:nvSpPr>
          <p:cNvPr id="67" name="Text 65"/>
          <p:cNvSpPr/>
          <p:nvPr/>
        </p:nvSpPr>
        <p:spPr>
          <a:xfrm>
            <a:off x="10241280" y="2468880"/>
            <a:ext cx="1645920" cy="777240"/>
          </a:xfrm>
          <a:prstGeom prst="rect">
            <a:avLst/>
          </a:prstGeom>
          <a:noFill/>
          <a:ln/>
        </p:spPr>
        <p:txBody>
          <a:bodyPr wrap="square" rtlCol="0" anchor="ctr"/>
          <a:lstStyle/>
          <a:p>
            <a:pPr algn="ctr" indent="0" marL="0">
              <a:buNone/>
            </a:pPr>
            <a:r>
              <a:rPr lang="en-US" sz="950" dirty="0">
                <a:solidFill>
                  <a:srgbClr val="37474F"/>
                </a:solidFill>
                <a:latin typeface="Calibri" pitchFamily="34" charset="0"/>
                <a:ea typeface="Calibri" pitchFamily="34" charset="-122"/>
                <a:cs typeface="Calibri" pitchFamily="34" charset="-120"/>
              </a:rPr>
              <a:t>ESP32 POSTs JSON to /api/light every ~2 s; dashboard polls</a:t>
            </a:r>
            <a:endParaRPr lang="en-US" sz="950" dirty="0"/>
          </a:p>
        </p:txBody>
      </p:sp>
      <p:sp>
        <p:nvSpPr>
          <p:cNvPr id="68" name="Text 66"/>
          <p:cNvSpPr/>
          <p:nvPr/>
        </p:nvSpPr>
        <p:spPr>
          <a:xfrm>
            <a:off x="274320" y="3657600"/>
            <a:ext cx="6858000" cy="310896"/>
          </a:xfrm>
          <a:prstGeom prst="rect">
            <a:avLst/>
          </a:prstGeom>
          <a:noFill/>
          <a:ln/>
        </p:spPr>
        <p:txBody>
          <a:bodyPr wrap="square"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Threshold Decision Logic</a:t>
            </a:r>
            <a:endParaRPr lang="en-US" sz="1200" dirty="0"/>
          </a:p>
        </p:txBody>
      </p:sp>
      <p:sp>
        <p:nvSpPr>
          <p:cNvPr id="69" name="Shape 67"/>
          <p:cNvSpPr/>
          <p:nvPr/>
        </p:nvSpPr>
        <p:spPr>
          <a:xfrm>
            <a:off x="274320" y="3968496"/>
            <a:ext cx="6675120" cy="16459"/>
          </a:xfrm>
          <a:prstGeom prst="rect">
            <a:avLst/>
          </a:prstGeom>
          <a:solidFill>
            <a:srgbClr val="BBDEFB"/>
          </a:solidFill>
          <a:ln/>
        </p:spPr>
      </p:sp>
      <p:sp>
        <p:nvSpPr>
          <p:cNvPr id="70" name="Shape 68"/>
          <p:cNvSpPr/>
          <p:nvPr/>
        </p:nvSpPr>
        <p:spPr>
          <a:xfrm>
            <a:off x="457200" y="4160520"/>
            <a:ext cx="6217920" cy="411480"/>
          </a:xfrm>
          <a:prstGeom prst="rect">
            <a:avLst/>
          </a:prstGeom>
          <a:solidFill>
            <a:srgbClr val="FFEBEE"/>
          </a:solidFill>
          <a:ln w="6350">
            <a:solidFill>
              <a:srgbClr val="B71C1C"/>
            </a:solidFill>
            <a:prstDash val="solid"/>
          </a:ln>
        </p:spPr>
      </p:sp>
      <p:sp>
        <p:nvSpPr>
          <p:cNvPr id="71" name="Shape 69"/>
          <p:cNvSpPr/>
          <p:nvPr/>
        </p:nvSpPr>
        <p:spPr>
          <a:xfrm>
            <a:off x="2944368" y="4160520"/>
            <a:ext cx="3730752" cy="411480"/>
          </a:xfrm>
          <a:prstGeom prst="rect">
            <a:avLst/>
          </a:prstGeom>
          <a:solidFill>
            <a:srgbClr val="E8F5E9"/>
          </a:solidFill>
          <a:ln w="6350">
            <a:solidFill>
              <a:srgbClr val="388E3C"/>
            </a:solidFill>
            <a:prstDash val="solid"/>
          </a:ln>
        </p:spPr>
      </p:sp>
      <p:sp>
        <p:nvSpPr>
          <p:cNvPr id="72" name="Shape 70"/>
          <p:cNvSpPr/>
          <p:nvPr/>
        </p:nvSpPr>
        <p:spPr>
          <a:xfrm>
            <a:off x="2907792" y="4041648"/>
            <a:ext cx="73152" cy="640080"/>
          </a:xfrm>
          <a:prstGeom prst="rect">
            <a:avLst/>
          </a:prstGeom>
          <a:solidFill>
            <a:srgbClr val="1565C0"/>
          </a:solidFill>
          <a:ln w="12700">
            <a:solidFill>
              <a:srgbClr val="1565C0"/>
            </a:solidFill>
            <a:prstDash val="solid"/>
          </a:ln>
        </p:spPr>
      </p:sp>
      <p:sp>
        <p:nvSpPr>
          <p:cNvPr id="73" name="Shape 71"/>
          <p:cNvSpPr/>
          <p:nvPr/>
        </p:nvSpPr>
        <p:spPr>
          <a:xfrm>
            <a:off x="2852928" y="3977640"/>
            <a:ext cx="182880" cy="201168"/>
          </a:xfrm>
          <a:prstGeom prst="downArrow">
            <a:avLst/>
          </a:prstGeom>
          <a:solidFill>
            <a:srgbClr val="1565C0"/>
          </a:solidFill>
          <a:ln w="12700">
            <a:solidFill>
              <a:srgbClr val="1565C0"/>
            </a:solidFill>
            <a:prstDash val="solid"/>
          </a:ln>
        </p:spPr>
      </p:sp>
      <p:sp>
        <p:nvSpPr>
          <p:cNvPr id="74" name="Text 72"/>
          <p:cNvSpPr/>
          <p:nvPr/>
        </p:nvSpPr>
        <p:spPr>
          <a:xfrm>
            <a:off x="2121408" y="3794760"/>
            <a:ext cx="1645920" cy="201168"/>
          </a:xfrm>
          <a:prstGeom prst="rect">
            <a:avLst/>
          </a:prstGeom>
          <a:noFill/>
          <a:ln/>
        </p:spPr>
        <p:txBody>
          <a:bodyPr wrap="square"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Threshold (40 %)</a:t>
            </a:r>
            <a:endParaRPr lang="en-US" sz="900" dirty="0"/>
          </a:p>
        </p:txBody>
      </p:sp>
      <p:sp>
        <p:nvSpPr>
          <p:cNvPr id="75" name="Text 73"/>
          <p:cNvSpPr/>
          <p:nvPr/>
        </p:nvSpPr>
        <p:spPr>
          <a:xfrm>
            <a:off x="457200" y="4617720"/>
            <a:ext cx="1097280" cy="219456"/>
          </a:xfrm>
          <a:prstGeom prst="rect">
            <a:avLst/>
          </a:prstGeom>
          <a:noFill/>
          <a:ln/>
        </p:spPr>
        <p:txBody>
          <a:bodyPr wrap="square" rtlCol="0" anchor="ctr"/>
          <a:lstStyle/>
          <a:p>
            <a:pPr indent="0" marL="0">
              <a:buNone/>
            </a:pPr>
            <a:r>
              <a:rPr lang="en-US" sz="950" b="1" dirty="0">
                <a:solidFill>
                  <a:srgbClr val="B71C1C"/>
                </a:solidFill>
                <a:latin typeface="Calibri" pitchFamily="34" charset="0"/>
                <a:ea typeface="Calibri" pitchFamily="34" charset="-122"/>
                <a:cs typeface="Calibri" pitchFamily="34" charset="-120"/>
              </a:rPr>
              <a:t>0 (Dark)</a:t>
            </a:r>
            <a:endParaRPr lang="en-US" sz="950" dirty="0"/>
          </a:p>
        </p:txBody>
      </p:sp>
      <p:sp>
        <p:nvSpPr>
          <p:cNvPr id="76" name="Text 74"/>
          <p:cNvSpPr/>
          <p:nvPr/>
        </p:nvSpPr>
        <p:spPr>
          <a:xfrm>
            <a:off x="1371600" y="4617720"/>
            <a:ext cx="2011680" cy="219456"/>
          </a:xfrm>
          <a:prstGeom prst="rect">
            <a:avLst/>
          </a:prstGeom>
          <a:noFill/>
          <a:ln/>
        </p:spPr>
        <p:txBody>
          <a:bodyPr wrap="square" rtlCol="0" anchor="ctr"/>
          <a:lstStyle/>
          <a:p>
            <a:pPr indent="0" marL="0">
              <a:buNone/>
            </a:pPr>
            <a:r>
              <a:rPr lang="en-US" sz="950" dirty="0">
                <a:solidFill>
                  <a:srgbClr val="B71C1C"/>
                </a:solidFill>
                <a:latin typeface="Calibri" pitchFamily="34" charset="0"/>
                <a:ea typeface="Calibri" pitchFamily="34" charset="-122"/>
                <a:cs typeface="Calibri" pitchFamily="34" charset="-120"/>
              </a:rPr>
              <a:t>LED → ON</a:t>
            </a:r>
            <a:endParaRPr lang="en-US" sz="950" dirty="0"/>
          </a:p>
        </p:txBody>
      </p:sp>
      <p:sp>
        <p:nvSpPr>
          <p:cNvPr id="77" name="Text 75"/>
          <p:cNvSpPr/>
          <p:nvPr/>
        </p:nvSpPr>
        <p:spPr>
          <a:xfrm>
            <a:off x="5669280" y="4617720"/>
            <a:ext cx="1280160" cy="219456"/>
          </a:xfrm>
          <a:prstGeom prst="rect">
            <a:avLst/>
          </a:prstGeom>
          <a:noFill/>
          <a:ln/>
        </p:spPr>
        <p:txBody>
          <a:bodyPr wrap="square" rtlCol="0" anchor="ctr"/>
          <a:lstStyle/>
          <a:p>
            <a:pPr algn="r" indent="0" marL="0">
              <a:buNone/>
            </a:pPr>
            <a:r>
              <a:rPr lang="en-US" sz="950" b="1" dirty="0">
                <a:solidFill>
                  <a:srgbClr val="388E3C"/>
                </a:solidFill>
                <a:latin typeface="Calibri" pitchFamily="34" charset="0"/>
                <a:ea typeface="Calibri" pitchFamily="34" charset="-122"/>
                <a:cs typeface="Calibri" pitchFamily="34" charset="-120"/>
              </a:rPr>
              <a:t>100 (Bright)</a:t>
            </a:r>
            <a:endParaRPr lang="en-US" sz="950" dirty="0"/>
          </a:p>
        </p:txBody>
      </p:sp>
      <p:sp>
        <p:nvSpPr>
          <p:cNvPr id="78" name="Text 76"/>
          <p:cNvSpPr/>
          <p:nvPr/>
        </p:nvSpPr>
        <p:spPr>
          <a:xfrm>
            <a:off x="4206240" y="4617720"/>
            <a:ext cx="1371600" cy="219456"/>
          </a:xfrm>
          <a:prstGeom prst="rect">
            <a:avLst/>
          </a:prstGeom>
          <a:noFill/>
          <a:ln/>
        </p:spPr>
        <p:txBody>
          <a:bodyPr wrap="square" rtlCol="0" anchor="ctr"/>
          <a:lstStyle/>
          <a:p>
            <a:pPr algn="r" indent="0" marL="0">
              <a:buNone/>
            </a:pPr>
            <a:r>
              <a:rPr lang="en-US" sz="950" dirty="0">
                <a:solidFill>
                  <a:srgbClr val="388E3C"/>
                </a:solidFill>
                <a:latin typeface="Calibri" pitchFamily="34" charset="0"/>
                <a:ea typeface="Calibri" pitchFamily="34" charset="-122"/>
                <a:cs typeface="Calibri" pitchFamily="34" charset="-120"/>
              </a:rPr>
              <a:t>LED → OFF</a:t>
            </a:r>
            <a:endParaRPr lang="en-US" sz="950" dirty="0"/>
          </a:p>
        </p:txBody>
      </p:sp>
      <p:sp>
        <p:nvSpPr>
          <p:cNvPr id="79" name="Shape 77"/>
          <p:cNvSpPr/>
          <p:nvPr/>
        </p:nvSpPr>
        <p:spPr>
          <a:xfrm>
            <a:off x="274320" y="4983480"/>
            <a:ext cx="6766560" cy="1463040"/>
          </a:xfrm>
          <a:prstGeom prst="roundRect">
            <a:avLst>
              <a:gd name="adj" fmla="val 6250"/>
            </a:avLst>
          </a:prstGeom>
          <a:solidFill>
            <a:srgbClr val="E8F4FD"/>
          </a:solidFill>
          <a:ln w="9525">
            <a:solidFill>
              <a:srgbClr val="BBDEFB"/>
            </a:solidFill>
            <a:prstDash val="solid"/>
          </a:ln>
        </p:spPr>
      </p:sp>
      <p:sp>
        <p:nvSpPr>
          <p:cNvPr id="80" name="Text 78"/>
          <p:cNvSpPr/>
          <p:nvPr/>
        </p:nvSpPr>
        <p:spPr>
          <a:xfrm>
            <a:off x="411480" y="5047488"/>
            <a:ext cx="6492240" cy="256032"/>
          </a:xfrm>
          <a:prstGeom prst="rect">
            <a:avLst/>
          </a:prstGeom>
          <a:noFill/>
          <a:ln/>
        </p:spPr>
        <p:txBody>
          <a:bodyPr wrap="square" rtlCol="0" anchor="ctr"/>
          <a:lstStyle/>
          <a:p>
            <a:pPr indent="0" marL="0">
              <a:buNone/>
            </a:pPr>
            <a:r>
              <a:rPr lang="en-US" sz="1100" b="1" dirty="0">
                <a:solidFill>
                  <a:srgbClr val="0D2B5E"/>
                </a:solidFill>
                <a:latin typeface="Calibri" pitchFamily="34" charset="0"/>
                <a:ea typeface="Calibri" pitchFamily="34" charset="-122"/>
                <a:cs typeface="Calibri" pitchFamily="34" charset="-120"/>
              </a:rPr>
              <a:t>LED Mode Decision Table</a:t>
            </a:r>
            <a:endParaRPr lang="en-US" sz="1100" dirty="0"/>
          </a:p>
        </p:txBody>
      </p:sp>
      <p:sp>
        <p:nvSpPr>
          <p:cNvPr id="81" name="Shape 79"/>
          <p:cNvSpPr/>
          <p:nvPr/>
        </p:nvSpPr>
        <p:spPr>
          <a:xfrm>
            <a:off x="365760" y="5349240"/>
            <a:ext cx="1664208" cy="256032"/>
          </a:xfrm>
          <a:prstGeom prst="rect">
            <a:avLst/>
          </a:prstGeom>
          <a:solidFill>
            <a:srgbClr val="1565C0"/>
          </a:solidFill>
          <a:ln w="12700">
            <a:solidFill>
              <a:srgbClr val="1565C0"/>
            </a:solidFill>
            <a:prstDash val="solid"/>
          </a:ln>
        </p:spPr>
      </p:sp>
      <p:sp>
        <p:nvSpPr>
          <p:cNvPr id="82" name="Text 80"/>
          <p:cNvSpPr/>
          <p:nvPr/>
        </p:nvSpPr>
        <p:spPr>
          <a:xfrm>
            <a:off x="411480" y="5367528"/>
            <a:ext cx="1554480" cy="23774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Mode</a:t>
            </a:r>
            <a:endParaRPr lang="en-US" sz="950" dirty="0"/>
          </a:p>
        </p:txBody>
      </p:sp>
      <p:sp>
        <p:nvSpPr>
          <p:cNvPr id="83" name="Shape 81"/>
          <p:cNvSpPr/>
          <p:nvPr/>
        </p:nvSpPr>
        <p:spPr>
          <a:xfrm>
            <a:off x="2029968" y="5349240"/>
            <a:ext cx="1664208" cy="256032"/>
          </a:xfrm>
          <a:prstGeom prst="rect">
            <a:avLst/>
          </a:prstGeom>
          <a:solidFill>
            <a:srgbClr val="1565C0"/>
          </a:solidFill>
          <a:ln w="12700">
            <a:solidFill>
              <a:srgbClr val="1565C0"/>
            </a:solidFill>
            <a:prstDash val="solid"/>
          </a:ln>
        </p:spPr>
      </p:sp>
      <p:sp>
        <p:nvSpPr>
          <p:cNvPr id="84" name="Text 82"/>
          <p:cNvSpPr/>
          <p:nvPr/>
        </p:nvSpPr>
        <p:spPr>
          <a:xfrm>
            <a:off x="2075688" y="5367528"/>
            <a:ext cx="1554480" cy="23774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Condition</a:t>
            </a:r>
            <a:endParaRPr lang="en-US" sz="950" dirty="0"/>
          </a:p>
        </p:txBody>
      </p:sp>
      <p:sp>
        <p:nvSpPr>
          <p:cNvPr id="85" name="Shape 83"/>
          <p:cNvSpPr/>
          <p:nvPr/>
        </p:nvSpPr>
        <p:spPr>
          <a:xfrm>
            <a:off x="3694176" y="5349240"/>
            <a:ext cx="1664208" cy="256032"/>
          </a:xfrm>
          <a:prstGeom prst="rect">
            <a:avLst/>
          </a:prstGeom>
          <a:solidFill>
            <a:srgbClr val="1565C0"/>
          </a:solidFill>
          <a:ln w="12700">
            <a:solidFill>
              <a:srgbClr val="1565C0"/>
            </a:solidFill>
            <a:prstDash val="solid"/>
          </a:ln>
        </p:spPr>
      </p:sp>
      <p:sp>
        <p:nvSpPr>
          <p:cNvPr id="86" name="Text 84"/>
          <p:cNvSpPr/>
          <p:nvPr/>
        </p:nvSpPr>
        <p:spPr>
          <a:xfrm>
            <a:off x="3739896" y="5367528"/>
            <a:ext cx="1554480" cy="23774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LED Status</a:t>
            </a:r>
            <a:endParaRPr lang="en-US" sz="950" dirty="0"/>
          </a:p>
        </p:txBody>
      </p:sp>
      <p:sp>
        <p:nvSpPr>
          <p:cNvPr id="87" name="Shape 85"/>
          <p:cNvSpPr/>
          <p:nvPr/>
        </p:nvSpPr>
        <p:spPr>
          <a:xfrm>
            <a:off x="5358384" y="5349240"/>
            <a:ext cx="1664208" cy="256032"/>
          </a:xfrm>
          <a:prstGeom prst="rect">
            <a:avLst/>
          </a:prstGeom>
          <a:solidFill>
            <a:srgbClr val="1565C0"/>
          </a:solidFill>
          <a:ln w="12700">
            <a:solidFill>
              <a:srgbClr val="1565C0"/>
            </a:solidFill>
            <a:prstDash val="solid"/>
          </a:ln>
        </p:spPr>
      </p:sp>
      <p:sp>
        <p:nvSpPr>
          <p:cNvPr id="88" name="Text 86"/>
          <p:cNvSpPr/>
          <p:nvPr/>
        </p:nvSpPr>
        <p:spPr>
          <a:xfrm>
            <a:off x="5404104" y="5367528"/>
            <a:ext cx="1554480" cy="23774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Use Case</a:t>
            </a:r>
            <a:endParaRPr lang="en-US" sz="950" dirty="0"/>
          </a:p>
        </p:txBody>
      </p:sp>
      <p:sp>
        <p:nvSpPr>
          <p:cNvPr id="89" name="Text 87"/>
          <p:cNvSpPr/>
          <p:nvPr/>
        </p:nvSpPr>
        <p:spPr>
          <a:xfrm>
            <a:off x="411480" y="5650992"/>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auto</a:t>
            </a:r>
            <a:endParaRPr lang="en-US" sz="950" dirty="0"/>
          </a:p>
        </p:txBody>
      </p:sp>
      <p:sp>
        <p:nvSpPr>
          <p:cNvPr id="90" name="Text 88"/>
          <p:cNvSpPr/>
          <p:nvPr/>
        </p:nvSpPr>
        <p:spPr>
          <a:xfrm>
            <a:off x="2075688" y="5650992"/>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value ≥ threshold</a:t>
            </a:r>
            <a:endParaRPr lang="en-US" sz="950" dirty="0"/>
          </a:p>
        </p:txBody>
      </p:sp>
      <p:sp>
        <p:nvSpPr>
          <p:cNvPr id="91" name="Text 89"/>
          <p:cNvSpPr/>
          <p:nvPr/>
        </p:nvSpPr>
        <p:spPr>
          <a:xfrm>
            <a:off x="3739896" y="5650992"/>
            <a:ext cx="1554480" cy="237744"/>
          </a:xfrm>
          <a:prstGeom prst="rect">
            <a:avLst/>
          </a:prstGeom>
          <a:noFill/>
          <a:ln/>
        </p:spPr>
        <p:txBody>
          <a:bodyPr wrap="square" rtlCol="0" anchor="ctr"/>
          <a:lstStyle/>
          <a:p>
            <a:pPr indent="0" marL="0">
              <a:buNone/>
            </a:pPr>
            <a:r>
              <a:rPr lang="en-US" sz="950" b="1" dirty="0">
                <a:solidFill>
                  <a:srgbClr val="B71C1C"/>
                </a:solidFill>
                <a:latin typeface="Calibri" pitchFamily="34" charset="0"/>
                <a:ea typeface="Calibri" pitchFamily="34" charset="-122"/>
                <a:cs typeface="Calibri" pitchFamily="34" charset="-120"/>
              </a:rPr>
              <a:t>OFF</a:t>
            </a:r>
            <a:endParaRPr lang="en-US" sz="950" dirty="0"/>
          </a:p>
        </p:txBody>
      </p:sp>
      <p:sp>
        <p:nvSpPr>
          <p:cNvPr id="92" name="Text 90"/>
          <p:cNvSpPr/>
          <p:nvPr/>
        </p:nvSpPr>
        <p:spPr>
          <a:xfrm>
            <a:off x="5404104" y="5650992"/>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Normal energy-saving</a:t>
            </a:r>
            <a:endParaRPr lang="en-US" sz="950" dirty="0"/>
          </a:p>
        </p:txBody>
      </p:sp>
      <p:sp>
        <p:nvSpPr>
          <p:cNvPr id="93" name="Text 91"/>
          <p:cNvSpPr/>
          <p:nvPr/>
        </p:nvSpPr>
        <p:spPr>
          <a:xfrm>
            <a:off x="411480" y="5934456"/>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auto</a:t>
            </a:r>
            <a:endParaRPr lang="en-US" sz="950" dirty="0"/>
          </a:p>
        </p:txBody>
      </p:sp>
      <p:sp>
        <p:nvSpPr>
          <p:cNvPr id="94" name="Text 92"/>
          <p:cNvSpPr/>
          <p:nvPr/>
        </p:nvSpPr>
        <p:spPr>
          <a:xfrm>
            <a:off x="2075688" y="5934456"/>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value &lt; threshold</a:t>
            </a:r>
            <a:endParaRPr lang="en-US" sz="950" dirty="0"/>
          </a:p>
        </p:txBody>
      </p:sp>
      <p:sp>
        <p:nvSpPr>
          <p:cNvPr id="95" name="Text 93"/>
          <p:cNvSpPr/>
          <p:nvPr/>
        </p:nvSpPr>
        <p:spPr>
          <a:xfrm>
            <a:off x="3739896" y="5934456"/>
            <a:ext cx="1554480" cy="237744"/>
          </a:xfrm>
          <a:prstGeom prst="rect">
            <a:avLst/>
          </a:prstGeom>
          <a:noFill/>
          <a:ln/>
        </p:spPr>
        <p:txBody>
          <a:bodyPr wrap="square" rtlCol="0" anchor="ctr"/>
          <a:lstStyle/>
          <a:p>
            <a:pPr indent="0" marL="0">
              <a:buNone/>
            </a:pPr>
            <a:r>
              <a:rPr lang="en-US" sz="950" b="1" dirty="0">
                <a:solidFill>
                  <a:srgbClr val="388E3C"/>
                </a:solidFill>
                <a:latin typeface="Calibri" pitchFamily="34" charset="0"/>
                <a:ea typeface="Calibri" pitchFamily="34" charset="-122"/>
                <a:cs typeface="Calibri" pitchFamily="34" charset="-120"/>
              </a:rPr>
              <a:t>ON</a:t>
            </a:r>
            <a:endParaRPr lang="en-US" sz="950" dirty="0"/>
          </a:p>
        </p:txBody>
      </p:sp>
      <p:sp>
        <p:nvSpPr>
          <p:cNvPr id="96" name="Text 94"/>
          <p:cNvSpPr/>
          <p:nvPr/>
        </p:nvSpPr>
        <p:spPr>
          <a:xfrm>
            <a:off x="5404104" y="5934456"/>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Room too dark</a:t>
            </a:r>
            <a:endParaRPr lang="en-US" sz="950" dirty="0"/>
          </a:p>
        </p:txBody>
      </p:sp>
      <p:sp>
        <p:nvSpPr>
          <p:cNvPr id="97" name="Text 95"/>
          <p:cNvSpPr/>
          <p:nvPr/>
        </p:nvSpPr>
        <p:spPr>
          <a:xfrm>
            <a:off x="411480" y="6217920"/>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on</a:t>
            </a:r>
            <a:endParaRPr lang="en-US" sz="950" dirty="0"/>
          </a:p>
        </p:txBody>
      </p:sp>
      <p:sp>
        <p:nvSpPr>
          <p:cNvPr id="98" name="Text 96"/>
          <p:cNvSpPr/>
          <p:nvPr/>
        </p:nvSpPr>
        <p:spPr>
          <a:xfrm>
            <a:off x="2075688" y="6217920"/>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(any)</a:t>
            </a:r>
            <a:endParaRPr lang="en-US" sz="950" dirty="0"/>
          </a:p>
        </p:txBody>
      </p:sp>
      <p:sp>
        <p:nvSpPr>
          <p:cNvPr id="99" name="Text 97"/>
          <p:cNvSpPr/>
          <p:nvPr/>
        </p:nvSpPr>
        <p:spPr>
          <a:xfrm>
            <a:off x="3739896" y="6217920"/>
            <a:ext cx="1554480" cy="237744"/>
          </a:xfrm>
          <a:prstGeom prst="rect">
            <a:avLst/>
          </a:prstGeom>
          <a:noFill/>
          <a:ln/>
        </p:spPr>
        <p:txBody>
          <a:bodyPr wrap="square" rtlCol="0" anchor="ctr"/>
          <a:lstStyle/>
          <a:p>
            <a:pPr indent="0" marL="0">
              <a:buNone/>
            </a:pPr>
            <a:r>
              <a:rPr lang="en-US" sz="950" b="1" dirty="0">
                <a:solidFill>
                  <a:srgbClr val="388E3C"/>
                </a:solidFill>
                <a:latin typeface="Calibri" pitchFamily="34" charset="0"/>
                <a:ea typeface="Calibri" pitchFamily="34" charset="-122"/>
                <a:cs typeface="Calibri" pitchFamily="34" charset="-120"/>
              </a:rPr>
              <a:t>ON</a:t>
            </a:r>
            <a:endParaRPr lang="en-US" sz="950" dirty="0"/>
          </a:p>
        </p:txBody>
      </p:sp>
      <p:sp>
        <p:nvSpPr>
          <p:cNvPr id="100" name="Text 98"/>
          <p:cNvSpPr/>
          <p:nvPr/>
        </p:nvSpPr>
        <p:spPr>
          <a:xfrm>
            <a:off x="5404104" y="6217920"/>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Force on override</a:t>
            </a:r>
            <a:endParaRPr lang="en-US" sz="950" dirty="0"/>
          </a:p>
        </p:txBody>
      </p:sp>
      <p:sp>
        <p:nvSpPr>
          <p:cNvPr id="101" name="Text 99"/>
          <p:cNvSpPr/>
          <p:nvPr/>
        </p:nvSpPr>
        <p:spPr>
          <a:xfrm>
            <a:off x="411480" y="6501384"/>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off</a:t>
            </a:r>
            <a:endParaRPr lang="en-US" sz="950" dirty="0"/>
          </a:p>
        </p:txBody>
      </p:sp>
      <p:sp>
        <p:nvSpPr>
          <p:cNvPr id="102" name="Text 100"/>
          <p:cNvSpPr/>
          <p:nvPr/>
        </p:nvSpPr>
        <p:spPr>
          <a:xfrm>
            <a:off x="2075688" y="6501384"/>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(any)</a:t>
            </a:r>
            <a:endParaRPr lang="en-US" sz="950" dirty="0"/>
          </a:p>
        </p:txBody>
      </p:sp>
      <p:sp>
        <p:nvSpPr>
          <p:cNvPr id="103" name="Text 101"/>
          <p:cNvSpPr/>
          <p:nvPr/>
        </p:nvSpPr>
        <p:spPr>
          <a:xfrm>
            <a:off x="3739896" y="6501384"/>
            <a:ext cx="1554480" cy="237744"/>
          </a:xfrm>
          <a:prstGeom prst="rect">
            <a:avLst/>
          </a:prstGeom>
          <a:noFill/>
          <a:ln/>
        </p:spPr>
        <p:txBody>
          <a:bodyPr wrap="square" rtlCol="0" anchor="ctr"/>
          <a:lstStyle/>
          <a:p>
            <a:pPr indent="0" marL="0">
              <a:buNone/>
            </a:pPr>
            <a:r>
              <a:rPr lang="en-US" sz="950" b="1" dirty="0">
                <a:solidFill>
                  <a:srgbClr val="B71C1C"/>
                </a:solidFill>
                <a:latin typeface="Calibri" pitchFamily="34" charset="0"/>
                <a:ea typeface="Calibri" pitchFamily="34" charset="-122"/>
                <a:cs typeface="Calibri" pitchFamily="34" charset="-120"/>
              </a:rPr>
              <a:t>OFF</a:t>
            </a:r>
            <a:endParaRPr lang="en-US" sz="950" dirty="0"/>
          </a:p>
        </p:txBody>
      </p:sp>
      <p:sp>
        <p:nvSpPr>
          <p:cNvPr id="104" name="Text 102"/>
          <p:cNvSpPr/>
          <p:nvPr/>
        </p:nvSpPr>
        <p:spPr>
          <a:xfrm>
            <a:off x="5404104" y="6501384"/>
            <a:ext cx="1554480" cy="237744"/>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Force off override</a:t>
            </a:r>
            <a:endParaRPr lang="en-US" sz="950" dirty="0"/>
          </a:p>
        </p:txBody>
      </p:sp>
      <p:sp>
        <p:nvSpPr>
          <p:cNvPr id="105" name="Text 103"/>
          <p:cNvSpPr/>
          <p:nvPr/>
        </p:nvSpPr>
        <p:spPr>
          <a:xfrm>
            <a:off x="7315200" y="3657600"/>
            <a:ext cx="4572000" cy="310896"/>
          </a:xfrm>
          <a:prstGeom prst="rect">
            <a:avLst/>
          </a:prstGeom>
          <a:noFill/>
          <a:ln/>
        </p:spPr>
        <p:txBody>
          <a:bodyPr wrap="square" rtlCol="0" anchor="ctr"/>
          <a:lstStyle/>
          <a:p>
            <a:pPr algn="ctr" indent="0" marL="0">
              <a:buNone/>
            </a:pPr>
            <a:r>
              <a:rPr lang="en-US" sz="1200" b="1" dirty="0">
                <a:solidFill>
                  <a:srgbClr val="0D2B5E"/>
                </a:solidFill>
                <a:latin typeface="Calibri" pitchFamily="34" charset="0"/>
                <a:ea typeface="Calibri" pitchFamily="34" charset="-122"/>
                <a:cs typeface="Calibri" pitchFamily="34" charset="-120"/>
              </a:rPr>
              <a:t>ADC Range Visualisation</a:t>
            </a:r>
            <a:endParaRPr lang="en-US" sz="1200" dirty="0"/>
          </a:p>
        </p:txBody>
      </p:sp>
      <p:sp>
        <p:nvSpPr>
          <p:cNvPr id="106" name="Shape 104"/>
          <p:cNvSpPr/>
          <p:nvPr/>
        </p:nvSpPr>
        <p:spPr>
          <a:xfrm>
            <a:off x="7315200" y="3968496"/>
            <a:ext cx="4572000" cy="16459"/>
          </a:xfrm>
          <a:prstGeom prst="rect">
            <a:avLst/>
          </a:prstGeom>
          <a:solidFill>
            <a:srgbClr val="BBDEFB"/>
          </a:solidFill>
          <a:ln/>
        </p:spPr>
      </p:sp>
      <p:sp>
        <p:nvSpPr>
          <p:cNvPr id="107" name="Text 105"/>
          <p:cNvSpPr/>
          <p:nvPr/>
        </p:nvSpPr>
        <p:spPr>
          <a:xfrm>
            <a:off x="7360920" y="4251960"/>
            <a:ext cx="1234440" cy="256032"/>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Very Dark</a:t>
            </a:r>
            <a:endParaRPr lang="en-US" sz="950" dirty="0"/>
          </a:p>
        </p:txBody>
      </p:sp>
      <p:sp>
        <p:nvSpPr>
          <p:cNvPr id="108" name="Shape 106"/>
          <p:cNvSpPr/>
          <p:nvPr/>
        </p:nvSpPr>
        <p:spPr>
          <a:xfrm>
            <a:off x="8641080" y="4215384"/>
            <a:ext cx="241402" cy="292608"/>
          </a:xfrm>
          <a:prstGeom prst="rect">
            <a:avLst/>
          </a:prstGeom>
          <a:solidFill>
            <a:srgbClr val="B71C1C"/>
          </a:solidFill>
          <a:ln w="12700">
            <a:solidFill>
              <a:srgbClr val="B71C1C"/>
            </a:solidFill>
            <a:prstDash val="solid"/>
          </a:ln>
        </p:spPr>
      </p:sp>
      <p:sp>
        <p:nvSpPr>
          <p:cNvPr id="109" name="Text 107"/>
          <p:cNvSpPr/>
          <p:nvPr/>
        </p:nvSpPr>
        <p:spPr>
          <a:xfrm>
            <a:off x="8928202" y="4251960"/>
            <a:ext cx="457200" cy="256032"/>
          </a:xfrm>
          <a:prstGeom prst="rect">
            <a:avLst/>
          </a:prstGeom>
          <a:noFill/>
          <a:ln/>
        </p:spPr>
        <p:txBody>
          <a:bodyPr wrap="square" rtlCol="0" anchor="ctr"/>
          <a:lstStyle/>
          <a:p>
            <a:pPr indent="0" marL="0">
              <a:buNone/>
            </a:pPr>
            <a:r>
              <a:rPr lang="en-US" sz="950" b="1" dirty="0">
                <a:solidFill>
                  <a:srgbClr val="B71C1C"/>
                </a:solidFill>
                <a:latin typeface="Calibri" pitchFamily="34" charset="0"/>
                <a:ea typeface="Calibri" pitchFamily="34" charset="-122"/>
                <a:cs typeface="Calibri" pitchFamily="34" charset="-120"/>
              </a:rPr>
              <a:t>8%</a:t>
            </a:r>
            <a:endParaRPr lang="en-US" sz="950" dirty="0"/>
          </a:p>
        </p:txBody>
      </p:sp>
      <p:sp>
        <p:nvSpPr>
          <p:cNvPr id="110" name="Text 108"/>
          <p:cNvSpPr/>
          <p:nvPr/>
        </p:nvSpPr>
        <p:spPr>
          <a:xfrm>
            <a:off x="7360920" y="4727448"/>
            <a:ext cx="1234440" cy="256032"/>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Dim</a:t>
            </a:r>
            <a:endParaRPr lang="en-US" sz="950" dirty="0"/>
          </a:p>
        </p:txBody>
      </p:sp>
      <p:sp>
        <p:nvSpPr>
          <p:cNvPr id="111" name="Shape 109"/>
          <p:cNvSpPr/>
          <p:nvPr/>
        </p:nvSpPr>
        <p:spPr>
          <a:xfrm>
            <a:off x="8641080" y="4690872"/>
            <a:ext cx="754380" cy="292608"/>
          </a:xfrm>
          <a:prstGeom prst="rect">
            <a:avLst/>
          </a:prstGeom>
          <a:solidFill>
            <a:srgbClr val="D84315"/>
          </a:solidFill>
          <a:ln w="12700">
            <a:solidFill>
              <a:srgbClr val="D84315"/>
            </a:solidFill>
            <a:prstDash val="solid"/>
          </a:ln>
        </p:spPr>
      </p:sp>
      <p:sp>
        <p:nvSpPr>
          <p:cNvPr id="112" name="Text 110"/>
          <p:cNvSpPr/>
          <p:nvPr/>
        </p:nvSpPr>
        <p:spPr>
          <a:xfrm>
            <a:off x="9441180" y="4727448"/>
            <a:ext cx="457200" cy="256032"/>
          </a:xfrm>
          <a:prstGeom prst="rect">
            <a:avLst/>
          </a:prstGeom>
          <a:noFill/>
          <a:ln/>
        </p:spPr>
        <p:txBody>
          <a:bodyPr wrap="square" rtlCol="0" anchor="ctr"/>
          <a:lstStyle/>
          <a:p>
            <a:pPr indent="0" marL="0">
              <a:buNone/>
            </a:pPr>
            <a:r>
              <a:rPr lang="en-US" sz="950" b="1" dirty="0">
                <a:solidFill>
                  <a:srgbClr val="D84315"/>
                </a:solidFill>
                <a:latin typeface="Calibri" pitchFamily="34" charset="0"/>
                <a:ea typeface="Calibri" pitchFamily="34" charset="-122"/>
                <a:cs typeface="Calibri" pitchFamily="34" charset="-120"/>
              </a:rPr>
              <a:t>25%</a:t>
            </a:r>
            <a:endParaRPr lang="en-US" sz="950" dirty="0"/>
          </a:p>
        </p:txBody>
      </p:sp>
      <p:sp>
        <p:nvSpPr>
          <p:cNvPr id="113" name="Text 111"/>
          <p:cNvSpPr/>
          <p:nvPr/>
        </p:nvSpPr>
        <p:spPr>
          <a:xfrm>
            <a:off x="7360920" y="5202936"/>
            <a:ext cx="1234440" cy="256032"/>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Balanced</a:t>
            </a:r>
            <a:endParaRPr lang="en-US" sz="950" dirty="0"/>
          </a:p>
        </p:txBody>
      </p:sp>
      <p:sp>
        <p:nvSpPr>
          <p:cNvPr id="114" name="Shape 112"/>
          <p:cNvSpPr/>
          <p:nvPr/>
        </p:nvSpPr>
        <p:spPr>
          <a:xfrm>
            <a:off x="8641080" y="5166360"/>
            <a:ext cx="1508760" cy="292608"/>
          </a:xfrm>
          <a:prstGeom prst="rect">
            <a:avLst/>
          </a:prstGeom>
          <a:solidFill>
            <a:srgbClr val="F57F17"/>
          </a:solidFill>
          <a:ln w="12700">
            <a:solidFill>
              <a:srgbClr val="F57F17"/>
            </a:solidFill>
            <a:prstDash val="solid"/>
          </a:ln>
        </p:spPr>
      </p:sp>
      <p:sp>
        <p:nvSpPr>
          <p:cNvPr id="115" name="Text 113"/>
          <p:cNvSpPr/>
          <p:nvPr/>
        </p:nvSpPr>
        <p:spPr>
          <a:xfrm>
            <a:off x="10195560" y="5202936"/>
            <a:ext cx="457200" cy="256032"/>
          </a:xfrm>
          <a:prstGeom prst="rect">
            <a:avLst/>
          </a:prstGeom>
          <a:noFill/>
          <a:ln/>
        </p:spPr>
        <p:txBody>
          <a:bodyPr wrap="square" rtlCol="0" anchor="ctr"/>
          <a:lstStyle/>
          <a:p>
            <a:pPr indent="0" marL="0">
              <a:buNone/>
            </a:pPr>
            <a:r>
              <a:rPr lang="en-US" sz="950" b="1" dirty="0">
                <a:solidFill>
                  <a:srgbClr val="F57F17"/>
                </a:solidFill>
                <a:latin typeface="Calibri" pitchFamily="34" charset="0"/>
                <a:ea typeface="Calibri" pitchFamily="34" charset="-122"/>
                <a:cs typeface="Calibri" pitchFamily="34" charset="-120"/>
              </a:rPr>
              <a:t>50%</a:t>
            </a:r>
            <a:endParaRPr lang="en-US" sz="950" dirty="0"/>
          </a:p>
        </p:txBody>
      </p:sp>
      <p:sp>
        <p:nvSpPr>
          <p:cNvPr id="116" name="Text 114"/>
          <p:cNvSpPr/>
          <p:nvPr/>
        </p:nvSpPr>
        <p:spPr>
          <a:xfrm>
            <a:off x="7360920" y="5678424"/>
            <a:ext cx="1234440" cy="256032"/>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Bright</a:t>
            </a:r>
            <a:endParaRPr lang="en-US" sz="950" dirty="0"/>
          </a:p>
        </p:txBody>
      </p:sp>
      <p:sp>
        <p:nvSpPr>
          <p:cNvPr id="117" name="Shape 115"/>
          <p:cNvSpPr/>
          <p:nvPr/>
        </p:nvSpPr>
        <p:spPr>
          <a:xfrm>
            <a:off x="8641080" y="5641848"/>
            <a:ext cx="2172614" cy="292608"/>
          </a:xfrm>
          <a:prstGeom prst="rect">
            <a:avLst/>
          </a:prstGeom>
          <a:solidFill>
            <a:srgbClr val="4CAF50"/>
          </a:solidFill>
          <a:ln w="12700">
            <a:solidFill>
              <a:srgbClr val="4CAF50"/>
            </a:solidFill>
            <a:prstDash val="solid"/>
          </a:ln>
        </p:spPr>
      </p:sp>
      <p:sp>
        <p:nvSpPr>
          <p:cNvPr id="118" name="Text 116"/>
          <p:cNvSpPr/>
          <p:nvPr/>
        </p:nvSpPr>
        <p:spPr>
          <a:xfrm>
            <a:off x="10859414" y="5678424"/>
            <a:ext cx="457200" cy="256032"/>
          </a:xfrm>
          <a:prstGeom prst="rect">
            <a:avLst/>
          </a:prstGeom>
          <a:noFill/>
          <a:ln/>
        </p:spPr>
        <p:txBody>
          <a:bodyPr wrap="square" rtlCol="0" anchor="ctr"/>
          <a:lstStyle/>
          <a:p>
            <a:pPr indent="0" marL="0">
              <a:buNone/>
            </a:pPr>
            <a:r>
              <a:rPr lang="en-US" sz="950" b="1" dirty="0">
                <a:solidFill>
                  <a:srgbClr val="4CAF50"/>
                </a:solidFill>
                <a:latin typeface="Calibri" pitchFamily="34" charset="0"/>
                <a:ea typeface="Calibri" pitchFamily="34" charset="-122"/>
                <a:cs typeface="Calibri" pitchFamily="34" charset="-120"/>
              </a:rPr>
              <a:t>72%</a:t>
            </a:r>
            <a:endParaRPr lang="en-US" sz="950" dirty="0"/>
          </a:p>
        </p:txBody>
      </p:sp>
      <p:sp>
        <p:nvSpPr>
          <p:cNvPr id="119" name="Text 117"/>
          <p:cNvSpPr/>
          <p:nvPr/>
        </p:nvSpPr>
        <p:spPr>
          <a:xfrm>
            <a:off x="7360920" y="6153912"/>
            <a:ext cx="1234440" cy="256032"/>
          </a:xfrm>
          <a:prstGeom prst="rect">
            <a:avLst/>
          </a:prstGeom>
          <a:noFill/>
          <a:ln/>
        </p:spPr>
        <p:txBody>
          <a:bodyPr wrap="square" rtlCol="0" anchor="ctr"/>
          <a:lstStyle/>
          <a:p>
            <a:pPr indent="0" marL="0">
              <a:buNone/>
            </a:pPr>
            <a:r>
              <a:rPr lang="en-US" sz="950" dirty="0">
                <a:solidFill>
                  <a:srgbClr val="37474F"/>
                </a:solidFill>
                <a:latin typeface="Calibri" pitchFamily="34" charset="0"/>
                <a:ea typeface="Calibri" pitchFamily="34" charset="-122"/>
                <a:cs typeface="Calibri" pitchFamily="34" charset="-120"/>
              </a:rPr>
              <a:t>Very Bright</a:t>
            </a:r>
            <a:endParaRPr lang="en-US" sz="950" dirty="0"/>
          </a:p>
        </p:txBody>
      </p:sp>
      <p:sp>
        <p:nvSpPr>
          <p:cNvPr id="120" name="Shape 118"/>
          <p:cNvSpPr/>
          <p:nvPr/>
        </p:nvSpPr>
        <p:spPr>
          <a:xfrm>
            <a:off x="8641080" y="6117336"/>
            <a:ext cx="2866644" cy="292608"/>
          </a:xfrm>
          <a:prstGeom prst="rect">
            <a:avLst/>
          </a:prstGeom>
          <a:solidFill>
            <a:srgbClr val="388E3C"/>
          </a:solidFill>
          <a:ln w="12700">
            <a:solidFill>
              <a:srgbClr val="388E3C"/>
            </a:solidFill>
            <a:prstDash val="solid"/>
          </a:ln>
        </p:spPr>
      </p:sp>
      <p:sp>
        <p:nvSpPr>
          <p:cNvPr id="121" name="Text 119"/>
          <p:cNvSpPr/>
          <p:nvPr/>
        </p:nvSpPr>
        <p:spPr>
          <a:xfrm>
            <a:off x="11553444" y="6153912"/>
            <a:ext cx="457200" cy="256032"/>
          </a:xfrm>
          <a:prstGeom prst="rect">
            <a:avLst/>
          </a:prstGeom>
          <a:noFill/>
          <a:ln/>
        </p:spPr>
        <p:txBody>
          <a:bodyPr wrap="square" rtlCol="0" anchor="ctr"/>
          <a:lstStyle/>
          <a:p>
            <a:pPr indent="0" marL="0">
              <a:buNone/>
            </a:pPr>
            <a:r>
              <a:rPr lang="en-US" sz="950" b="1" dirty="0">
                <a:solidFill>
                  <a:srgbClr val="388E3C"/>
                </a:solidFill>
                <a:latin typeface="Calibri" pitchFamily="34" charset="0"/>
                <a:ea typeface="Calibri" pitchFamily="34" charset="-122"/>
                <a:cs typeface="Calibri" pitchFamily="34" charset="-120"/>
              </a:rPr>
              <a:t>95%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7</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Performance &amp; Results</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7 of 10</a:t>
            </a:r>
            <a:endParaRPr lang="en-US" sz="750" dirty="0"/>
          </a:p>
        </p:txBody>
      </p:sp>
      <p:sp>
        <p:nvSpPr>
          <p:cNvPr id="10" name="Text 8"/>
          <p:cNvSpPr/>
          <p:nvPr/>
        </p:nvSpPr>
        <p:spPr>
          <a:xfrm>
            <a:off x="320040" y="950976"/>
            <a:ext cx="11521440" cy="274320"/>
          </a:xfrm>
          <a:prstGeom prst="rect">
            <a:avLst/>
          </a:prstGeom>
          <a:noFill/>
          <a:ln/>
        </p:spPr>
        <p:txBody>
          <a:bodyPr wrap="square" rtlCol="0" anchor="ctr"/>
          <a:lstStyle/>
          <a:p>
            <a:pPr algn="ctr" indent="0" marL="0">
              <a:buNone/>
            </a:pPr>
            <a:r>
              <a:rPr lang="en-US" sz="1150" i="1" dirty="0">
                <a:solidFill>
                  <a:srgbClr val="78909C"/>
                </a:solidFill>
                <a:latin typeface="Calibri" pitchFamily="34" charset="0"/>
                <a:ea typeface="Calibri" pitchFamily="34" charset="-122"/>
                <a:cs typeface="Calibri" pitchFamily="34" charset="-120"/>
              </a:rPr>
              <a:t>System performed reliably in simulation with real-time monitoring and automated control.</a:t>
            </a:r>
            <a:endParaRPr lang="en-US" sz="1150" dirty="0"/>
          </a:p>
        </p:txBody>
      </p:sp>
      <p:sp>
        <p:nvSpPr>
          <p:cNvPr id="11" name="Shape 9"/>
          <p:cNvSpPr/>
          <p:nvPr/>
        </p:nvSpPr>
        <p:spPr>
          <a:xfrm>
            <a:off x="320040" y="1325880"/>
            <a:ext cx="1828800" cy="1115568"/>
          </a:xfrm>
          <a:prstGeom prst="roundRect">
            <a:avLst>
              <a:gd name="adj" fmla="val 8197"/>
            </a:avLst>
          </a:prstGeom>
          <a:solidFill>
            <a:srgbClr val="1565C0"/>
          </a:solidFill>
          <a:ln w="12700">
            <a:solidFill>
              <a:srgbClr val="1565C0"/>
            </a:solidFill>
            <a:prstDash val="solid"/>
          </a:ln>
        </p:spPr>
      </p:sp>
      <p:sp>
        <p:nvSpPr>
          <p:cNvPr id="12" name="Text 10"/>
          <p:cNvSpPr/>
          <p:nvPr/>
        </p:nvSpPr>
        <p:spPr>
          <a:xfrm>
            <a:off x="320040" y="143560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13" name="Text 11"/>
          <p:cNvSpPr/>
          <p:nvPr/>
        </p:nvSpPr>
        <p:spPr>
          <a:xfrm>
            <a:off x="320040" y="189280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seconds</a:t>
            </a:r>
            <a:endParaRPr lang="en-US" sz="1000" dirty="0"/>
          </a:p>
        </p:txBody>
      </p:sp>
      <p:sp>
        <p:nvSpPr>
          <p:cNvPr id="14" name="Shape 12"/>
          <p:cNvSpPr/>
          <p:nvPr/>
        </p:nvSpPr>
        <p:spPr>
          <a:xfrm>
            <a:off x="502920" y="2093976"/>
            <a:ext cx="1463040" cy="13716"/>
          </a:xfrm>
          <a:prstGeom prst="rect">
            <a:avLst/>
          </a:prstGeom>
          <a:solidFill>
            <a:srgbClr val="FFFFFF">
              <a:alpha val="40000"/>
            </a:srgbClr>
          </a:solidFill>
          <a:ln/>
        </p:spPr>
      </p:sp>
      <p:sp>
        <p:nvSpPr>
          <p:cNvPr id="15" name="Text 13"/>
          <p:cNvSpPr/>
          <p:nvPr/>
        </p:nvSpPr>
        <p:spPr>
          <a:xfrm>
            <a:off x="320040" y="213055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API Latency</a:t>
            </a:r>
            <a:endParaRPr lang="en-US" sz="950" dirty="0"/>
          </a:p>
        </p:txBody>
      </p:sp>
      <p:sp>
        <p:nvSpPr>
          <p:cNvPr id="16" name="Shape 14"/>
          <p:cNvSpPr/>
          <p:nvPr/>
        </p:nvSpPr>
        <p:spPr>
          <a:xfrm>
            <a:off x="2350008" y="1325880"/>
            <a:ext cx="1828800" cy="1115568"/>
          </a:xfrm>
          <a:prstGeom prst="roundRect">
            <a:avLst>
              <a:gd name="adj" fmla="val 8197"/>
            </a:avLst>
          </a:prstGeom>
          <a:solidFill>
            <a:srgbClr val="1976D2"/>
          </a:solidFill>
          <a:ln w="12700">
            <a:solidFill>
              <a:srgbClr val="1976D2"/>
            </a:solidFill>
            <a:prstDash val="solid"/>
          </a:ln>
        </p:spPr>
      </p:sp>
      <p:sp>
        <p:nvSpPr>
          <p:cNvPr id="17" name="Text 15"/>
          <p:cNvSpPr/>
          <p:nvPr/>
        </p:nvSpPr>
        <p:spPr>
          <a:xfrm>
            <a:off x="2350008" y="143560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 Hz</a:t>
            </a:r>
            <a:endParaRPr lang="en-US" sz="2800" dirty="0"/>
          </a:p>
        </p:txBody>
      </p:sp>
      <p:sp>
        <p:nvSpPr>
          <p:cNvPr id="18" name="Text 16"/>
          <p:cNvSpPr/>
          <p:nvPr/>
        </p:nvSpPr>
        <p:spPr>
          <a:xfrm>
            <a:off x="2350008" y="189280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per second</a:t>
            </a:r>
            <a:endParaRPr lang="en-US" sz="1000" dirty="0"/>
          </a:p>
        </p:txBody>
      </p:sp>
      <p:sp>
        <p:nvSpPr>
          <p:cNvPr id="19" name="Shape 17"/>
          <p:cNvSpPr/>
          <p:nvPr/>
        </p:nvSpPr>
        <p:spPr>
          <a:xfrm>
            <a:off x="2532888" y="2093976"/>
            <a:ext cx="1463040" cy="13716"/>
          </a:xfrm>
          <a:prstGeom prst="rect">
            <a:avLst/>
          </a:prstGeom>
          <a:solidFill>
            <a:srgbClr val="FFFFFF">
              <a:alpha val="40000"/>
            </a:srgbClr>
          </a:solidFill>
          <a:ln/>
        </p:spPr>
      </p:sp>
      <p:sp>
        <p:nvSpPr>
          <p:cNvPr id="20" name="Text 18"/>
          <p:cNvSpPr/>
          <p:nvPr/>
        </p:nvSpPr>
        <p:spPr>
          <a:xfrm>
            <a:off x="2350008" y="213055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Sensor Update Rate</a:t>
            </a:r>
            <a:endParaRPr lang="en-US" sz="950" dirty="0"/>
          </a:p>
        </p:txBody>
      </p:sp>
      <p:sp>
        <p:nvSpPr>
          <p:cNvPr id="21" name="Shape 19"/>
          <p:cNvSpPr/>
          <p:nvPr/>
        </p:nvSpPr>
        <p:spPr>
          <a:xfrm>
            <a:off x="4379976" y="1325880"/>
            <a:ext cx="1828800" cy="1115568"/>
          </a:xfrm>
          <a:prstGeom prst="roundRect">
            <a:avLst>
              <a:gd name="adj" fmla="val 8197"/>
            </a:avLst>
          </a:prstGeom>
          <a:solidFill>
            <a:srgbClr val="D84315"/>
          </a:solidFill>
          <a:ln w="12700">
            <a:solidFill>
              <a:srgbClr val="D84315"/>
            </a:solidFill>
            <a:prstDash val="solid"/>
          </a:ln>
        </p:spPr>
      </p:sp>
      <p:sp>
        <p:nvSpPr>
          <p:cNvPr id="22" name="Text 20"/>
          <p:cNvSpPr/>
          <p:nvPr/>
        </p:nvSpPr>
        <p:spPr>
          <a:xfrm>
            <a:off x="4379976" y="143560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300</a:t>
            </a:r>
            <a:endParaRPr lang="en-US" sz="2800" dirty="0"/>
          </a:p>
        </p:txBody>
      </p:sp>
      <p:sp>
        <p:nvSpPr>
          <p:cNvPr id="23" name="Text 21"/>
          <p:cNvSpPr/>
          <p:nvPr/>
        </p:nvSpPr>
        <p:spPr>
          <a:xfrm>
            <a:off x="4379976" y="189280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ms</a:t>
            </a:r>
            <a:endParaRPr lang="en-US" sz="1000" dirty="0"/>
          </a:p>
        </p:txBody>
      </p:sp>
      <p:sp>
        <p:nvSpPr>
          <p:cNvPr id="24" name="Shape 22"/>
          <p:cNvSpPr/>
          <p:nvPr/>
        </p:nvSpPr>
        <p:spPr>
          <a:xfrm>
            <a:off x="4562856" y="2093976"/>
            <a:ext cx="1463040" cy="13716"/>
          </a:xfrm>
          <a:prstGeom prst="rect">
            <a:avLst/>
          </a:prstGeom>
          <a:solidFill>
            <a:srgbClr val="FFFFFF">
              <a:alpha val="40000"/>
            </a:srgbClr>
          </a:solidFill>
          <a:ln/>
        </p:spPr>
      </p:sp>
      <p:sp>
        <p:nvSpPr>
          <p:cNvPr id="25" name="Text 23"/>
          <p:cNvSpPr/>
          <p:nvPr/>
        </p:nvSpPr>
        <p:spPr>
          <a:xfrm>
            <a:off x="4379976" y="213055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LED Response Delay</a:t>
            </a:r>
            <a:endParaRPr lang="en-US" sz="950" dirty="0"/>
          </a:p>
        </p:txBody>
      </p:sp>
      <p:sp>
        <p:nvSpPr>
          <p:cNvPr id="26" name="Shape 24"/>
          <p:cNvSpPr/>
          <p:nvPr/>
        </p:nvSpPr>
        <p:spPr>
          <a:xfrm>
            <a:off x="320040" y="2560320"/>
            <a:ext cx="1828800" cy="1115568"/>
          </a:xfrm>
          <a:prstGeom prst="roundRect">
            <a:avLst>
              <a:gd name="adj" fmla="val 8197"/>
            </a:avLst>
          </a:prstGeom>
          <a:solidFill>
            <a:srgbClr val="388E3C"/>
          </a:solidFill>
          <a:ln w="12700">
            <a:solidFill>
              <a:srgbClr val="388E3C"/>
            </a:solidFill>
            <a:prstDash val="solid"/>
          </a:ln>
        </p:spPr>
      </p:sp>
      <p:sp>
        <p:nvSpPr>
          <p:cNvPr id="27" name="Text 25"/>
          <p:cNvSpPr/>
          <p:nvPr/>
        </p:nvSpPr>
        <p:spPr>
          <a:xfrm>
            <a:off x="320040" y="267004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a:t>
            </a:r>
            <a:endParaRPr lang="en-US" sz="2800" dirty="0"/>
          </a:p>
        </p:txBody>
      </p:sp>
      <p:sp>
        <p:nvSpPr>
          <p:cNvPr id="28" name="Text 26"/>
          <p:cNvSpPr/>
          <p:nvPr/>
        </p:nvSpPr>
        <p:spPr>
          <a:xfrm>
            <a:off x="320040" y="312724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success</a:t>
            </a:r>
            <a:endParaRPr lang="en-US" sz="1000" dirty="0"/>
          </a:p>
        </p:txBody>
      </p:sp>
      <p:sp>
        <p:nvSpPr>
          <p:cNvPr id="29" name="Shape 27"/>
          <p:cNvSpPr/>
          <p:nvPr/>
        </p:nvSpPr>
        <p:spPr>
          <a:xfrm>
            <a:off x="502920" y="3328416"/>
            <a:ext cx="1463040" cy="13716"/>
          </a:xfrm>
          <a:prstGeom prst="rect">
            <a:avLst/>
          </a:prstGeom>
          <a:solidFill>
            <a:srgbClr val="FFFFFF">
              <a:alpha val="40000"/>
            </a:srgbClr>
          </a:solidFill>
          <a:ln/>
        </p:spPr>
      </p:sp>
      <p:sp>
        <p:nvSpPr>
          <p:cNvPr id="30" name="Text 28"/>
          <p:cNvSpPr/>
          <p:nvPr/>
        </p:nvSpPr>
        <p:spPr>
          <a:xfrm>
            <a:off x="320040" y="336499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Packet Success Rate</a:t>
            </a:r>
            <a:endParaRPr lang="en-US" sz="950" dirty="0"/>
          </a:p>
        </p:txBody>
      </p:sp>
      <p:sp>
        <p:nvSpPr>
          <p:cNvPr id="31" name="Shape 29"/>
          <p:cNvSpPr/>
          <p:nvPr/>
        </p:nvSpPr>
        <p:spPr>
          <a:xfrm>
            <a:off x="2350008" y="2560320"/>
            <a:ext cx="1828800" cy="1115568"/>
          </a:xfrm>
          <a:prstGeom prst="roundRect">
            <a:avLst>
              <a:gd name="adj" fmla="val 8197"/>
            </a:avLst>
          </a:prstGeom>
          <a:solidFill>
            <a:srgbClr val="0D2B5E"/>
          </a:solidFill>
          <a:ln w="12700">
            <a:solidFill>
              <a:srgbClr val="0D2B5E"/>
            </a:solidFill>
            <a:prstDash val="solid"/>
          </a:ln>
        </p:spPr>
      </p:sp>
      <p:sp>
        <p:nvSpPr>
          <p:cNvPr id="32" name="Text 30"/>
          <p:cNvSpPr/>
          <p:nvPr/>
        </p:nvSpPr>
        <p:spPr>
          <a:xfrm>
            <a:off x="2350008" y="267004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4–6</a:t>
            </a:r>
            <a:endParaRPr lang="en-US" sz="2800" dirty="0"/>
          </a:p>
        </p:txBody>
      </p:sp>
      <p:sp>
        <p:nvSpPr>
          <p:cNvPr id="33" name="Text 31"/>
          <p:cNvSpPr/>
          <p:nvPr/>
        </p:nvSpPr>
        <p:spPr>
          <a:xfrm>
            <a:off x="2350008" y="312724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seconds</a:t>
            </a:r>
            <a:endParaRPr lang="en-US" sz="1000" dirty="0"/>
          </a:p>
        </p:txBody>
      </p:sp>
      <p:sp>
        <p:nvSpPr>
          <p:cNvPr id="34" name="Shape 32"/>
          <p:cNvSpPr/>
          <p:nvPr/>
        </p:nvSpPr>
        <p:spPr>
          <a:xfrm>
            <a:off x="2532888" y="3328416"/>
            <a:ext cx="1463040" cy="13716"/>
          </a:xfrm>
          <a:prstGeom prst="rect">
            <a:avLst/>
          </a:prstGeom>
          <a:solidFill>
            <a:srgbClr val="FFFFFF">
              <a:alpha val="40000"/>
            </a:srgbClr>
          </a:solidFill>
          <a:ln/>
        </p:spPr>
      </p:sp>
      <p:sp>
        <p:nvSpPr>
          <p:cNvPr id="35" name="Text 33"/>
          <p:cNvSpPr/>
          <p:nvPr/>
        </p:nvSpPr>
        <p:spPr>
          <a:xfrm>
            <a:off x="2350008" y="336499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Wi-Fi Reconnection</a:t>
            </a:r>
            <a:endParaRPr lang="en-US" sz="950" dirty="0"/>
          </a:p>
        </p:txBody>
      </p:sp>
      <p:sp>
        <p:nvSpPr>
          <p:cNvPr id="36" name="Shape 34"/>
          <p:cNvSpPr/>
          <p:nvPr/>
        </p:nvSpPr>
        <p:spPr>
          <a:xfrm>
            <a:off x="4379976" y="2560320"/>
            <a:ext cx="1828800" cy="1115568"/>
          </a:xfrm>
          <a:prstGeom prst="roundRect">
            <a:avLst>
              <a:gd name="adj" fmla="val 8197"/>
            </a:avLst>
          </a:prstGeom>
          <a:solidFill>
            <a:srgbClr val="F57F17"/>
          </a:solidFill>
          <a:ln w="12700">
            <a:solidFill>
              <a:srgbClr val="F57F17"/>
            </a:solidFill>
            <a:prstDash val="solid"/>
          </a:ln>
        </p:spPr>
      </p:sp>
      <p:sp>
        <p:nvSpPr>
          <p:cNvPr id="37" name="Text 35"/>
          <p:cNvSpPr/>
          <p:nvPr/>
        </p:nvSpPr>
        <p:spPr>
          <a:xfrm>
            <a:off x="4379976" y="2670048"/>
            <a:ext cx="182880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38" name="Text 36"/>
          <p:cNvSpPr/>
          <p:nvPr/>
        </p:nvSpPr>
        <p:spPr>
          <a:xfrm>
            <a:off x="4379976" y="3127248"/>
            <a:ext cx="1828800" cy="201168"/>
          </a:xfrm>
          <a:prstGeom prst="rect">
            <a:avLst/>
          </a:prstGeom>
          <a:noFill/>
          <a:ln/>
        </p:spPr>
        <p:txBody>
          <a:bodyPr wrap="square" rtlCol="0" anchor="ctr"/>
          <a:lstStyle/>
          <a:p>
            <a:pPr algn="ctr" indent="0" marL="0">
              <a:buNone/>
            </a:pPr>
            <a:r>
              <a:rPr lang="en-US" sz="1000" dirty="0">
                <a:solidFill>
                  <a:srgbClr val="FFFFFF">
                    <a:alpha val="80000"/>
                  </a:srgbClr>
                </a:solidFill>
                <a:latin typeface="Calibri" pitchFamily="34" charset="0"/>
                <a:ea typeface="Calibri" pitchFamily="34" charset="-122"/>
                <a:cs typeface="Calibri" pitchFamily="34" charset="-120"/>
              </a:rPr>
              <a:t>variation</a:t>
            </a:r>
            <a:endParaRPr lang="en-US" sz="1000" dirty="0"/>
          </a:p>
        </p:txBody>
      </p:sp>
      <p:sp>
        <p:nvSpPr>
          <p:cNvPr id="39" name="Shape 37"/>
          <p:cNvSpPr/>
          <p:nvPr/>
        </p:nvSpPr>
        <p:spPr>
          <a:xfrm>
            <a:off x="4562856" y="3328416"/>
            <a:ext cx="1463040" cy="13716"/>
          </a:xfrm>
          <a:prstGeom prst="rect">
            <a:avLst/>
          </a:prstGeom>
          <a:solidFill>
            <a:srgbClr val="FFFFFF">
              <a:alpha val="40000"/>
            </a:srgbClr>
          </a:solidFill>
          <a:ln/>
        </p:spPr>
      </p:sp>
      <p:sp>
        <p:nvSpPr>
          <p:cNvPr id="40" name="Text 38"/>
          <p:cNvSpPr/>
          <p:nvPr/>
        </p:nvSpPr>
        <p:spPr>
          <a:xfrm>
            <a:off x="4379976" y="3364992"/>
            <a:ext cx="18288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ADC Accuracy</a:t>
            </a:r>
            <a:endParaRPr lang="en-US" sz="950" dirty="0"/>
          </a:p>
        </p:txBody>
      </p:sp>
      <p:sp>
        <p:nvSpPr>
          <p:cNvPr id="41" name="Text 39"/>
          <p:cNvSpPr/>
          <p:nvPr/>
        </p:nvSpPr>
        <p:spPr>
          <a:xfrm>
            <a:off x="6400800" y="950976"/>
            <a:ext cx="5394960" cy="292608"/>
          </a:xfrm>
          <a:prstGeom prst="rect">
            <a:avLst/>
          </a:prstGeom>
          <a:noFill/>
          <a:ln/>
        </p:spPr>
        <p:txBody>
          <a:bodyPr wrap="square" rtlCol="0" anchor="ctr"/>
          <a:lstStyle/>
          <a:p>
            <a:pPr algn="ctr" indent="0" marL="0">
              <a:buNone/>
            </a:pPr>
            <a:r>
              <a:rPr lang="en-US" sz="1200" b="1" dirty="0">
                <a:solidFill>
                  <a:srgbClr val="0D2B5E"/>
                </a:solidFill>
                <a:latin typeface="Calibri" pitchFamily="34" charset="0"/>
                <a:ea typeface="Calibri" pitchFamily="34" charset="-122"/>
                <a:cs typeface="Calibri" pitchFamily="34" charset="-120"/>
              </a:rPr>
              <a:t>Performance Overview</a:t>
            </a:r>
            <a:endParaRPr lang="en-US" sz="1200" dirty="0"/>
          </a:p>
        </p:txBody>
      </p:sp>
      <p:sp>
        <p:nvSpPr>
          <p:cNvPr id="42" name="Shape 40"/>
          <p:cNvSpPr/>
          <p:nvPr/>
        </p:nvSpPr>
        <p:spPr>
          <a:xfrm>
            <a:off x="6492240" y="1371600"/>
            <a:ext cx="22860" cy="3291840"/>
          </a:xfrm>
          <a:prstGeom prst="rect">
            <a:avLst/>
          </a:prstGeom>
          <a:solidFill>
            <a:srgbClr val="90A4AE"/>
          </a:solidFill>
          <a:ln w="12700">
            <a:solidFill>
              <a:srgbClr val="90A4AE"/>
            </a:solidFill>
            <a:prstDash val="solid"/>
          </a:ln>
        </p:spPr>
      </p:sp>
      <p:sp>
        <p:nvSpPr>
          <p:cNvPr id="43" name="Shape 41"/>
          <p:cNvSpPr/>
          <p:nvPr/>
        </p:nvSpPr>
        <p:spPr>
          <a:xfrm>
            <a:off x="6492240" y="4663440"/>
            <a:ext cx="5394960" cy="22860"/>
          </a:xfrm>
          <a:prstGeom prst="rect">
            <a:avLst/>
          </a:prstGeom>
          <a:solidFill>
            <a:srgbClr val="90A4AE"/>
          </a:solidFill>
          <a:ln w="12700">
            <a:solidFill>
              <a:srgbClr val="90A4AE"/>
            </a:solidFill>
            <a:prstDash val="solid"/>
          </a:ln>
        </p:spPr>
      </p:sp>
      <p:sp>
        <p:nvSpPr>
          <p:cNvPr id="44" name="Shape 42"/>
          <p:cNvSpPr/>
          <p:nvPr/>
        </p:nvSpPr>
        <p:spPr>
          <a:xfrm>
            <a:off x="6519672" y="3840480"/>
            <a:ext cx="5349240" cy="10973"/>
          </a:xfrm>
          <a:prstGeom prst="rect">
            <a:avLst/>
          </a:prstGeom>
          <a:solidFill>
            <a:srgbClr val="ECEFF1"/>
          </a:solidFill>
          <a:ln w="12700">
            <a:solidFill>
              <a:srgbClr val="ECEFF1"/>
            </a:solidFill>
            <a:prstDash val="solid"/>
          </a:ln>
        </p:spPr>
      </p:sp>
      <p:sp>
        <p:nvSpPr>
          <p:cNvPr id="45" name="Text 43"/>
          <p:cNvSpPr/>
          <p:nvPr/>
        </p:nvSpPr>
        <p:spPr>
          <a:xfrm>
            <a:off x="6537960" y="3721608"/>
            <a:ext cx="502920" cy="228600"/>
          </a:xfrm>
          <a:prstGeom prst="rect">
            <a:avLst/>
          </a:prstGeom>
          <a:noFill/>
          <a:ln/>
        </p:spPr>
        <p:txBody>
          <a:bodyPr wrap="square" rtlCol="0" anchor="ctr"/>
          <a:lstStyle/>
          <a:p>
            <a:pPr algn="r" indent="0" marL="0">
              <a:buNone/>
            </a:pPr>
            <a:r>
              <a:rPr lang="en-US" sz="800" dirty="0">
                <a:solidFill>
                  <a:srgbClr val="78909C"/>
                </a:solidFill>
                <a:latin typeface="Calibri" pitchFamily="34" charset="0"/>
                <a:ea typeface="Calibri" pitchFamily="34" charset="-122"/>
                <a:cs typeface="Calibri" pitchFamily="34" charset="-120"/>
              </a:rPr>
              <a:t>25%</a:t>
            </a:r>
            <a:endParaRPr lang="en-US" sz="800" dirty="0"/>
          </a:p>
        </p:txBody>
      </p:sp>
      <p:sp>
        <p:nvSpPr>
          <p:cNvPr id="46" name="Shape 44"/>
          <p:cNvSpPr/>
          <p:nvPr/>
        </p:nvSpPr>
        <p:spPr>
          <a:xfrm>
            <a:off x="6519672" y="3017520"/>
            <a:ext cx="5349240" cy="10973"/>
          </a:xfrm>
          <a:prstGeom prst="rect">
            <a:avLst/>
          </a:prstGeom>
          <a:solidFill>
            <a:srgbClr val="ECEFF1"/>
          </a:solidFill>
          <a:ln w="12700">
            <a:solidFill>
              <a:srgbClr val="ECEFF1"/>
            </a:solidFill>
            <a:prstDash val="solid"/>
          </a:ln>
        </p:spPr>
      </p:sp>
      <p:sp>
        <p:nvSpPr>
          <p:cNvPr id="47" name="Text 45"/>
          <p:cNvSpPr/>
          <p:nvPr/>
        </p:nvSpPr>
        <p:spPr>
          <a:xfrm>
            <a:off x="6537960" y="2898648"/>
            <a:ext cx="502920" cy="228600"/>
          </a:xfrm>
          <a:prstGeom prst="rect">
            <a:avLst/>
          </a:prstGeom>
          <a:noFill/>
          <a:ln/>
        </p:spPr>
        <p:txBody>
          <a:bodyPr wrap="square" rtlCol="0" anchor="ctr"/>
          <a:lstStyle/>
          <a:p>
            <a:pPr algn="r" indent="0" marL="0">
              <a:buNone/>
            </a:pPr>
            <a:r>
              <a:rPr lang="en-US" sz="800" dirty="0">
                <a:solidFill>
                  <a:srgbClr val="78909C"/>
                </a:solidFill>
                <a:latin typeface="Calibri" pitchFamily="34" charset="0"/>
                <a:ea typeface="Calibri" pitchFamily="34" charset="-122"/>
                <a:cs typeface="Calibri" pitchFamily="34" charset="-120"/>
              </a:rPr>
              <a:t>50%</a:t>
            </a:r>
            <a:endParaRPr lang="en-US" sz="800" dirty="0"/>
          </a:p>
        </p:txBody>
      </p:sp>
      <p:sp>
        <p:nvSpPr>
          <p:cNvPr id="48" name="Shape 46"/>
          <p:cNvSpPr/>
          <p:nvPr/>
        </p:nvSpPr>
        <p:spPr>
          <a:xfrm>
            <a:off x="6519672" y="2194560"/>
            <a:ext cx="5349240" cy="10973"/>
          </a:xfrm>
          <a:prstGeom prst="rect">
            <a:avLst/>
          </a:prstGeom>
          <a:solidFill>
            <a:srgbClr val="ECEFF1"/>
          </a:solidFill>
          <a:ln w="12700">
            <a:solidFill>
              <a:srgbClr val="ECEFF1"/>
            </a:solidFill>
            <a:prstDash val="solid"/>
          </a:ln>
        </p:spPr>
      </p:sp>
      <p:sp>
        <p:nvSpPr>
          <p:cNvPr id="49" name="Text 47"/>
          <p:cNvSpPr/>
          <p:nvPr/>
        </p:nvSpPr>
        <p:spPr>
          <a:xfrm>
            <a:off x="6537960" y="2075688"/>
            <a:ext cx="502920" cy="228600"/>
          </a:xfrm>
          <a:prstGeom prst="rect">
            <a:avLst/>
          </a:prstGeom>
          <a:noFill/>
          <a:ln/>
        </p:spPr>
        <p:txBody>
          <a:bodyPr wrap="square" rtlCol="0" anchor="ctr"/>
          <a:lstStyle/>
          <a:p>
            <a:pPr algn="r" indent="0" marL="0">
              <a:buNone/>
            </a:pPr>
            <a:r>
              <a:rPr lang="en-US" sz="800" dirty="0">
                <a:solidFill>
                  <a:srgbClr val="78909C"/>
                </a:solidFill>
                <a:latin typeface="Calibri" pitchFamily="34" charset="0"/>
                <a:ea typeface="Calibri" pitchFamily="34" charset="-122"/>
                <a:cs typeface="Calibri" pitchFamily="34" charset="-120"/>
              </a:rPr>
              <a:t>75%</a:t>
            </a:r>
            <a:endParaRPr lang="en-US" sz="800" dirty="0"/>
          </a:p>
        </p:txBody>
      </p:sp>
      <p:sp>
        <p:nvSpPr>
          <p:cNvPr id="50" name="Shape 48"/>
          <p:cNvSpPr/>
          <p:nvPr/>
        </p:nvSpPr>
        <p:spPr>
          <a:xfrm>
            <a:off x="6519672" y="1371600"/>
            <a:ext cx="5349240" cy="10973"/>
          </a:xfrm>
          <a:prstGeom prst="rect">
            <a:avLst/>
          </a:prstGeom>
          <a:solidFill>
            <a:srgbClr val="ECEFF1"/>
          </a:solidFill>
          <a:ln w="12700">
            <a:solidFill>
              <a:srgbClr val="ECEFF1"/>
            </a:solidFill>
            <a:prstDash val="solid"/>
          </a:ln>
        </p:spPr>
      </p:sp>
      <p:sp>
        <p:nvSpPr>
          <p:cNvPr id="51" name="Text 49"/>
          <p:cNvSpPr/>
          <p:nvPr/>
        </p:nvSpPr>
        <p:spPr>
          <a:xfrm>
            <a:off x="6537960" y="1252728"/>
            <a:ext cx="502920" cy="228600"/>
          </a:xfrm>
          <a:prstGeom prst="rect">
            <a:avLst/>
          </a:prstGeom>
          <a:noFill/>
          <a:ln/>
        </p:spPr>
        <p:txBody>
          <a:bodyPr wrap="square" rtlCol="0" anchor="ctr"/>
          <a:lstStyle/>
          <a:p>
            <a:pPr algn="r" indent="0" marL="0">
              <a:buNone/>
            </a:pPr>
            <a:r>
              <a:rPr lang="en-US" sz="800" dirty="0">
                <a:solidFill>
                  <a:srgbClr val="78909C"/>
                </a:solidFill>
                <a:latin typeface="Calibri" pitchFamily="34" charset="0"/>
                <a:ea typeface="Calibri" pitchFamily="34" charset="-122"/>
                <a:cs typeface="Calibri" pitchFamily="34" charset="-120"/>
              </a:rPr>
              <a:t>100%</a:t>
            </a:r>
            <a:endParaRPr lang="en-US" sz="800" dirty="0"/>
          </a:p>
        </p:txBody>
      </p:sp>
      <p:sp>
        <p:nvSpPr>
          <p:cNvPr id="52" name="Shape 50"/>
          <p:cNvSpPr/>
          <p:nvPr/>
        </p:nvSpPr>
        <p:spPr>
          <a:xfrm>
            <a:off x="7123176" y="1474013"/>
            <a:ext cx="804672" cy="3226003"/>
          </a:xfrm>
          <a:prstGeom prst="rect">
            <a:avLst/>
          </a:prstGeom>
          <a:solidFill>
            <a:srgbClr val="ECEFF1"/>
          </a:solidFill>
          <a:ln w="12700">
            <a:solidFill>
              <a:srgbClr val="ECEFF1"/>
            </a:solidFill>
            <a:prstDash val="solid"/>
          </a:ln>
        </p:spPr>
      </p:sp>
      <p:sp>
        <p:nvSpPr>
          <p:cNvPr id="53" name="Shape 51"/>
          <p:cNvSpPr/>
          <p:nvPr/>
        </p:nvSpPr>
        <p:spPr>
          <a:xfrm>
            <a:off x="7086600" y="1437437"/>
            <a:ext cx="804672" cy="3226003"/>
          </a:xfrm>
          <a:prstGeom prst="rect">
            <a:avLst/>
          </a:prstGeom>
          <a:solidFill>
            <a:srgbClr val="388E3C"/>
          </a:solidFill>
          <a:ln w="12700">
            <a:solidFill>
              <a:srgbClr val="388E3C"/>
            </a:solidFill>
            <a:prstDash val="solid"/>
          </a:ln>
        </p:spPr>
      </p:sp>
      <p:sp>
        <p:nvSpPr>
          <p:cNvPr id="54" name="Text 52"/>
          <p:cNvSpPr/>
          <p:nvPr/>
        </p:nvSpPr>
        <p:spPr>
          <a:xfrm>
            <a:off x="7086600" y="1181405"/>
            <a:ext cx="804672" cy="237744"/>
          </a:xfrm>
          <a:prstGeom prst="rect">
            <a:avLst/>
          </a:prstGeom>
          <a:noFill/>
          <a:ln/>
        </p:spPr>
        <p:txBody>
          <a:bodyPr wrap="square" rtlCol="0" anchor="ctr"/>
          <a:lstStyle/>
          <a:p>
            <a:pPr algn="ctr" indent="0" marL="0">
              <a:buNone/>
            </a:pPr>
            <a:r>
              <a:rPr lang="en-US" sz="1050" b="1" dirty="0">
                <a:solidFill>
                  <a:srgbClr val="388E3C"/>
                </a:solidFill>
                <a:latin typeface="Calibri" pitchFamily="34" charset="0"/>
                <a:ea typeface="Calibri" pitchFamily="34" charset="-122"/>
                <a:cs typeface="Calibri" pitchFamily="34" charset="-120"/>
              </a:rPr>
              <a:t>98%</a:t>
            </a:r>
            <a:endParaRPr lang="en-US" sz="1050" dirty="0"/>
          </a:p>
        </p:txBody>
      </p:sp>
      <p:sp>
        <p:nvSpPr>
          <p:cNvPr id="55" name="Text 53"/>
          <p:cNvSpPr/>
          <p:nvPr/>
        </p:nvSpPr>
        <p:spPr>
          <a:xfrm>
            <a:off x="6995160" y="4718304"/>
            <a:ext cx="987552" cy="384048"/>
          </a:xfrm>
          <a:prstGeom prst="rect">
            <a:avLst/>
          </a:prstGeom>
          <a:noFill/>
          <a:ln/>
        </p:spPr>
        <p:txBody>
          <a:bodyPr wrap="square" rtlCol="0" anchor="ctr"/>
          <a:lstStyle/>
          <a:p>
            <a:pPr algn="ctr" indent="0" marL="0">
              <a:buNone/>
            </a:pPr>
            <a:r>
              <a:rPr lang="en-US" sz="850" dirty="0">
                <a:solidFill>
                  <a:srgbClr val="37474F"/>
                </a:solidFill>
                <a:latin typeface="Calibri" pitchFamily="34" charset="0"/>
                <a:ea typeface="Calibri" pitchFamily="34" charset="-122"/>
                <a:cs typeface="Calibri" pitchFamily="34" charset="-120"/>
              </a:rPr>
              <a:t>Packet</a:t>
            </a:r>
            <a:endParaRPr lang="en-US" sz="850" dirty="0"/>
          </a:p>
          <a:p>
            <a:pPr algn="ctr" indent="0" marL="0">
              <a:buNone/>
            </a:pPr>
            <a:r>
              <a:rPr lang="en-US" sz="850" dirty="0">
                <a:solidFill>
                  <a:srgbClr val="37474F"/>
                </a:solidFill>
                <a:latin typeface="Calibri" pitchFamily="34" charset="0"/>
                <a:ea typeface="Calibri" pitchFamily="34" charset="-122"/>
                <a:cs typeface="Calibri" pitchFamily="34" charset="-120"/>
              </a:rPr>
              <a:t>Success</a:t>
            </a:r>
            <a:endParaRPr lang="en-US" sz="850" dirty="0"/>
          </a:p>
        </p:txBody>
      </p:sp>
      <p:sp>
        <p:nvSpPr>
          <p:cNvPr id="56" name="Shape 54"/>
          <p:cNvSpPr/>
          <p:nvPr/>
        </p:nvSpPr>
        <p:spPr>
          <a:xfrm>
            <a:off x="8092440" y="1474013"/>
            <a:ext cx="804672" cy="3226003"/>
          </a:xfrm>
          <a:prstGeom prst="rect">
            <a:avLst/>
          </a:prstGeom>
          <a:solidFill>
            <a:srgbClr val="ECEFF1"/>
          </a:solidFill>
          <a:ln w="12700">
            <a:solidFill>
              <a:srgbClr val="ECEFF1"/>
            </a:solidFill>
            <a:prstDash val="solid"/>
          </a:ln>
        </p:spPr>
      </p:sp>
      <p:sp>
        <p:nvSpPr>
          <p:cNvPr id="57" name="Shape 55"/>
          <p:cNvSpPr/>
          <p:nvPr/>
        </p:nvSpPr>
        <p:spPr>
          <a:xfrm>
            <a:off x="8055864" y="1437437"/>
            <a:ext cx="804672" cy="3226003"/>
          </a:xfrm>
          <a:prstGeom prst="rect">
            <a:avLst/>
          </a:prstGeom>
          <a:solidFill>
            <a:srgbClr val="1565C0"/>
          </a:solidFill>
          <a:ln w="12700">
            <a:solidFill>
              <a:srgbClr val="1565C0"/>
            </a:solidFill>
            <a:prstDash val="solid"/>
          </a:ln>
        </p:spPr>
      </p:sp>
      <p:sp>
        <p:nvSpPr>
          <p:cNvPr id="58" name="Text 56"/>
          <p:cNvSpPr/>
          <p:nvPr/>
        </p:nvSpPr>
        <p:spPr>
          <a:xfrm>
            <a:off x="8055864" y="1181405"/>
            <a:ext cx="804672" cy="237744"/>
          </a:xfrm>
          <a:prstGeom prst="rect">
            <a:avLst/>
          </a:prstGeom>
          <a:noFill/>
          <a:ln/>
        </p:spPr>
        <p:txBody>
          <a:bodyPr wrap="square" rtlCol="0" anchor="ctr"/>
          <a:lstStyle/>
          <a:p>
            <a:pPr algn="ctr" indent="0" marL="0">
              <a:buNone/>
            </a:pPr>
            <a:r>
              <a:rPr lang="en-US" sz="1050" b="1" dirty="0">
                <a:solidFill>
                  <a:srgbClr val="1565C0"/>
                </a:solidFill>
                <a:latin typeface="Calibri" pitchFamily="34" charset="0"/>
                <a:ea typeface="Calibri" pitchFamily="34" charset="-122"/>
                <a:cs typeface="Calibri" pitchFamily="34" charset="-120"/>
              </a:rPr>
              <a:t>98%</a:t>
            </a:r>
            <a:endParaRPr lang="en-US" sz="1050" dirty="0"/>
          </a:p>
        </p:txBody>
      </p:sp>
      <p:sp>
        <p:nvSpPr>
          <p:cNvPr id="59" name="Text 57"/>
          <p:cNvSpPr/>
          <p:nvPr/>
        </p:nvSpPr>
        <p:spPr>
          <a:xfrm>
            <a:off x="7964424" y="4718304"/>
            <a:ext cx="987552" cy="384048"/>
          </a:xfrm>
          <a:prstGeom prst="rect">
            <a:avLst/>
          </a:prstGeom>
          <a:noFill/>
          <a:ln/>
        </p:spPr>
        <p:txBody>
          <a:bodyPr wrap="square" rtlCol="0" anchor="ctr"/>
          <a:lstStyle/>
          <a:p>
            <a:pPr algn="ctr" indent="0" marL="0">
              <a:buNone/>
            </a:pPr>
            <a:r>
              <a:rPr lang="en-US" sz="850" dirty="0">
                <a:solidFill>
                  <a:srgbClr val="37474F"/>
                </a:solidFill>
                <a:latin typeface="Calibri" pitchFamily="34" charset="0"/>
                <a:ea typeface="Calibri" pitchFamily="34" charset="-122"/>
                <a:cs typeface="Calibri" pitchFamily="34" charset="-120"/>
              </a:rPr>
              <a:t>ADC</a:t>
            </a:r>
            <a:endParaRPr lang="en-US" sz="850" dirty="0"/>
          </a:p>
          <a:p>
            <a:pPr algn="ctr" indent="0" marL="0">
              <a:buNone/>
            </a:pPr>
            <a:r>
              <a:rPr lang="en-US" sz="850" dirty="0">
                <a:solidFill>
                  <a:srgbClr val="37474F"/>
                </a:solidFill>
                <a:latin typeface="Calibri" pitchFamily="34" charset="0"/>
                <a:ea typeface="Calibri" pitchFamily="34" charset="-122"/>
                <a:cs typeface="Calibri" pitchFamily="34" charset="-120"/>
              </a:rPr>
              <a:t>Accuracy</a:t>
            </a:r>
            <a:endParaRPr lang="en-US" sz="850" dirty="0"/>
          </a:p>
        </p:txBody>
      </p:sp>
      <p:sp>
        <p:nvSpPr>
          <p:cNvPr id="60" name="Shape 58"/>
          <p:cNvSpPr/>
          <p:nvPr/>
        </p:nvSpPr>
        <p:spPr>
          <a:xfrm>
            <a:off x="9061704" y="1539850"/>
            <a:ext cx="804672" cy="3160166"/>
          </a:xfrm>
          <a:prstGeom prst="rect">
            <a:avLst/>
          </a:prstGeom>
          <a:solidFill>
            <a:srgbClr val="ECEFF1"/>
          </a:solidFill>
          <a:ln w="12700">
            <a:solidFill>
              <a:srgbClr val="ECEFF1"/>
            </a:solidFill>
            <a:prstDash val="solid"/>
          </a:ln>
        </p:spPr>
      </p:sp>
      <p:sp>
        <p:nvSpPr>
          <p:cNvPr id="61" name="Shape 59"/>
          <p:cNvSpPr/>
          <p:nvPr/>
        </p:nvSpPr>
        <p:spPr>
          <a:xfrm>
            <a:off x="9025128" y="1503274"/>
            <a:ext cx="804672" cy="3160166"/>
          </a:xfrm>
          <a:prstGeom prst="rect">
            <a:avLst/>
          </a:prstGeom>
          <a:solidFill>
            <a:srgbClr val="1976D2"/>
          </a:solidFill>
          <a:ln w="12700">
            <a:solidFill>
              <a:srgbClr val="1976D2"/>
            </a:solidFill>
            <a:prstDash val="solid"/>
          </a:ln>
        </p:spPr>
      </p:sp>
      <p:sp>
        <p:nvSpPr>
          <p:cNvPr id="62" name="Text 60"/>
          <p:cNvSpPr/>
          <p:nvPr/>
        </p:nvSpPr>
        <p:spPr>
          <a:xfrm>
            <a:off x="9025128" y="1247242"/>
            <a:ext cx="804672" cy="237744"/>
          </a:xfrm>
          <a:prstGeom prst="rect">
            <a:avLst/>
          </a:prstGeom>
          <a:noFill/>
          <a:ln/>
        </p:spPr>
        <p:txBody>
          <a:bodyPr wrap="square" rtlCol="0" anchor="ctr"/>
          <a:lstStyle/>
          <a:p>
            <a:pPr algn="ctr" indent="0" marL="0">
              <a:buNone/>
            </a:pPr>
            <a:r>
              <a:rPr lang="en-US" sz="1050" b="1" dirty="0">
                <a:solidFill>
                  <a:srgbClr val="1976D2"/>
                </a:solidFill>
                <a:latin typeface="Calibri" pitchFamily="34" charset="0"/>
                <a:ea typeface="Calibri" pitchFamily="34" charset="-122"/>
                <a:cs typeface="Calibri" pitchFamily="34" charset="-120"/>
              </a:rPr>
              <a:t>96%</a:t>
            </a:r>
            <a:endParaRPr lang="en-US" sz="1050" dirty="0"/>
          </a:p>
        </p:txBody>
      </p:sp>
      <p:sp>
        <p:nvSpPr>
          <p:cNvPr id="63" name="Text 61"/>
          <p:cNvSpPr/>
          <p:nvPr/>
        </p:nvSpPr>
        <p:spPr>
          <a:xfrm>
            <a:off x="8933688" y="4718304"/>
            <a:ext cx="987552" cy="384048"/>
          </a:xfrm>
          <a:prstGeom prst="rect">
            <a:avLst/>
          </a:prstGeom>
          <a:noFill/>
          <a:ln/>
        </p:spPr>
        <p:txBody>
          <a:bodyPr wrap="square" rtlCol="0" anchor="ctr"/>
          <a:lstStyle/>
          <a:p>
            <a:pPr algn="ctr" indent="0" marL="0">
              <a:buNone/>
            </a:pPr>
            <a:r>
              <a:rPr lang="en-US" sz="850" dirty="0">
                <a:solidFill>
                  <a:srgbClr val="37474F"/>
                </a:solidFill>
                <a:latin typeface="Calibri" pitchFamily="34" charset="0"/>
                <a:ea typeface="Calibri" pitchFamily="34" charset="-122"/>
                <a:cs typeface="Calibri" pitchFamily="34" charset="-120"/>
              </a:rPr>
              <a:t>System</a:t>
            </a:r>
            <a:endParaRPr lang="en-US" sz="850" dirty="0"/>
          </a:p>
          <a:p>
            <a:pPr algn="ctr" indent="0" marL="0">
              <a:buNone/>
            </a:pPr>
            <a:r>
              <a:rPr lang="en-US" sz="850" dirty="0">
                <a:solidFill>
                  <a:srgbClr val="37474F"/>
                </a:solidFill>
                <a:latin typeface="Calibri" pitchFamily="34" charset="0"/>
                <a:ea typeface="Calibri" pitchFamily="34" charset="-122"/>
                <a:cs typeface="Calibri" pitchFamily="34" charset="-120"/>
              </a:rPr>
              <a:t>Uptime</a:t>
            </a:r>
            <a:endParaRPr lang="en-US" sz="850" dirty="0"/>
          </a:p>
        </p:txBody>
      </p:sp>
      <p:sp>
        <p:nvSpPr>
          <p:cNvPr id="64" name="Shape 62"/>
          <p:cNvSpPr/>
          <p:nvPr/>
        </p:nvSpPr>
        <p:spPr>
          <a:xfrm>
            <a:off x="10030968" y="1605686"/>
            <a:ext cx="804672" cy="3094330"/>
          </a:xfrm>
          <a:prstGeom prst="rect">
            <a:avLst/>
          </a:prstGeom>
          <a:solidFill>
            <a:srgbClr val="ECEFF1"/>
          </a:solidFill>
          <a:ln w="12700">
            <a:solidFill>
              <a:srgbClr val="ECEFF1"/>
            </a:solidFill>
            <a:prstDash val="solid"/>
          </a:ln>
        </p:spPr>
      </p:sp>
      <p:sp>
        <p:nvSpPr>
          <p:cNvPr id="65" name="Shape 63"/>
          <p:cNvSpPr/>
          <p:nvPr/>
        </p:nvSpPr>
        <p:spPr>
          <a:xfrm>
            <a:off x="9994392" y="1569110"/>
            <a:ext cx="804672" cy="3094330"/>
          </a:xfrm>
          <a:prstGeom prst="rect">
            <a:avLst/>
          </a:prstGeom>
          <a:solidFill>
            <a:srgbClr val="D84315"/>
          </a:solidFill>
          <a:ln w="12700">
            <a:solidFill>
              <a:srgbClr val="D84315"/>
            </a:solidFill>
            <a:prstDash val="solid"/>
          </a:ln>
        </p:spPr>
      </p:sp>
      <p:sp>
        <p:nvSpPr>
          <p:cNvPr id="66" name="Text 64"/>
          <p:cNvSpPr/>
          <p:nvPr/>
        </p:nvSpPr>
        <p:spPr>
          <a:xfrm>
            <a:off x="9994392" y="1313078"/>
            <a:ext cx="804672" cy="237744"/>
          </a:xfrm>
          <a:prstGeom prst="rect">
            <a:avLst/>
          </a:prstGeom>
          <a:noFill/>
          <a:ln/>
        </p:spPr>
        <p:txBody>
          <a:bodyPr wrap="square" rtlCol="0" anchor="ctr"/>
          <a:lstStyle/>
          <a:p>
            <a:pPr algn="ctr" indent="0" marL="0">
              <a:buNone/>
            </a:pPr>
            <a:r>
              <a:rPr lang="en-US" sz="1050" b="1" dirty="0">
                <a:solidFill>
                  <a:srgbClr val="D84315"/>
                </a:solidFill>
                <a:latin typeface="Calibri" pitchFamily="34" charset="0"/>
                <a:ea typeface="Calibri" pitchFamily="34" charset="-122"/>
                <a:cs typeface="Calibri" pitchFamily="34" charset="-120"/>
              </a:rPr>
              <a:t>94%</a:t>
            </a:r>
            <a:endParaRPr lang="en-US" sz="1050" dirty="0"/>
          </a:p>
        </p:txBody>
      </p:sp>
      <p:sp>
        <p:nvSpPr>
          <p:cNvPr id="67" name="Text 65"/>
          <p:cNvSpPr/>
          <p:nvPr/>
        </p:nvSpPr>
        <p:spPr>
          <a:xfrm>
            <a:off x="9902952" y="4718304"/>
            <a:ext cx="987552" cy="384048"/>
          </a:xfrm>
          <a:prstGeom prst="rect">
            <a:avLst/>
          </a:prstGeom>
          <a:noFill/>
          <a:ln/>
        </p:spPr>
        <p:txBody>
          <a:bodyPr wrap="square" rtlCol="0" anchor="ctr"/>
          <a:lstStyle/>
          <a:p>
            <a:pPr algn="ctr" indent="0" marL="0">
              <a:buNone/>
            </a:pPr>
            <a:r>
              <a:rPr lang="en-US" sz="850" dirty="0">
                <a:solidFill>
                  <a:srgbClr val="37474F"/>
                </a:solidFill>
                <a:latin typeface="Calibri" pitchFamily="34" charset="0"/>
                <a:ea typeface="Calibri" pitchFamily="34" charset="-122"/>
                <a:cs typeface="Calibri" pitchFamily="34" charset="-120"/>
              </a:rPr>
              <a:t>Threshold</a:t>
            </a:r>
            <a:endParaRPr lang="en-US" sz="850" dirty="0"/>
          </a:p>
          <a:p>
            <a:pPr algn="ctr" indent="0" marL="0">
              <a:buNone/>
            </a:pPr>
            <a:r>
              <a:rPr lang="en-US" sz="850" dirty="0">
                <a:solidFill>
                  <a:srgbClr val="37474F"/>
                </a:solidFill>
                <a:latin typeface="Calibri" pitchFamily="34" charset="0"/>
                <a:ea typeface="Calibri" pitchFamily="34" charset="-122"/>
                <a:cs typeface="Calibri" pitchFamily="34" charset="-120"/>
              </a:rPr>
              <a:t>Adh.</a:t>
            </a:r>
            <a:endParaRPr lang="en-US" sz="850" dirty="0"/>
          </a:p>
        </p:txBody>
      </p:sp>
      <p:sp>
        <p:nvSpPr>
          <p:cNvPr id="68" name="Shape 66"/>
          <p:cNvSpPr/>
          <p:nvPr/>
        </p:nvSpPr>
        <p:spPr>
          <a:xfrm>
            <a:off x="11000232" y="2461565"/>
            <a:ext cx="804672" cy="2238451"/>
          </a:xfrm>
          <a:prstGeom prst="rect">
            <a:avLst/>
          </a:prstGeom>
          <a:solidFill>
            <a:srgbClr val="ECEFF1"/>
          </a:solidFill>
          <a:ln w="12700">
            <a:solidFill>
              <a:srgbClr val="ECEFF1"/>
            </a:solidFill>
            <a:prstDash val="solid"/>
          </a:ln>
        </p:spPr>
      </p:sp>
      <p:sp>
        <p:nvSpPr>
          <p:cNvPr id="69" name="Shape 67"/>
          <p:cNvSpPr/>
          <p:nvPr/>
        </p:nvSpPr>
        <p:spPr>
          <a:xfrm>
            <a:off x="10963656" y="2424989"/>
            <a:ext cx="804672" cy="2238451"/>
          </a:xfrm>
          <a:prstGeom prst="rect">
            <a:avLst/>
          </a:prstGeom>
          <a:solidFill>
            <a:srgbClr val="F57F17"/>
          </a:solidFill>
          <a:ln w="12700">
            <a:solidFill>
              <a:srgbClr val="F57F17"/>
            </a:solidFill>
            <a:prstDash val="solid"/>
          </a:ln>
        </p:spPr>
      </p:sp>
      <p:sp>
        <p:nvSpPr>
          <p:cNvPr id="70" name="Text 68"/>
          <p:cNvSpPr/>
          <p:nvPr/>
        </p:nvSpPr>
        <p:spPr>
          <a:xfrm>
            <a:off x="10963656" y="2168957"/>
            <a:ext cx="804672" cy="237744"/>
          </a:xfrm>
          <a:prstGeom prst="rect">
            <a:avLst/>
          </a:prstGeom>
          <a:noFill/>
          <a:ln/>
        </p:spPr>
        <p:txBody>
          <a:bodyPr wrap="square" rtlCol="0" anchor="ctr"/>
          <a:lstStyle/>
          <a:p>
            <a:pPr algn="ctr" indent="0" marL="0">
              <a:buNone/>
            </a:pPr>
            <a:r>
              <a:rPr lang="en-US" sz="1050" b="1" dirty="0">
                <a:solidFill>
                  <a:srgbClr val="F57F17"/>
                </a:solidFill>
                <a:latin typeface="Calibri" pitchFamily="34" charset="0"/>
                <a:ea typeface="Calibri" pitchFamily="34" charset="-122"/>
                <a:cs typeface="Calibri" pitchFamily="34" charset="-120"/>
              </a:rPr>
              <a:t>68%</a:t>
            </a:r>
            <a:endParaRPr lang="en-US" sz="1050" dirty="0"/>
          </a:p>
        </p:txBody>
      </p:sp>
      <p:sp>
        <p:nvSpPr>
          <p:cNvPr id="71" name="Text 69"/>
          <p:cNvSpPr/>
          <p:nvPr/>
        </p:nvSpPr>
        <p:spPr>
          <a:xfrm>
            <a:off x="10872216" y="4718304"/>
            <a:ext cx="987552" cy="384048"/>
          </a:xfrm>
          <a:prstGeom prst="rect">
            <a:avLst/>
          </a:prstGeom>
          <a:noFill/>
          <a:ln/>
        </p:spPr>
        <p:txBody>
          <a:bodyPr wrap="square" rtlCol="0" anchor="ctr"/>
          <a:lstStyle/>
          <a:p>
            <a:pPr algn="ctr" indent="0" marL="0">
              <a:buNone/>
            </a:pPr>
            <a:r>
              <a:rPr lang="en-US" sz="850" dirty="0">
                <a:solidFill>
                  <a:srgbClr val="37474F"/>
                </a:solidFill>
                <a:latin typeface="Calibri" pitchFamily="34" charset="0"/>
                <a:ea typeface="Calibri" pitchFamily="34" charset="-122"/>
                <a:cs typeface="Calibri" pitchFamily="34" charset="-120"/>
              </a:rPr>
              <a:t>Avg</a:t>
            </a:r>
            <a:endParaRPr lang="en-US" sz="850" dirty="0"/>
          </a:p>
          <a:p>
            <a:pPr algn="ctr" indent="0" marL="0">
              <a:buNone/>
            </a:pPr>
            <a:r>
              <a:rPr lang="en-US" sz="850" dirty="0">
                <a:solidFill>
                  <a:srgbClr val="37474F"/>
                </a:solidFill>
                <a:latin typeface="Calibri" pitchFamily="34" charset="0"/>
                <a:ea typeface="Calibri" pitchFamily="34" charset="-122"/>
                <a:cs typeface="Calibri" pitchFamily="34" charset="-120"/>
              </a:rPr>
              <a:t>Intensity</a:t>
            </a:r>
            <a:endParaRPr lang="en-US" sz="850" dirty="0"/>
          </a:p>
        </p:txBody>
      </p:sp>
      <p:sp>
        <p:nvSpPr>
          <p:cNvPr id="72" name="Shape 70"/>
          <p:cNvSpPr/>
          <p:nvPr/>
        </p:nvSpPr>
        <p:spPr>
          <a:xfrm>
            <a:off x="320040" y="4983480"/>
            <a:ext cx="11521440" cy="1508760"/>
          </a:xfrm>
          <a:prstGeom prst="roundRect">
            <a:avLst>
              <a:gd name="adj" fmla="val 6061"/>
            </a:avLst>
          </a:prstGeom>
          <a:solidFill>
            <a:srgbClr val="E8F4FD"/>
          </a:solidFill>
          <a:ln w="9525">
            <a:solidFill>
              <a:srgbClr val="BBDEFB"/>
            </a:solidFill>
            <a:prstDash val="solid"/>
          </a:ln>
        </p:spPr>
      </p:sp>
      <p:sp>
        <p:nvSpPr>
          <p:cNvPr id="73" name="Shape 71"/>
          <p:cNvSpPr/>
          <p:nvPr/>
        </p:nvSpPr>
        <p:spPr>
          <a:xfrm>
            <a:off x="320040" y="4983480"/>
            <a:ext cx="11521440" cy="320040"/>
          </a:xfrm>
          <a:prstGeom prst="rect">
            <a:avLst/>
          </a:prstGeom>
          <a:solidFill>
            <a:srgbClr val="0D2B5E"/>
          </a:solidFill>
          <a:ln w="12700">
            <a:solidFill>
              <a:srgbClr val="0D2B5E"/>
            </a:solidFill>
            <a:prstDash val="solid"/>
          </a:ln>
        </p:spPr>
      </p:sp>
      <p:sp>
        <p:nvSpPr>
          <p:cNvPr id="74" name="Shape 72"/>
          <p:cNvSpPr/>
          <p:nvPr/>
        </p:nvSpPr>
        <p:spPr>
          <a:xfrm>
            <a:off x="320040" y="4983480"/>
            <a:ext cx="11521440" cy="320040"/>
          </a:xfrm>
          <a:prstGeom prst="roundRect">
            <a:avLst>
              <a:gd name="adj" fmla="val 28571"/>
            </a:avLst>
          </a:prstGeom>
          <a:solidFill>
            <a:srgbClr val="0D2B5E"/>
          </a:solidFill>
          <a:ln w="12700">
            <a:solidFill>
              <a:srgbClr val="0D2B5E"/>
            </a:solidFill>
            <a:prstDash val="solid"/>
          </a:ln>
        </p:spPr>
      </p:sp>
      <p:sp>
        <p:nvSpPr>
          <p:cNvPr id="75" name="Shape 73"/>
          <p:cNvSpPr/>
          <p:nvPr/>
        </p:nvSpPr>
        <p:spPr>
          <a:xfrm>
            <a:off x="320040" y="5138928"/>
            <a:ext cx="11521440" cy="164592"/>
          </a:xfrm>
          <a:prstGeom prst="rect">
            <a:avLst/>
          </a:prstGeom>
          <a:solidFill>
            <a:srgbClr val="0D2B5E"/>
          </a:solidFill>
          <a:ln w="12700">
            <a:solidFill>
              <a:srgbClr val="0D2B5E"/>
            </a:solidFill>
            <a:prstDash val="solid"/>
          </a:ln>
        </p:spPr>
      </p:sp>
      <p:sp>
        <p:nvSpPr>
          <p:cNvPr id="76" name="Text 74"/>
          <p:cNvSpPr/>
          <p:nvPr/>
        </p:nvSpPr>
        <p:spPr>
          <a:xfrm>
            <a:off x="457200" y="5001768"/>
            <a:ext cx="1124712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Live Dashboard Data Snapshot — Simulation Results</a:t>
            </a:r>
            <a:endParaRPr lang="en-US" sz="1050" dirty="0"/>
          </a:p>
        </p:txBody>
      </p:sp>
      <p:sp>
        <p:nvSpPr>
          <p:cNvPr id="77" name="Text 75"/>
          <p:cNvSpPr/>
          <p:nvPr/>
        </p:nvSpPr>
        <p:spPr>
          <a:xfrm>
            <a:off x="54864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Current Intensity</a:t>
            </a:r>
            <a:endParaRPr lang="en-US" sz="800" dirty="0"/>
          </a:p>
        </p:txBody>
      </p:sp>
      <p:sp>
        <p:nvSpPr>
          <p:cNvPr id="78" name="Text 76"/>
          <p:cNvSpPr/>
          <p:nvPr/>
        </p:nvSpPr>
        <p:spPr>
          <a:xfrm>
            <a:off x="548640" y="5596128"/>
            <a:ext cx="1737360" cy="320040"/>
          </a:xfrm>
          <a:prstGeom prst="rect">
            <a:avLst/>
          </a:prstGeom>
          <a:noFill/>
          <a:ln/>
        </p:spPr>
        <p:txBody>
          <a:bodyPr wrap="square" rtlCol="0" anchor="ctr"/>
          <a:lstStyle/>
          <a:p>
            <a:pPr indent="0" marL="0">
              <a:buNone/>
            </a:pPr>
            <a:r>
              <a:rPr lang="en-US" sz="1350" b="1" dirty="0">
                <a:solidFill>
                  <a:srgbClr val="1565C0"/>
                </a:solidFill>
                <a:latin typeface="Calibri" pitchFamily="34" charset="0"/>
                <a:ea typeface="Calibri" pitchFamily="34" charset="-122"/>
                <a:cs typeface="Calibri" pitchFamily="34" charset="-120"/>
              </a:rPr>
              <a:t>68%</a:t>
            </a:r>
            <a:endParaRPr lang="en-US" sz="1350" dirty="0"/>
          </a:p>
        </p:txBody>
      </p:sp>
      <p:sp>
        <p:nvSpPr>
          <p:cNvPr id="79" name="Text 77"/>
          <p:cNvSpPr/>
          <p:nvPr/>
        </p:nvSpPr>
        <p:spPr>
          <a:xfrm>
            <a:off x="246888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Threshold</a:t>
            </a:r>
            <a:endParaRPr lang="en-US" sz="800" dirty="0"/>
          </a:p>
        </p:txBody>
      </p:sp>
      <p:sp>
        <p:nvSpPr>
          <p:cNvPr id="80" name="Text 78"/>
          <p:cNvSpPr/>
          <p:nvPr/>
        </p:nvSpPr>
        <p:spPr>
          <a:xfrm>
            <a:off x="2468880" y="5596128"/>
            <a:ext cx="1737360" cy="320040"/>
          </a:xfrm>
          <a:prstGeom prst="rect">
            <a:avLst/>
          </a:prstGeom>
          <a:noFill/>
          <a:ln/>
        </p:spPr>
        <p:txBody>
          <a:bodyPr wrap="square" rtlCol="0" anchor="ctr"/>
          <a:lstStyle/>
          <a:p>
            <a:pPr indent="0" marL="0">
              <a:buNone/>
            </a:pPr>
            <a:r>
              <a:rPr lang="en-US" sz="1350" b="1" dirty="0">
                <a:solidFill>
                  <a:srgbClr val="42A5F5"/>
                </a:solidFill>
                <a:latin typeface="Calibri" pitchFamily="34" charset="0"/>
                <a:ea typeface="Calibri" pitchFamily="34" charset="-122"/>
                <a:cs typeface="Calibri" pitchFamily="34" charset="-120"/>
              </a:rPr>
              <a:t>40%</a:t>
            </a:r>
            <a:endParaRPr lang="en-US" sz="1350" dirty="0"/>
          </a:p>
        </p:txBody>
      </p:sp>
      <p:sp>
        <p:nvSpPr>
          <p:cNvPr id="81" name="Text 79"/>
          <p:cNvSpPr/>
          <p:nvPr/>
        </p:nvSpPr>
        <p:spPr>
          <a:xfrm>
            <a:off x="438912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Status</a:t>
            </a:r>
            <a:endParaRPr lang="en-US" sz="800" dirty="0"/>
          </a:p>
        </p:txBody>
      </p:sp>
      <p:sp>
        <p:nvSpPr>
          <p:cNvPr id="82" name="Text 80"/>
          <p:cNvSpPr/>
          <p:nvPr/>
        </p:nvSpPr>
        <p:spPr>
          <a:xfrm>
            <a:off x="4389120" y="5596128"/>
            <a:ext cx="1737360" cy="320040"/>
          </a:xfrm>
          <a:prstGeom prst="rect">
            <a:avLst/>
          </a:prstGeom>
          <a:noFill/>
          <a:ln/>
        </p:spPr>
        <p:txBody>
          <a:bodyPr wrap="square" rtlCol="0" anchor="ctr"/>
          <a:lstStyle/>
          <a:p>
            <a:pPr indent="0" marL="0">
              <a:buNone/>
            </a:pPr>
            <a:r>
              <a:rPr lang="en-US" sz="1350" b="1" dirty="0">
                <a:solidFill>
                  <a:srgbClr val="388E3C"/>
                </a:solidFill>
                <a:latin typeface="Calibri" pitchFamily="34" charset="0"/>
                <a:ea typeface="Calibri" pitchFamily="34" charset="-122"/>
                <a:cs typeface="Calibri" pitchFamily="34" charset="-120"/>
              </a:rPr>
              <a:t>BRIGHT</a:t>
            </a:r>
            <a:endParaRPr lang="en-US" sz="1350" dirty="0"/>
          </a:p>
        </p:txBody>
      </p:sp>
      <p:sp>
        <p:nvSpPr>
          <p:cNvPr id="83" name="Text 81"/>
          <p:cNvSpPr/>
          <p:nvPr/>
        </p:nvSpPr>
        <p:spPr>
          <a:xfrm>
            <a:off x="630936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LED State</a:t>
            </a:r>
            <a:endParaRPr lang="en-US" sz="800" dirty="0"/>
          </a:p>
        </p:txBody>
      </p:sp>
      <p:sp>
        <p:nvSpPr>
          <p:cNvPr id="84" name="Text 82"/>
          <p:cNvSpPr/>
          <p:nvPr/>
        </p:nvSpPr>
        <p:spPr>
          <a:xfrm>
            <a:off x="6309360" y="5596128"/>
            <a:ext cx="1737360" cy="320040"/>
          </a:xfrm>
          <a:prstGeom prst="rect">
            <a:avLst/>
          </a:prstGeom>
          <a:noFill/>
          <a:ln/>
        </p:spPr>
        <p:txBody>
          <a:bodyPr wrap="square" rtlCol="0" anchor="ctr"/>
          <a:lstStyle/>
          <a:p>
            <a:pPr indent="0" marL="0">
              <a:buNone/>
            </a:pPr>
            <a:r>
              <a:rPr lang="en-US" sz="1350" b="1" dirty="0">
                <a:solidFill>
                  <a:srgbClr val="388E3C"/>
                </a:solidFill>
                <a:latin typeface="Calibri" pitchFamily="34" charset="0"/>
                <a:ea typeface="Calibri" pitchFamily="34" charset="-122"/>
                <a:cs typeface="Calibri" pitchFamily="34" charset="-120"/>
              </a:rPr>
              <a:t>OFF</a:t>
            </a:r>
            <a:endParaRPr lang="en-US" sz="1350" dirty="0"/>
          </a:p>
        </p:txBody>
      </p:sp>
      <p:sp>
        <p:nvSpPr>
          <p:cNvPr id="85" name="Text 83"/>
          <p:cNvSpPr/>
          <p:nvPr/>
        </p:nvSpPr>
        <p:spPr>
          <a:xfrm>
            <a:off x="822960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Source</a:t>
            </a:r>
            <a:endParaRPr lang="en-US" sz="800" dirty="0"/>
          </a:p>
        </p:txBody>
      </p:sp>
      <p:sp>
        <p:nvSpPr>
          <p:cNvPr id="86" name="Text 84"/>
          <p:cNvSpPr/>
          <p:nvPr/>
        </p:nvSpPr>
        <p:spPr>
          <a:xfrm>
            <a:off x="8229600" y="5596128"/>
            <a:ext cx="1737360" cy="320040"/>
          </a:xfrm>
          <a:prstGeom prst="rect">
            <a:avLst/>
          </a:prstGeom>
          <a:noFill/>
          <a:ln/>
        </p:spPr>
        <p:txBody>
          <a:bodyPr wrap="square" rtlCol="0" anchor="ctr"/>
          <a:lstStyle/>
          <a:p>
            <a:pPr indent="0" marL="0">
              <a:buNone/>
            </a:pPr>
            <a:r>
              <a:rPr lang="en-US" sz="1350" b="1" dirty="0">
                <a:solidFill>
                  <a:srgbClr val="D84315"/>
                </a:solidFill>
                <a:latin typeface="Calibri" pitchFamily="34" charset="0"/>
                <a:ea typeface="Calibri" pitchFamily="34" charset="-122"/>
                <a:cs typeface="Calibri" pitchFamily="34" charset="-120"/>
              </a:rPr>
              <a:t>Device</a:t>
            </a:r>
            <a:endParaRPr lang="en-US" sz="1350" dirty="0"/>
          </a:p>
        </p:txBody>
      </p:sp>
      <p:sp>
        <p:nvSpPr>
          <p:cNvPr id="87" name="Text 85"/>
          <p:cNvSpPr/>
          <p:nvPr/>
        </p:nvSpPr>
        <p:spPr>
          <a:xfrm>
            <a:off x="10149840" y="5394960"/>
            <a:ext cx="1737360" cy="201168"/>
          </a:xfrm>
          <a:prstGeom prst="rect">
            <a:avLst/>
          </a:prstGeom>
          <a:noFill/>
          <a:ln/>
        </p:spPr>
        <p:txBody>
          <a:bodyPr wrap="square" rtlCol="0" anchor="ctr"/>
          <a:lstStyle/>
          <a:p>
            <a:pPr indent="0" marL="0">
              <a:buNone/>
            </a:pPr>
            <a:r>
              <a:rPr lang="en-US" sz="800" dirty="0">
                <a:solidFill>
                  <a:srgbClr val="78909C"/>
                </a:solidFill>
                <a:latin typeface="Calibri" pitchFamily="34" charset="0"/>
                <a:ea typeface="Calibri" pitchFamily="34" charset="-122"/>
                <a:cs typeface="Calibri" pitchFamily="34" charset="-120"/>
              </a:rPr>
              <a:t>Device</a:t>
            </a:r>
            <a:endParaRPr lang="en-US" sz="800" dirty="0"/>
          </a:p>
        </p:txBody>
      </p:sp>
      <p:sp>
        <p:nvSpPr>
          <p:cNvPr id="88" name="Text 86"/>
          <p:cNvSpPr/>
          <p:nvPr/>
        </p:nvSpPr>
        <p:spPr>
          <a:xfrm>
            <a:off x="10149840" y="5596128"/>
            <a:ext cx="1737360" cy="320040"/>
          </a:xfrm>
          <a:prstGeom prst="rect">
            <a:avLst/>
          </a:prstGeom>
          <a:noFill/>
          <a:ln/>
        </p:spPr>
        <p:txBody>
          <a:bodyPr wrap="square" rtlCol="0" anchor="ctr"/>
          <a:lstStyle/>
          <a:p>
            <a:pPr indent="0" marL="0">
              <a:buNone/>
            </a:pPr>
            <a:r>
              <a:rPr lang="en-US" sz="1350" b="1" dirty="0">
                <a:solidFill>
                  <a:srgbClr val="0D2B5E"/>
                </a:solidFill>
                <a:latin typeface="Calibri" pitchFamily="34" charset="0"/>
                <a:ea typeface="Calibri" pitchFamily="34" charset="-122"/>
                <a:cs typeface="Calibri" pitchFamily="34" charset="-120"/>
              </a:rPr>
              <a:t>ESP32-Wokwi</a:t>
            </a:r>
            <a:endParaRPr lang="en-US" sz="1350" dirty="0"/>
          </a:p>
        </p:txBody>
      </p:sp>
      <p:sp>
        <p:nvSpPr>
          <p:cNvPr id="89" name="Text 87"/>
          <p:cNvSpPr/>
          <p:nvPr/>
        </p:nvSpPr>
        <p:spPr>
          <a:xfrm>
            <a:off x="548640" y="6080760"/>
            <a:ext cx="11064240" cy="274320"/>
          </a:xfrm>
          <a:prstGeom prst="rect">
            <a:avLst/>
          </a:prstGeom>
          <a:noFill/>
          <a:ln/>
        </p:spPr>
        <p:txBody>
          <a:bodyPr wrap="square" rtlCol="0" anchor="ctr"/>
          <a:lstStyle/>
          <a:p>
            <a:pPr algn="ctr" indent="0" marL="0">
              <a:buNone/>
            </a:pPr>
            <a:r>
              <a:rPr lang="en-US" sz="1000" i="1" dirty="0">
                <a:solidFill>
                  <a:srgbClr val="78909C"/>
                </a:solidFill>
                <a:latin typeface="Calibri" pitchFamily="34" charset="0"/>
                <a:ea typeface="Calibri" pitchFamily="34" charset="-122"/>
                <a:cs typeface="Calibri" pitchFamily="34" charset="-120"/>
              </a:rPr>
              <a:t>✔  System performed reliably with 98% packet success rate and sub-second LED response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8</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Drawbacks / Limitations</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8 of 10</a:t>
            </a:r>
            <a:endParaRPr lang="en-US" sz="750" dirty="0"/>
          </a:p>
        </p:txBody>
      </p:sp>
      <p:sp>
        <p:nvSpPr>
          <p:cNvPr id="10" name="Text 8"/>
          <p:cNvSpPr/>
          <p:nvPr/>
        </p:nvSpPr>
        <p:spPr>
          <a:xfrm>
            <a:off x="320040" y="950976"/>
            <a:ext cx="11521440" cy="274320"/>
          </a:xfrm>
          <a:prstGeom prst="rect">
            <a:avLst/>
          </a:prstGeom>
          <a:noFill/>
          <a:ln/>
        </p:spPr>
        <p:txBody>
          <a:bodyPr wrap="square" rtlCol="0" anchor="ctr"/>
          <a:lstStyle/>
          <a:p>
            <a:pPr indent="0" marL="0">
              <a:buNone/>
            </a:pPr>
            <a:r>
              <a:rPr lang="en-US" sz="1150" i="1" dirty="0">
                <a:solidFill>
                  <a:srgbClr val="78909C"/>
                </a:solidFill>
                <a:latin typeface="Calibri" pitchFamily="34" charset="0"/>
                <a:ea typeface="Calibri" pitchFamily="34" charset="-122"/>
                <a:cs typeface="Calibri" pitchFamily="34" charset="-120"/>
              </a:rPr>
              <a:t>Honest assessment of current limitations for academic review:</a:t>
            </a:r>
            <a:endParaRPr lang="en-US" sz="1150" dirty="0"/>
          </a:p>
        </p:txBody>
      </p:sp>
      <p:sp>
        <p:nvSpPr>
          <p:cNvPr id="11" name="Shape 9"/>
          <p:cNvSpPr/>
          <p:nvPr/>
        </p:nvSpPr>
        <p:spPr>
          <a:xfrm>
            <a:off x="320040" y="1325880"/>
            <a:ext cx="5623560" cy="1536192"/>
          </a:xfrm>
          <a:prstGeom prst="roundRect">
            <a:avLst>
              <a:gd name="adj" fmla="val 5952"/>
            </a:avLst>
          </a:prstGeom>
          <a:solidFill>
            <a:srgbClr val="FFF8E1"/>
          </a:solidFill>
          <a:ln w="9525">
            <a:solidFill>
              <a:srgbClr val="D84315"/>
            </a:solidFill>
            <a:prstDash val="solid"/>
          </a:ln>
        </p:spPr>
      </p:sp>
      <p:sp>
        <p:nvSpPr>
          <p:cNvPr id="12" name="Shape 10"/>
          <p:cNvSpPr/>
          <p:nvPr/>
        </p:nvSpPr>
        <p:spPr>
          <a:xfrm>
            <a:off x="320040" y="1325880"/>
            <a:ext cx="566928" cy="1536192"/>
          </a:xfrm>
          <a:prstGeom prst="rect">
            <a:avLst/>
          </a:prstGeom>
          <a:solidFill>
            <a:srgbClr val="D84315"/>
          </a:solidFill>
          <a:ln w="12700">
            <a:solidFill>
              <a:srgbClr val="D84315"/>
            </a:solidFill>
            <a:prstDash val="solid"/>
          </a:ln>
        </p:spPr>
      </p:sp>
      <p:sp>
        <p:nvSpPr>
          <p:cNvPr id="13" name="Shape 11"/>
          <p:cNvSpPr/>
          <p:nvPr/>
        </p:nvSpPr>
        <p:spPr>
          <a:xfrm>
            <a:off x="320040" y="1325880"/>
            <a:ext cx="566928" cy="1536192"/>
          </a:xfrm>
          <a:prstGeom prst="roundRect">
            <a:avLst>
              <a:gd name="adj" fmla="val 16129"/>
            </a:avLst>
          </a:prstGeom>
          <a:solidFill>
            <a:srgbClr val="D84315"/>
          </a:solidFill>
          <a:ln w="12700">
            <a:solidFill>
              <a:srgbClr val="D84315"/>
            </a:solidFill>
            <a:prstDash val="solid"/>
          </a:ln>
        </p:spPr>
      </p:sp>
      <p:sp>
        <p:nvSpPr>
          <p:cNvPr id="14" name="Shape 12"/>
          <p:cNvSpPr/>
          <p:nvPr/>
        </p:nvSpPr>
        <p:spPr>
          <a:xfrm>
            <a:off x="758952" y="1325880"/>
            <a:ext cx="128016" cy="1536192"/>
          </a:xfrm>
          <a:prstGeom prst="rect">
            <a:avLst/>
          </a:prstGeom>
          <a:solidFill>
            <a:srgbClr val="D84315"/>
          </a:solidFill>
          <a:ln w="12700">
            <a:solidFill>
              <a:srgbClr val="D84315"/>
            </a:solidFill>
            <a:prstDash val="solid"/>
          </a:ln>
        </p:spPr>
      </p:sp>
      <p:sp>
        <p:nvSpPr>
          <p:cNvPr id="15" name="Text 13"/>
          <p:cNvSpPr/>
          <p:nvPr/>
        </p:nvSpPr>
        <p:spPr>
          <a:xfrm>
            <a:off x="356616" y="170992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Shape 14"/>
          <p:cNvSpPr/>
          <p:nvPr/>
        </p:nvSpPr>
        <p:spPr>
          <a:xfrm>
            <a:off x="1014984" y="1417320"/>
            <a:ext cx="502920" cy="228600"/>
          </a:xfrm>
          <a:prstGeom prst="roundRect">
            <a:avLst>
              <a:gd name="adj" fmla="val 16000"/>
            </a:avLst>
          </a:prstGeom>
          <a:solidFill>
            <a:srgbClr val="D84315"/>
          </a:solidFill>
          <a:ln/>
        </p:spPr>
      </p:sp>
      <p:sp>
        <p:nvSpPr>
          <p:cNvPr id="17" name="Text 15"/>
          <p:cNvSpPr/>
          <p:nvPr/>
        </p:nvSpPr>
        <p:spPr>
          <a:xfrm>
            <a:off x="1014984" y="141732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18" name="Text 16"/>
          <p:cNvSpPr/>
          <p:nvPr/>
        </p:nvSpPr>
        <p:spPr>
          <a:xfrm>
            <a:off x="1581912" y="1399032"/>
            <a:ext cx="4224528" cy="292608"/>
          </a:xfrm>
          <a:prstGeom prst="rect">
            <a:avLst/>
          </a:prstGeom>
          <a:noFill/>
          <a:ln/>
        </p:spPr>
        <p:txBody>
          <a:bodyPr wrap="square" rtlCol="0" anchor="ctr"/>
          <a:lstStyle/>
          <a:p>
            <a:pPr indent="0" marL="0">
              <a:buNone/>
            </a:pPr>
            <a:r>
              <a:rPr lang="en-US" sz="1200" b="1" dirty="0">
                <a:solidFill>
                  <a:srgbClr val="D84315"/>
                </a:solidFill>
                <a:latin typeface="Calibri" pitchFamily="34" charset="0"/>
                <a:ea typeface="Calibri" pitchFamily="34" charset="-122"/>
                <a:cs typeface="Calibri" pitchFamily="34" charset="-120"/>
              </a:rPr>
              <a:t>Wi-Fi Dependency</a:t>
            </a:r>
            <a:endParaRPr lang="en-US" sz="1200" dirty="0"/>
          </a:p>
        </p:txBody>
      </p:sp>
      <p:sp>
        <p:nvSpPr>
          <p:cNvPr id="19" name="Text 17"/>
          <p:cNvSpPr/>
          <p:nvPr/>
        </p:nvSpPr>
        <p:spPr>
          <a:xfrm>
            <a:off x="1033272" y="176479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System requires stable Wi-Fi. Any network dropout causes sensor data loss and breaks real-time monitoring until reconnection (4–6 s).</a:t>
            </a:r>
            <a:endParaRPr lang="en-US" sz="1050" dirty="0"/>
          </a:p>
        </p:txBody>
      </p:sp>
      <p:sp>
        <p:nvSpPr>
          <p:cNvPr id="20" name="Shape 18"/>
          <p:cNvSpPr/>
          <p:nvPr/>
        </p:nvSpPr>
        <p:spPr>
          <a:xfrm>
            <a:off x="6263640" y="1325880"/>
            <a:ext cx="5623560" cy="1536192"/>
          </a:xfrm>
          <a:prstGeom prst="roundRect">
            <a:avLst>
              <a:gd name="adj" fmla="val 5952"/>
            </a:avLst>
          </a:prstGeom>
          <a:solidFill>
            <a:srgbClr val="FFF8E1"/>
          </a:solidFill>
          <a:ln w="9525">
            <a:solidFill>
              <a:srgbClr val="B71C1C"/>
            </a:solidFill>
            <a:prstDash val="solid"/>
          </a:ln>
        </p:spPr>
      </p:sp>
      <p:sp>
        <p:nvSpPr>
          <p:cNvPr id="21" name="Shape 19"/>
          <p:cNvSpPr/>
          <p:nvPr/>
        </p:nvSpPr>
        <p:spPr>
          <a:xfrm>
            <a:off x="6263640" y="1325880"/>
            <a:ext cx="566928" cy="1536192"/>
          </a:xfrm>
          <a:prstGeom prst="rect">
            <a:avLst/>
          </a:prstGeom>
          <a:solidFill>
            <a:srgbClr val="B71C1C"/>
          </a:solidFill>
          <a:ln w="12700">
            <a:solidFill>
              <a:srgbClr val="B71C1C"/>
            </a:solidFill>
            <a:prstDash val="solid"/>
          </a:ln>
        </p:spPr>
      </p:sp>
      <p:sp>
        <p:nvSpPr>
          <p:cNvPr id="22" name="Shape 20"/>
          <p:cNvSpPr/>
          <p:nvPr/>
        </p:nvSpPr>
        <p:spPr>
          <a:xfrm>
            <a:off x="6263640" y="1325880"/>
            <a:ext cx="566928" cy="1536192"/>
          </a:xfrm>
          <a:prstGeom prst="roundRect">
            <a:avLst>
              <a:gd name="adj" fmla="val 16129"/>
            </a:avLst>
          </a:prstGeom>
          <a:solidFill>
            <a:srgbClr val="B71C1C"/>
          </a:solidFill>
          <a:ln w="12700">
            <a:solidFill>
              <a:srgbClr val="B71C1C"/>
            </a:solidFill>
            <a:prstDash val="solid"/>
          </a:ln>
        </p:spPr>
      </p:sp>
      <p:sp>
        <p:nvSpPr>
          <p:cNvPr id="23" name="Shape 21"/>
          <p:cNvSpPr/>
          <p:nvPr/>
        </p:nvSpPr>
        <p:spPr>
          <a:xfrm>
            <a:off x="6702552" y="1325880"/>
            <a:ext cx="128016" cy="1536192"/>
          </a:xfrm>
          <a:prstGeom prst="rect">
            <a:avLst/>
          </a:prstGeom>
          <a:solidFill>
            <a:srgbClr val="B71C1C"/>
          </a:solidFill>
          <a:ln w="12700">
            <a:solidFill>
              <a:srgbClr val="B71C1C"/>
            </a:solidFill>
            <a:prstDash val="solid"/>
          </a:ln>
        </p:spPr>
      </p:sp>
      <p:sp>
        <p:nvSpPr>
          <p:cNvPr id="24" name="Text 22"/>
          <p:cNvSpPr/>
          <p:nvPr/>
        </p:nvSpPr>
        <p:spPr>
          <a:xfrm>
            <a:off x="6300216" y="170992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5" name="Shape 23"/>
          <p:cNvSpPr/>
          <p:nvPr/>
        </p:nvSpPr>
        <p:spPr>
          <a:xfrm>
            <a:off x="6958584" y="1417320"/>
            <a:ext cx="502920" cy="228600"/>
          </a:xfrm>
          <a:prstGeom prst="roundRect">
            <a:avLst>
              <a:gd name="adj" fmla="val 16000"/>
            </a:avLst>
          </a:prstGeom>
          <a:solidFill>
            <a:srgbClr val="B71C1C"/>
          </a:solidFill>
          <a:ln/>
        </p:spPr>
      </p:sp>
      <p:sp>
        <p:nvSpPr>
          <p:cNvPr id="26" name="Text 24"/>
          <p:cNvSpPr/>
          <p:nvPr/>
        </p:nvSpPr>
        <p:spPr>
          <a:xfrm>
            <a:off x="6958584" y="141732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27" name="Text 25"/>
          <p:cNvSpPr/>
          <p:nvPr/>
        </p:nvSpPr>
        <p:spPr>
          <a:xfrm>
            <a:off x="7525512" y="1399032"/>
            <a:ext cx="4224528"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No Hysteresis Control</a:t>
            </a:r>
            <a:endParaRPr lang="en-US" sz="1200" dirty="0"/>
          </a:p>
        </p:txBody>
      </p:sp>
      <p:sp>
        <p:nvSpPr>
          <p:cNvPr id="28" name="Text 26"/>
          <p:cNvSpPr/>
          <p:nvPr/>
        </p:nvSpPr>
        <p:spPr>
          <a:xfrm>
            <a:off x="6976872" y="176479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Without hysteresis dead-band logic, the LED may flicker rapidly when light intensity oscillates near the threshold boundary.</a:t>
            </a:r>
            <a:endParaRPr lang="en-US" sz="1050" dirty="0"/>
          </a:p>
        </p:txBody>
      </p:sp>
      <p:sp>
        <p:nvSpPr>
          <p:cNvPr id="29" name="Shape 27"/>
          <p:cNvSpPr/>
          <p:nvPr/>
        </p:nvSpPr>
        <p:spPr>
          <a:xfrm>
            <a:off x="320040" y="3017520"/>
            <a:ext cx="5623560" cy="1536192"/>
          </a:xfrm>
          <a:prstGeom prst="roundRect">
            <a:avLst>
              <a:gd name="adj" fmla="val 5952"/>
            </a:avLst>
          </a:prstGeom>
          <a:solidFill>
            <a:srgbClr val="FFF8E1"/>
          </a:solidFill>
          <a:ln w="9525">
            <a:solidFill>
              <a:srgbClr val="F57F17"/>
            </a:solidFill>
            <a:prstDash val="solid"/>
          </a:ln>
        </p:spPr>
      </p:sp>
      <p:sp>
        <p:nvSpPr>
          <p:cNvPr id="30" name="Shape 28"/>
          <p:cNvSpPr/>
          <p:nvPr/>
        </p:nvSpPr>
        <p:spPr>
          <a:xfrm>
            <a:off x="320040" y="3017520"/>
            <a:ext cx="566928" cy="1536192"/>
          </a:xfrm>
          <a:prstGeom prst="rect">
            <a:avLst/>
          </a:prstGeom>
          <a:solidFill>
            <a:srgbClr val="F57F17"/>
          </a:solidFill>
          <a:ln w="12700">
            <a:solidFill>
              <a:srgbClr val="F57F17"/>
            </a:solidFill>
            <a:prstDash val="solid"/>
          </a:ln>
        </p:spPr>
      </p:sp>
      <p:sp>
        <p:nvSpPr>
          <p:cNvPr id="31" name="Shape 29"/>
          <p:cNvSpPr/>
          <p:nvPr/>
        </p:nvSpPr>
        <p:spPr>
          <a:xfrm>
            <a:off x="320040" y="3017520"/>
            <a:ext cx="566928" cy="1536192"/>
          </a:xfrm>
          <a:prstGeom prst="roundRect">
            <a:avLst>
              <a:gd name="adj" fmla="val 16129"/>
            </a:avLst>
          </a:prstGeom>
          <a:solidFill>
            <a:srgbClr val="F57F17"/>
          </a:solidFill>
          <a:ln w="12700">
            <a:solidFill>
              <a:srgbClr val="F57F17"/>
            </a:solidFill>
            <a:prstDash val="solid"/>
          </a:ln>
        </p:spPr>
      </p:sp>
      <p:sp>
        <p:nvSpPr>
          <p:cNvPr id="32" name="Shape 30"/>
          <p:cNvSpPr/>
          <p:nvPr/>
        </p:nvSpPr>
        <p:spPr>
          <a:xfrm>
            <a:off x="758952" y="3017520"/>
            <a:ext cx="128016" cy="1536192"/>
          </a:xfrm>
          <a:prstGeom prst="rect">
            <a:avLst/>
          </a:prstGeom>
          <a:solidFill>
            <a:srgbClr val="F57F17"/>
          </a:solidFill>
          <a:ln w="12700">
            <a:solidFill>
              <a:srgbClr val="F57F17"/>
            </a:solidFill>
            <a:prstDash val="solid"/>
          </a:ln>
        </p:spPr>
      </p:sp>
      <p:sp>
        <p:nvSpPr>
          <p:cNvPr id="33" name="Text 31"/>
          <p:cNvSpPr/>
          <p:nvPr/>
        </p:nvSpPr>
        <p:spPr>
          <a:xfrm>
            <a:off x="356616" y="340156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4" name="Shape 32"/>
          <p:cNvSpPr/>
          <p:nvPr/>
        </p:nvSpPr>
        <p:spPr>
          <a:xfrm>
            <a:off x="1014984" y="3108960"/>
            <a:ext cx="502920" cy="228600"/>
          </a:xfrm>
          <a:prstGeom prst="roundRect">
            <a:avLst>
              <a:gd name="adj" fmla="val 16000"/>
            </a:avLst>
          </a:prstGeom>
          <a:solidFill>
            <a:srgbClr val="F57F17"/>
          </a:solidFill>
          <a:ln/>
        </p:spPr>
      </p:sp>
      <p:sp>
        <p:nvSpPr>
          <p:cNvPr id="35" name="Text 33"/>
          <p:cNvSpPr/>
          <p:nvPr/>
        </p:nvSpPr>
        <p:spPr>
          <a:xfrm>
            <a:off x="1014984" y="310896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1581912" y="3090672"/>
            <a:ext cx="4224528" cy="292608"/>
          </a:xfrm>
          <a:prstGeom prst="rect">
            <a:avLst/>
          </a:prstGeom>
          <a:noFill/>
          <a:ln/>
        </p:spPr>
        <p:txBody>
          <a:bodyPr wrap="square" rtlCol="0" anchor="ctr"/>
          <a:lstStyle/>
          <a:p>
            <a:pPr indent="0" marL="0">
              <a:buNone/>
            </a:pPr>
            <a:r>
              <a:rPr lang="en-US" sz="1200" b="1" dirty="0">
                <a:solidFill>
                  <a:srgbClr val="F57F17"/>
                </a:solidFill>
                <a:latin typeface="Calibri" pitchFamily="34" charset="0"/>
                <a:ea typeface="Calibri" pitchFamily="34" charset="-122"/>
                <a:cs typeface="Calibri" pitchFamily="34" charset="-120"/>
              </a:rPr>
              <a:t>LDR Sensor Noise</a:t>
            </a:r>
            <a:endParaRPr lang="en-US" sz="1200" dirty="0"/>
          </a:p>
        </p:txBody>
      </p:sp>
      <p:sp>
        <p:nvSpPr>
          <p:cNvPr id="37" name="Text 35"/>
          <p:cNvSpPr/>
          <p:nvPr/>
        </p:nvSpPr>
        <p:spPr>
          <a:xfrm>
            <a:off x="1033272" y="345643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The LDR exhibits ±2% ADC noise due to electrical interference. A digital BH750 lux sensor would provide more accurate and stable readings.</a:t>
            </a:r>
            <a:endParaRPr lang="en-US" sz="1050" dirty="0"/>
          </a:p>
        </p:txBody>
      </p:sp>
      <p:sp>
        <p:nvSpPr>
          <p:cNvPr id="38" name="Shape 36"/>
          <p:cNvSpPr/>
          <p:nvPr/>
        </p:nvSpPr>
        <p:spPr>
          <a:xfrm>
            <a:off x="6263640" y="3017520"/>
            <a:ext cx="5623560" cy="1536192"/>
          </a:xfrm>
          <a:prstGeom prst="roundRect">
            <a:avLst>
              <a:gd name="adj" fmla="val 5952"/>
            </a:avLst>
          </a:prstGeom>
          <a:solidFill>
            <a:srgbClr val="FFF8E1"/>
          </a:solidFill>
          <a:ln w="9525">
            <a:solidFill>
              <a:srgbClr val="1976D2"/>
            </a:solidFill>
            <a:prstDash val="solid"/>
          </a:ln>
        </p:spPr>
      </p:sp>
      <p:sp>
        <p:nvSpPr>
          <p:cNvPr id="39" name="Shape 37"/>
          <p:cNvSpPr/>
          <p:nvPr/>
        </p:nvSpPr>
        <p:spPr>
          <a:xfrm>
            <a:off x="6263640" y="3017520"/>
            <a:ext cx="566928" cy="1536192"/>
          </a:xfrm>
          <a:prstGeom prst="rect">
            <a:avLst/>
          </a:prstGeom>
          <a:solidFill>
            <a:srgbClr val="1976D2"/>
          </a:solidFill>
          <a:ln w="12700">
            <a:solidFill>
              <a:srgbClr val="1976D2"/>
            </a:solidFill>
            <a:prstDash val="solid"/>
          </a:ln>
        </p:spPr>
      </p:sp>
      <p:sp>
        <p:nvSpPr>
          <p:cNvPr id="40" name="Shape 38"/>
          <p:cNvSpPr/>
          <p:nvPr/>
        </p:nvSpPr>
        <p:spPr>
          <a:xfrm>
            <a:off x="6263640" y="3017520"/>
            <a:ext cx="566928" cy="1536192"/>
          </a:xfrm>
          <a:prstGeom prst="roundRect">
            <a:avLst>
              <a:gd name="adj" fmla="val 16129"/>
            </a:avLst>
          </a:prstGeom>
          <a:solidFill>
            <a:srgbClr val="1976D2"/>
          </a:solidFill>
          <a:ln w="12700">
            <a:solidFill>
              <a:srgbClr val="1976D2"/>
            </a:solidFill>
            <a:prstDash val="solid"/>
          </a:ln>
        </p:spPr>
      </p:sp>
      <p:sp>
        <p:nvSpPr>
          <p:cNvPr id="41" name="Shape 39"/>
          <p:cNvSpPr/>
          <p:nvPr/>
        </p:nvSpPr>
        <p:spPr>
          <a:xfrm>
            <a:off x="6702552" y="3017520"/>
            <a:ext cx="128016" cy="1536192"/>
          </a:xfrm>
          <a:prstGeom prst="rect">
            <a:avLst/>
          </a:prstGeom>
          <a:solidFill>
            <a:srgbClr val="1976D2"/>
          </a:solidFill>
          <a:ln w="12700">
            <a:solidFill>
              <a:srgbClr val="1976D2"/>
            </a:solidFill>
            <a:prstDash val="solid"/>
          </a:ln>
        </p:spPr>
      </p:sp>
      <p:sp>
        <p:nvSpPr>
          <p:cNvPr id="42" name="Text 40"/>
          <p:cNvSpPr/>
          <p:nvPr/>
        </p:nvSpPr>
        <p:spPr>
          <a:xfrm>
            <a:off x="6300216" y="340156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3" name="Shape 41"/>
          <p:cNvSpPr/>
          <p:nvPr/>
        </p:nvSpPr>
        <p:spPr>
          <a:xfrm>
            <a:off x="6958584" y="3108960"/>
            <a:ext cx="502920" cy="228600"/>
          </a:xfrm>
          <a:prstGeom prst="roundRect">
            <a:avLst>
              <a:gd name="adj" fmla="val 16000"/>
            </a:avLst>
          </a:prstGeom>
          <a:solidFill>
            <a:srgbClr val="1976D2"/>
          </a:solidFill>
          <a:ln/>
        </p:spPr>
      </p:sp>
      <p:sp>
        <p:nvSpPr>
          <p:cNvPr id="44" name="Text 42"/>
          <p:cNvSpPr/>
          <p:nvPr/>
        </p:nvSpPr>
        <p:spPr>
          <a:xfrm>
            <a:off x="6958584" y="310896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7525512" y="3090672"/>
            <a:ext cx="4224528" cy="292608"/>
          </a:xfrm>
          <a:prstGeom prst="rect">
            <a:avLst/>
          </a:prstGeom>
          <a:noFill/>
          <a:ln/>
        </p:spPr>
        <p:txBody>
          <a:bodyPr wrap="square" rtlCol="0" anchor="ctr"/>
          <a:lstStyle/>
          <a:p>
            <a:pPr indent="0" marL="0">
              <a:buNone/>
            </a:pPr>
            <a:r>
              <a:rPr lang="en-US" sz="1200" b="1" dirty="0">
                <a:solidFill>
                  <a:srgbClr val="1976D2"/>
                </a:solidFill>
                <a:latin typeface="Calibri" pitchFamily="34" charset="0"/>
                <a:ea typeface="Calibri" pitchFamily="34" charset="-122"/>
                <a:cs typeface="Calibri" pitchFamily="34" charset="-120"/>
              </a:rPr>
              <a:t>Limited Security</a:t>
            </a:r>
            <a:endParaRPr lang="en-US" sz="1200" dirty="0"/>
          </a:p>
        </p:txBody>
      </p:sp>
      <p:sp>
        <p:nvSpPr>
          <p:cNvPr id="46" name="Text 44"/>
          <p:cNvSpPr/>
          <p:nvPr/>
        </p:nvSpPr>
        <p:spPr>
          <a:xfrm>
            <a:off x="6976872" y="345643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REST endpoints do not implement TLS certificate pinning or device-level API key authentication. Suitable for prototype; not production.</a:t>
            </a:r>
            <a:endParaRPr lang="en-US" sz="1050" dirty="0"/>
          </a:p>
        </p:txBody>
      </p:sp>
      <p:sp>
        <p:nvSpPr>
          <p:cNvPr id="47" name="Shape 45"/>
          <p:cNvSpPr/>
          <p:nvPr/>
        </p:nvSpPr>
        <p:spPr>
          <a:xfrm>
            <a:off x="320040" y="4709160"/>
            <a:ext cx="5623560" cy="1536192"/>
          </a:xfrm>
          <a:prstGeom prst="roundRect">
            <a:avLst>
              <a:gd name="adj" fmla="val 5952"/>
            </a:avLst>
          </a:prstGeom>
          <a:solidFill>
            <a:srgbClr val="FFF8E1"/>
          </a:solidFill>
          <a:ln w="9525">
            <a:solidFill>
              <a:srgbClr val="0D2B5E"/>
            </a:solidFill>
            <a:prstDash val="solid"/>
          </a:ln>
        </p:spPr>
      </p:sp>
      <p:sp>
        <p:nvSpPr>
          <p:cNvPr id="48" name="Shape 46"/>
          <p:cNvSpPr/>
          <p:nvPr/>
        </p:nvSpPr>
        <p:spPr>
          <a:xfrm>
            <a:off x="320040" y="4709160"/>
            <a:ext cx="566928" cy="1536192"/>
          </a:xfrm>
          <a:prstGeom prst="rect">
            <a:avLst/>
          </a:prstGeom>
          <a:solidFill>
            <a:srgbClr val="0D2B5E"/>
          </a:solidFill>
          <a:ln w="12700">
            <a:solidFill>
              <a:srgbClr val="0D2B5E"/>
            </a:solidFill>
            <a:prstDash val="solid"/>
          </a:ln>
        </p:spPr>
      </p:sp>
      <p:sp>
        <p:nvSpPr>
          <p:cNvPr id="49" name="Shape 47"/>
          <p:cNvSpPr/>
          <p:nvPr/>
        </p:nvSpPr>
        <p:spPr>
          <a:xfrm>
            <a:off x="320040" y="4709160"/>
            <a:ext cx="566928" cy="1536192"/>
          </a:xfrm>
          <a:prstGeom prst="roundRect">
            <a:avLst>
              <a:gd name="adj" fmla="val 16129"/>
            </a:avLst>
          </a:prstGeom>
          <a:solidFill>
            <a:srgbClr val="0D2B5E"/>
          </a:solidFill>
          <a:ln w="12700">
            <a:solidFill>
              <a:srgbClr val="0D2B5E"/>
            </a:solidFill>
            <a:prstDash val="solid"/>
          </a:ln>
        </p:spPr>
      </p:sp>
      <p:sp>
        <p:nvSpPr>
          <p:cNvPr id="50" name="Shape 48"/>
          <p:cNvSpPr/>
          <p:nvPr/>
        </p:nvSpPr>
        <p:spPr>
          <a:xfrm>
            <a:off x="758952" y="4709160"/>
            <a:ext cx="128016" cy="1536192"/>
          </a:xfrm>
          <a:prstGeom prst="rect">
            <a:avLst/>
          </a:prstGeom>
          <a:solidFill>
            <a:srgbClr val="0D2B5E"/>
          </a:solidFill>
          <a:ln w="12700">
            <a:solidFill>
              <a:srgbClr val="0D2B5E"/>
            </a:solidFill>
            <a:prstDash val="solid"/>
          </a:ln>
        </p:spPr>
      </p:sp>
      <p:sp>
        <p:nvSpPr>
          <p:cNvPr id="51" name="Text 49"/>
          <p:cNvSpPr/>
          <p:nvPr/>
        </p:nvSpPr>
        <p:spPr>
          <a:xfrm>
            <a:off x="356616" y="509320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52" name="Shape 50"/>
          <p:cNvSpPr/>
          <p:nvPr/>
        </p:nvSpPr>
        <p:spPr>
          <a:xfrm>
            <a:off x="1014984" y="4800600"/>
            <a:ext cx="502920" cy="228600"/>
          </a:xfrm>
          <a:prstGeom prst="roundRect">
            <a:avLst>
              <a:gd name="adj" fmla="val 16000"/>
            </a:avLst>
          </a:prstGeom>
          <a:solidFill>
            <a:srgbClr val="0D2B5E"/>
          </a:solidFill>
          <a:ln/>
        </p:spPr>
      </p:sp>
      <p:sp>
        <p:nvSpPr>
          <p:cNvPr id="53" name="Text 51"/>
          <p:cNvSpPr/>
          <p:nvPr/>
        </p:nvSpPr>
        <p:spPr>
          <a:xfrm>
            <a:off x="1014984" y="480060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1581912" y="4782312"/>
            <a:ext cx="4224528" cy="292608"/>
          </a:xfrm>
          <a:prstGeom prst="rect">
            <a:avLst/>
          </a:prstGeom>
          <a:noFill/>
          <a:ln/>
        </p:spPr>
        <p:txBody>
          <a:bodyPr wrap="square"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Simulation Only</a:t>
            </a:r>
            <a:endParaRPr lang="en-US" sz="1200" dirty="0"/>
          </a:p>
        </p:txBody>
      </p:sp>
      <p:sp>
        <p:nvSpPr>
          <p:cNvPr id="55" name="Text 53"/>
          <p:cNvSpPr/>
          <p:nvPr/>
        </p:nvSpPr>
        <p:spPr>
          <a:xfrm>
            <a:off x="1033272" y="514807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All testing performed in Wokwi. Real hardware may show different ADC characteristics, Wi-Fi signal strength, and timing behaviour.</a:t>
            </a:r>
            <a:endParaRPr lang="en-US" sz="1050" dirty="0"/>
          </a:p>
        </p:txBody>
      </p:sp>
      <p:sp>
        <p:nvSpPr>
          <p:cNvPr id="56" name="Shape 54"/>
          <p:cNvSpPr/>
          <p:nvPr/>
        </p:nvSpPr>
        <p:spPr>
          <a:xfrm>
            <a:off x="6263640" y="4709160"/>
            <a:ext cx="5623560" cy="1536192"/>
          </a:xfrm>
          <a:prstGeom prst="roundRect">
            <a:avLst>
              <a:gd name="adj" fmla="val 5952"/>
            </a:avLst>
          </a:prstGeom>
          <a:solidFill>
            <a:srgbClr val="FFF8E1"/>
          </a:solidFill>
          <a:ln w="9525">
            <a:solidFill>
              <a:srgbClr val="1565C0"/>
            </a:solidFill>
            <a:prstDash val="solid"/>
          </a:ln>
        </p:spPr>
      </p:sp>
      <p:sp>
        <p:nvSpPr>
          <p:cNvPr id="57" name="Shape 55"/>
          <p:cNvSpPr/>
          <p:nvPr/>
        </p:nvSpPr>
        <p:spPr>
          <a:xfrm>
            <a:off x="6263640" y="4709160"/>
            <a:ext cx="566928" cy="1536192"/>
          </a:xfrm>
          <a:prstGeom prst="rect">
            <a:avLst/>
          </a:prstGeom>
          <a:solidFill>
            <a:srgbClr val="1565C0"/>
          </a:solidFill>
          <a:ln w="12700">
            <a:solidFill>
              <a:srgbClr val="1565C0"/>
            </a:solidFill>
            <a:prstDash val="solid"/>
          </a:ln>
        </p:spPr>
      </p:sp>
      <p:sp>
        <p:nvSpPr>
          <p:cNvPr id="58" name="Shape 56"/>
          <p:cNvSpPr/>
          <p:nvPr/>
        </p:nvSpPr>
        <p:spPr>
          <a:xfrm>
            <a:off x="6263640" y="4709160"/>
            <a:ext cx="566928" cy="1536192"/>
          </a:xfrm>
          <a:prstGeom prst="roundRect">
            <a:avLst>
              <a:gd name="adj" fmla="val 16129"/>
            </a:avLst>
          </a:prstGeom>
          <a:solidFill>
            <a:srgbClr val="1565C0"/>
          </a:solidFill>
          <a:ln w="12700">
            <a:solidFill>
              <a:srgbClr val="1565C0"/>
            </a:solidFill>
            <a:prstDash val="solid"/>
          </a:ln>
        </p:spPr>
      </p:sp>
      <p:sp>
        <p:nvSpPr>
          <p:cNvPr id="59" name="Shape 57"/>
          <p:cNvSpPr/>
          <p:nvPr/>
        </p:nvSpPr>
        <p:spPr>
          <a:xfrm>
            <a:off x="6702552" y="4709160"/>
            <a:ext cx="128016" cy="1536192"/>
          </a:xfrm>
          <a:prstGeom prst="rect">
            <a:avLst/>
          </a:prstGeom>
          <a:solidFill>
            <a:srgbClr val="1565C0"/>
          </a:solidFill>
          <a:ln w="12700">
            <a:solidFill>
              <a:srgbClr val="1565C0"/>
            </a:solidFill>
            <a:prstDash val="solid"/>
          </a:ln>
        </p:spPr>
      </p:sp>
      <p:sp>
        <p:nvSpPr>
          <p:cNvPr id="60" name="Text 58"/>
          <p:cNvSpPr/>
          <p:nvPr/>
        </p:nvSpPr>
        <p:spPr>
          <a:xfrm>
            <a:off x="6300216" y="5093208"/>
            <a:ext cx="493776"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61" name="Shape 59"/>
          <p:cNvSpPr/>
          <p:nvPr/>
        </p:nvSpPr>
        <p:spPr>
          <a:xfrm>
            <a:off x="6958584" y="4800600"/>
            <a:ext cx="502920" cy="228600"/>
          </a:xfrm>
          <a:prstGeom prst="roundRect">
            <a:avLst>
              <a:gd name="adj" fmla="val 16000"/>
            </a:avLst>
          </a:prstGeom>
          <a:solidFill>
            <a:srgbClr val="1565C0"/>
          </a:solidFill>
          <a:ln/>
        </p:spPr>
      </p:sp>
      <p:sp>
        <p:nvSpPr>
          <p:cNvPr id="62" name="Text 60"/>
          <p:cNvSpPr/>
          <p:nvPr/>
        </p:nvSpPr>
        <p:spPr>
          <a:xfrm>
            <a:off x="6958584" y="4800600"/>
            <a:ext cx="502920" cy="2286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7525512" y="4782312"/>
            <a:ext cx="4224528" cy="292608"/>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No Persistent Config</a:t>
            </a:r>
            <a:endParaRPr lang="en-US" sz="1200" dirty="0"/>
          </a:p>
        </p:txBody>
      </p:sp>
      <p:sp>
        <p:nvSpPr>
          <p:cNvPr id="64" name="Text 62"/>
          <p:cNvSpPr/>
          <p:nvPr/>
        </p:nvSpPr>
        <p:spPr>
          <a:xfrm>
            <a:off x="6976872" y="5148072"/>
            <a:ext cx="4773168" cy="86868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Threshold and LED mode settings reset to defaults on ESP32 reboot. These should be stored in EEPROM/NVS for persistent configuration.</a:t>
            </a:r>
            <a:endParaRPr lang="en-US" sz="1050" dirty="0"/>
          </a:p>
        </p:txBody>
      </p:sp>
      <p:sp>
        <p:nvSpPr>
          <p:cNvPr id="65" name="Shape 63"/>
          <p:cNvSpPr/>
          <p:nvPr/>
        </p:nvSpPr>
        <p:spPr>
          <a:xfrm>
            <a:off x="320040" y="6419088"/>
            <a:ext cx="11521440" cy="292608"/>
          </a:xfrm>
          <a:prstGeom prst="roundRect">
            <a:avLst>
              <a:gd name="adj" fmla="val 31250"/>
            </a:avLst>
          </a:prstGeom>
          <a:solidFill>
            <a:srgbClr val="FBE9E7"/>
          </a:solidFill>
          <a:ln w="6350">
            <a:solidFill>
              <a:srgbClr val="D84315"/>
            </a:solidFill>
            <a:prstDash val="solid"/>
          </a:ln>
        </p:spPr>
      </p:sp>
      <p:sp>
        <p:nvSpPr>
          <p:cNvPr id="66" name="Text 64"/>
          <p:cNvSpPr/>
          <p:nvPr/>
        </p:nvSpPr>
        <p:spPr>
          <a:xfrm>
            <a:off x="502920" y="6437376"/>
            <a:ext cx="11155680" cy="256032"/>
          </a:xfrm>
          <a:prstGeom prst="rect">
            <a:avLst/>
          </a:prstGeom>
          <a:noFill/>
          <a:ln/>
        </p:spPr>
        <p:txBody>
          <a:bodyPr wrap="square" rtlCol="0" anchor="ctr"/>
          <a:lstStyle/>
          <a:p>
            <a:pPr indent="0" marL="0">
              <a:buNone/>
            </a:pPr>
            <a:r>
              <a:rPr lang="en-US" sz="1000" b="1" dirty="0">
                <a:solidFill>
                  <a:srgbClr val="D84315"/>
                </a:solidFill>
                <a:latin typeface="Calibri" pitchFamily="34" charset="0"/>
                <a:ea typeface="Calibri" pitchFamily="34" charset="-122"/>
                <a:cs typeface="Calibri" pitchFamily="34" charset="-120"/>
              </a:rPr>
              <a:t>📌  Note: All limitations above have identified solutions — see Slide 9 (Future Improvements) for the roadmap.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42A5F5"/>
          </a:solidFill>
          <a:ln/>
        </p:spPr>
      </p:sp>
      <p:sp>
        <p:nvSpPr>
          <p:cNvPr id="3" name="Shape 1"/>
          <p:cNvSpPr/>
          <p:nvPr/>
        </p:nvSpPr>
        <p:spPr>
          <a:xfrm>
            <a:off x="0" y="54864"/>
            <a:ext cx="12188952" cy="768096"/>
          </a:xfrm>
          <a:prstGeom prst="rect">
            <a:avLst/>
          </a:prstGeom>
          <a:solidFill>
            <a:srgbClr val="0D2B5E"/>
          </a:solidFill>
          <a:ln/>
        </p:spPr>
      </p:sp>
      <p:sp>
        <p:nvSpPr>
          <p:cNvPr id="4" name="Shape 2"/>
          <p:cNvSpPr/>
          <p:nvPr/>
        </p:nvSpPr>
        <p:spPr>
          <a:xfrm>
            <a:off x="11868912" y="54864"/>
            <a:ext cx="320040" cy="768096"/>
          </a:xfrm>
          <a:prstGeom prst="rect">
            <a:avLst/>
          </a:prstGeom>
          <a:solidFill>
            <a:srgbClr val="1565C0"/>
          </a:solidFill>
          <a:ln/>
        </p:spPr>
      </p:sp>
      <p:sp>
        <p:nvSpPr>
          <p:cNvPr id="5" name="Shape 3"/>
          <p:cNvSpPr/>
          <p:nvPr/>
        </p:nvSpPr>
        <p:spPr>
          <a:xfrm>
            <a:off x="256032" y="155448"/>
            <a:ext cx="475488" cy="475488"/>
          </a:xfrm>
          <a:prstGeom prst="ellipse">
            <a:avLst/>
          </a:prstGeom>
          <a:solidFill>
            <a:srgbClr val="42A5F5"/>
          </a:solidFill>
          <a:ln w="6350">
            <a:solidFill>
              <a:srgbClr val="FFFFFF"/>
            </a:solidFill>
            <a:prstDash val="solid"/>
          </a:ln>
        </p:spPr>
      </p:sp>
      <p:sp>
        <p:nvSpPr>
          <p:cNvPr id="6" name="Text 4"/>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9</a:t>
            </a:r>
            <a:endParaRPr lang="en-US" sz="1500" dirty="0"/>
          </a:p>
        </p:txBody>
      </p:sp>
      <p:sp>
        <p:nvSpPr>
          <p:cNvPr id="7" name="Text 5"/>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Future Improvements</a:t>
            </a:r>
            <a:endParaRPr lang="en-US" sz="2200" dirty="0"/>
          </a:p>
        </p:txBody>
      </p:sp>
      <p:sp>
        <p:nvSpPr>
          <p:cNvPr id="8" name="Shape 6"/>
          <p:cNvSpPr/>
          <p:nvPr/>
        </p:nvSpPr>
        <p:spPr>
          <a:xfrm>
            <a:off x="0" y="6693408"/>
            <a:ext cx="12188952" cy="18288"/>
          </a:xfrm>
          <a:prstGeom prst="rect">
            <a:avLst/>
          </a:prstGeom>
          <a:solidFill>
            <a:srgbClr val="BBDEFB"/>
          </a:solidFill>
          <a:ln/>
        </p:spPr>
      </p:sp>
      <p:sp>
        <p:nvSpPr>
          <p:cNvPr id="9" name="Text 7"/>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9 of 10</a:t>
            </a:r>
            <a:endParaRPr lang="en-US" sz="750" dirty="0"/>
          </a:p>
        </p:txBody>
      </p:sp>
      <p:sp>
        <p:nvSpPr>
          <p:cNvPr id="10" name="Text 8"/>
          <p:cNvSpPr/>
          <p:nvPr/>
        </p:nvSpPr>
        <p:spPr>
          <a:xfrm>
            <a:off x="320040" y="950976"/>
            <a:ext cx="11521440" cy="274320"/>
          </a:xfrm>
          <a:prstGeom prst="rect">
            <a:avLst/>
          </a:prstGeom>
          <a:noFill/>
          <a:ln/>
        </p:spPr>
        <p:txBody>
          <a:bodyPr wrap="square" rtlCol="0" anchor="ctr"/>
          <a:lstStyle/>
          <a:p>
            <a:pPr indent="0" marL="0">
              <a:buNone/>
            </a:pPr>
            <a:r>
              <a:rPr lang="en-US" sz="1150" i="1" dirty="0">
                <a:solidFill>
                  <a:srgbClr val="78909C"/>
                </a:solidFill>
                <a:latin typeface="Calibri" pitchFamily="34" charset="0"/>
                <a:ea typeface="Calibri" pitchFamily="34" charset="-122"/>
                <a:cs typeface="Calibri" pitchFamily="34" charset="-120"/>
              </a:rPr>
              <a:t>Planned enhancements to evolve this prototype into a production-ready system:</a:t>
            </a:r>
            <a:endParaRPr lang="en-US" sz="1150" dirty="0"/>
          </a:p>
        </p:txBody>
      </p:sp>
      <p:sp>
        <p:nvSpPr>
          <p:cNvPr id="11" name="Shape 9"/>
          <p:cNvSpPr/>
          <p:nvPr/>
        </p:nvSpPr>
        <p:spPr>
          <a:xfrm>
            <a:off x="320040" y="1325880"/>
            <a:ext cx="5760720" cy="1115568"/>
          </a:xfrm>
          <a:prstGeom prst="roundRect">
            <a:avLst>
              <a:gd name="adj" fmla="val 8197"/>
            </a:avLst>
          </a:prstGeom>
          <a:solidFill>
            <a:srgbClr val="E8F4FD"/>
          </a:solidFill>
          <a:ln w="9525">
            <a:solidFill>
              <a:srgbClr val="D84315"/>
            </a:solidFill>
            <a:prstDash val="solid"/>
          </a:ln>
        </p:spPr>
      </p:sp>
      <p:sp>
        <p:nvSpPr>
          <p:cNvPr id="12" name="Shape 10"/>
          <p:cNvSpPr/>
          <p:nvPr/>
        </p:nvSpPr>
        <p:spPr>
          <a:xfrm>
            <a:off x="484632" y="1554480"/>
            <a:ext cx="475488" cy="475488"/>
          </a:xfrm>
          <a:prstGeom prst="ellipse">
            <a:avLst/>
          </a:prstGeom>
          <a:solidFill>
            <a:srgbClr val="D84315"/>
          </a:solidFill>
          <a:ln/>
        </p:spPr>
      </p:sp>
      <p:sp>
        <p:nvSpPr>
          <p:cNvPr id="13" name="Text 11"/>
          <p:cNvSpPr/>
          <p:nvPr/>
        </p:nvSpPr>
        <p:spPr>
          <a:xfrm>
            <a:off x="484632" y="155448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Shape 12"/>
          <p:cNvSpPr/>
          <p:nvPr/>
        </p:nvSpPr>
        <p:spPr>
          <a:xfrm>
            <a:off x="1069848" y="1581912"/>
            <a:ext cx="438912" cy="438912"/>
          </a:xfrm>
          <a:prstGeom prst="roundRect">
            <a:avLst>
              <a:gd name="adj" fmla="val 12500"/>
            </a:avLst>
          </a:prstGeom>
          <a:solidFill>
            <a:srgbClr val="FFFFFF"/>
          </a:solidFill>
          <a:ln w="6350">
            <a:solidFill>
              <a:srgbClr val="D84315"/>
            </a:solidFill>
            <a:prstDash val="solid"/>
          </a:ln>
        </p:spPr>
      </p:sp>
      <p:sp>
        <p:nvSpPr>
          <p:cNvPr id="15" name="Text 13"/>
          <p:cNvSpPr/>
          <p:nvPr/>
        </p:nvSpPr>
        <p:spPr>
          <a:xfrm>
            <a:off x="1069848" y="1581912"/>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6" name="Text 14"/>
          <p:cNvSpPr/>
          <p:nvPr/>
        </p:nvSpPr>
        <p:spPr>
          <a:xfrm>
            <a:off x="1618488" y="1417320"/>
            <a:ext cx="4343400" cy="292608"/>
          </a:xfrm>
          <a:prstGeom prst="rect">
            <a:avLst/>
          </a:prstGeom>
          <a:noFill/>
          <a:ln/>
        </p:spPr>
        <p:txBody>
          <a:bodyPr wrap="square" rtlCol="0" anchor="ctr"/>
          <a:lstStyle/>
          <a:p>
            <a:pPr indent="0" marL="0">
              <a:buNone/>
            </a:pPr>
            <a:r>
              <a:rPr lang="en-US" sz="1200" b="1" dirty="0">
                <a:solidFill>
                  <a:srgbClr val="D84315"/>
                </a:solidFill>
                <a:latin typeface="Calibri" pitchFamily="34" charset="0"/>
                <a:ea typeface="Calibri" pitchFamily="34" charset="-122"/>
                <a:cs typeface="Calibri" pitchFamily="34" charset="-120"/>
              </a:rPr>
              <a:t>MQTT Integration</a:t>
            </a:r>
            <a:endParaRPr lang="en-US" sz="1200" dirty="0"/>
          </a:p>
        </p:txBody>
      </p:sp>
      <p:sp>
        <p:nvSpPr>
          <p:cNvPr id="17" name="Text 15"/>
          <p:cNvSpPr/>
          <p:nvPr/>
        </p:nvSpPr>
        <p:spPr>
          <a:xfrm>
            <a:off x="1618488" y="1746504"/>
            <a:ext cx="434340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Replace REST polling with MQTT pub/sub via HiveMQ broker for near-instant (&lt;100 ms) device-to-cloud push messaging.</a:t>
            </a:r>
            <a:endParaRPr lang="en-US" sz="1000" dirty="0"/>
          </a:p>
        </p:txBody>
      </p:sp>
      <p:sp>
        <p:nvSpPr>
          <p:cNvPr id="18" name="Shape 16"/>
          <p:cNvSpPr/>
          <p:nvPr/>
        </p:nvSpPr>
        <p:spPr>
          <a:xfrm>
            <a:off x="320040" y="2587752"/>
            <a:ext cx="5760720" cy="1115568"/>
          </a:xfrm>
          <a:prstGeom prst="roundRect">
            <a:avLst>
              <a:gd name="adj" fmla="val 8197"/>
            </a:avLst>
          </a:prstGeom>
          <a:solidFill>
            <a:srgbClr val="E8F4FD"/>
          </a:solidFill>
          <a:ln w="9525">
            <a:solidFill>
              <a:srgbClr val="1565C0"/>
            </a:solidFill>
            <a:prstDash val="solid"/>
          </a:ln>
        </p:spPr>
      </p:sp>
      <p:sp>
        <p:nvSpPr>
          <p:cNvPr id="19" name="Shape 17"/>
          <p:cNvSpPr/>
          <p:nvPr/>
        </p:nvSpPr>
        <p:spPr>
          <a:xfrm>
            <a:off x="484632" y="2816352"/>
            <a:ext cx="475488" cy="475488"/>
          </a:xfrm>
          <a:prstGeom prst="ellipse">
            <a:avLst/>
          </a:prstGeom>
          <a:solidFill>
            <a:srgbClr val="1565C0"/>
          </a:solidFill>
          <a:ln/>
        </p:spPr>
      </p:sp>
      <p:sp>
        <p:nvSpPr>
          <p:cNvPr id="20" name="Text 18"/>
          <p:cNvSpPr/>
          <p:nvPr/>
        </p:nvSpPr>
        <p:spPr>
          <a:xfrm>
            <a:off x="484632" y="281635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Shape 19"/>
          <p:cNvSpPr/>
          <p:nvPr/>
        </p:nvSpPr>
        <p:spPr>
          <a:xfrm>
            <a:off x="1069848" y="2843784"/>
            <a:ext cx="438912" cy="438912"/>
          </a:xfrm>
          <a:prstGeom prst="roundRect">
            <a:avLst>
              <a:gd name="adj" fmla="val 12500"/>
            </a:avLst>
          </a:prstGeom>
          <a:solidFill>
            <a:srgbClr val="FFFFFF"/>
          </a:solidFill>
          <a:ln w="6350">
            <a:solidFill>
              <a:srgbClr val="1565C0"/>
            </a:solidFill>
            <a:prstDash val="solid"/>
          </a:ln>
        </p:spPr>
      </p:sp>
      <p:sp>
        <p:nvSpPr>
          <p:cNvPr id="22" name="Text 20"/>
          <p:cNvSpPr/>
          <p:nvPr/>
        </p:nvSpPr>
        <p:spPr>
          <a:xfrm>
            <a:off x="1069848" y="2843784"/>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3" name="Text 21"/>
          <p:cNvSpPr/>
          <p:nvPr/>
        </p:nvSpPr>
        <p:spPr>
          <a:xfrm>
            <a:off x="1618488" y="2679192"/>
            <a:ext cx="4343400" cy="292608"/>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Mobile Application</a:t>
            </a:r>
            <a:endParaRPr lang="en-US" sz="1200" dirty="0"/>
          </a:p>
        </p:txBody>
      </p:sp>
      <p:sp>
        <p:nvSpPr>
          <p:cNvPr id="24" name="Text 22"/>
          <p:cNvSpPr/>
          <p:nvPr/>
        </p:nvSpPr>
        <p:spPr>
          <a:xfrm>
            <a:off x="1618488" y="3008376"/>
            <a:ext cx="434340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Build a React Native (Android/iOS) companion app with push notifications for threshold breach alerts.</a:t>
            </a:r>
            <a:endParaRPr lang="en-US" sz="1000" dirty="0"/>
          </a:p>
        </p:txBody>
      </p:sp>
      <p:sp>
        <p:nvSpPr>
          <p:cNvPr id="25" name="Shape 23"/>
          <p:cNvSpPr/>
          <p:nvPr/>
        </p:nvSpPr>
        <p:spPr>
          <a:xfrm>
            <a:off x="320040" y="3849624"/>
            <a:ext cx="5760720" cy="1115568"/>
          </a:xfrm>
          <a:prstGeom prst="roundRect">
            <a:avLst>
              <a:gd name="adj" fmla="val 8197"/>
            </a:avLst>
          </a:prstGeom>
          <a:solidFill>
            <a:srgbClr val="E8F4FD"/>
          </a:solidFill>
          <a:ln w="9525">
            <a:solidFill>
              <a:srgbClr val="0D2B5E"/>
            </a:solidFill>
            <a:prstDash val="solid"/>
          </a:ln>
        </p:spPr>
      </p:sp>
      <p:sp>
        <p:nvSpPr>
          <p:cNvPr id="26" name="Shape 24"/>
          <p:cNvSpPr/>
          <p:nvPr/>
        </p:nvSpPr>
        <p:spPr>
          <a:xfrm>
            <a:off x="484632" y="4078224"/>
            <a:ext cx="475488" cy="475488"/>
          </a:xfrm>
          <a:prstGeom prst="ellipse">
            <a:avLst/>
          </a:prstGeom>
          <a:solidFill>
            <a:srgbClr val="0D2B5E"/>
          </a:solidFill>
          <a:ln/>
        </p:spPr>
      </p:sp>
      <p:sp>
        <p:nvSpPr>
          <p:cNvPr id="27" name="Text 25"/>
          <p:cNvSpPr/>
          <p:nvPr/>
        </p:nvSpPr>
        <p:spPr>
          <a:xfrm>
            <a:off x="484632" y="4078224"/>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Shape 26"/>
          <p:cNvSpPr/>
          <p:nvPr/>
        </p:nvSpPr>
        <p:spPr>
          <a:xfrm>
            <a:off x="1069848" y="4105656"/>
            <a:ext cx="438912" cy="438912"/>
          </a:xfrm>
          <a:prstGeom prst="roundRect">
            <a:avLst>
              <a:gd name="adj" fmla="val 12500"/>
            </a:avLst>
          </a:prstGeom>
          <a:solidFill>
            <a:srgbClr val="FFFFFF"/>
          </a:solidFill>
          <a:ln w="6350">
            <a:solidFill>
              <a:srgbClr val="0D2B5E"/>
            </a:solidFill>
            <a:prstDash val="solid"/>
          </a:ln>
        </p:spPr>
      </p:sp>
      <p:sp>
        <p:nvSpPr>
          <p:cNvPr id="29" name="Text 27"/>
          <p:cNvSpPr/>
          <p:nvPr/>
        </p:nvSpPr>
        <p:spPr>
          <a:xfrm>
            <a:off x="1069848" y="4105656"/>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1618488" y="3941064"/>
            <a:ext cx="4343400" cy="292608"/>
          </a:xfrm>
          <a:prstGeom prst="rect">
            <a:avLst/>
          </a:prstGeom>
          <a:noFill/>
          <a:ln/>
        </p:spPr>
        <p:txBody>
          <a:bodyPr wrap="square"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PCB Hardware Design</a:t>
            </a:r>
            <a:endParaRPr lang="en-US" sz="1200" dirty="0"/>
          </a:p>
        </p:txBody>
      </p:sp>
      <p:sp>
        <p:nvSpPr>
          <p:cNvPr id="31" name="Text 29"/>
          <p:cNvSpPr/>
          <p:nvPr/>
        </p:nvSpPr>
        <p:spPr>
          <a:xfrm>
            <a:off x="1618488" y="4270248"/>
            <a:ext cx="434340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Replace breadboard prototype with a custom PCB using KiCad — includes proper pull-down resistors and voltage regulation.</a:t>
            </a:r>
            <a:endParaRPr lang="en-US" sz="1000" dirty="0"/>
          </a:p>
        </p:txBody>
      </p:sp>
      <p:sp>
        <p:nvSpPr>
          <p:cNvPr id="32" name="Shape 30"/>
          <p:cNvSpPr/>
          <p:nvPr/>
        </p:nvSpPr>
        <p:spPr>
          <a:xfrm>
            <a:off x="320040" y="5111496"/>
            <a:ext cx="5760720" cy="1115568"/>
          </a:xfrm>
          <a:prstGeom prst="roundRect">
            <a:avLst>
              <a:gd name="adj" fmla="val 8197"/>
            </a:avLst>
          </a:prstGeom>
          <a:solidFill>
            <a:srgbClr val="E8F4FD"/>
          </a:solidFill>
          <a:ln w="9525">
            <a:solidFill>
              <a:srgbClr val="388E3C"/>
            </a:solidFill>
            <a:prstDash val="solid"/>
          </a:ln>
        </p:spPr>
      </p:sp>
      <p:sp>
        <p:nvSpPr>
          <p:cNvPr id="33" name="Shape 31"/>
          <p:cNvSpPr/>
          <p:nvPr/>
        </p:nvSpPr>
        <p:spPr>
          <a:xfrm>
            <a:off x="484632" y="5340096"/>
            <a:ext cx="475488" cy="475488"/>
          </a:xfrm>
          <a:prstGeom prst="ellipse">
            <a:avLst/>
          </a:prstGeom>
          <a:solidFill>
            <a:srgbClr val="388E3C"/>
          </a:solidFill>
          <a:ln/>
        </p:spPr>
      </p:sp>
      <p:sp>
        <p:nvSpPr>
          <p:cNvPr id="34" name="Text 32"/>
          <p:cNvSpPr/>
          <p:nvPr/>
        </p:nvSpPr>
        <p:spPr>
          <a:xfrm>
            <a:off x="484632" y="5340096"/>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5" name="Shape 33"/>
          <p:cNvSpPr/>
          <p:nvPr/>
        </p:nvSpPr>
        <p:spPr>
          <a:xfrm>
            <a:off x="1069848" y="5367528"/>
            <a:ext cx="438912" cy="438912"/>
          </a:xfrm>
          <a:prstGeom prst="roundRect">
            <a:avLst>
              <a:gd name="adj" fmla="val 12500"/>
            </a:avLst>
          </a:prstGeom>
          <a:solidFill>
            <a:srgbClr val="FFFFFF"/>
          </a:solidFill>
          <a:ln w="6350">
            <a:solidFill>
              <a:srgbClr val="388E3C"/>
            </a:solidFill>
            <a:prstDash val="solid"/>
          </a:ln>
        </p:spPr>
      </p:sp>
      <p:sp>
        <p:nvSpPr>
          <p:cNvPr id="36" name="Text 34"/>
          <p:cNvSpPr/>
          <p:nvPr/>
        </p:nvSpPr>
        <p:spPr>
          <a:xfrm>
            <a:off x="1069848" y="5367528"/>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7" name="Text 35"/>
          <p:cNvSpPr/>
          <p:nvPr/>
        </p:nvSpPr>
        <p:spPr>
          <a:xfrm>
            <a:off x="1618488" y="5202936"/>
            <a:ext cx="4343400" cy="292608"/>
          </a:xfrm>
          <a:prstGeom prst="rect">
            <a:avLst/>
          </a:prstGeom>
          <a:noFill/>
          <a:ln/>
        </p:spPr>
        <p:txBody>
          <a:bodyPr wrap="square" rtlCol="0" anchor="ctr"/>
          <a:lstStyle/>
          <a:p>
            <a:pPr indent="0" marL="0">
              <a:buNone/>
            </a:pPr>
            <a:r>
              <a:rPr lang="en-US" sz="1200" b="1" dirty="0">
                <a:solidFill>
                  <a:srgbClr val="388E3C"/>
                </a:solidFill>
                <a:latin typeface="Calibri" pitchFamily="34" charset="0"/>
                <a:ea typeface="Calibri" pitchFamily="34" charset="-122"/>
                <a:cs typeface="Calibri" pitchFamily="34" charset="-120"/>
              </a:rPr>
              <a:t>Machine Learning Analytics</a:t>
            </a:r>
            <a:endParaRPr lang="en-US" sz="1200" dirty="0"/>
          </a:p>
        </p:txBody>
      </p:sp>
      <p:sp>
        <p:nvSpPr>
          <p:cNvPr id="38" name="Text 36"/>
          <p:cNvSpPr/>
          <p:nvPr/>
        </p:nvSpPr>
        <p:spPr>
          <a:xfrm>
            <a:off x="1618488" y="5532120"/>
            <a:ext cx="434340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Train a time-series model to predict light patterns and pre-schedule LED control, reducing sensor read frequency.</a:t>
            </a:r>
            <a:endParaRPr lang="en-US" sz="1000" dirty="0"/>
          </a:p>
        </p:txBody>
      </p:sp>
      <p:sp>
        <p:nvSpPr>
          <p:cNvPr id="39" name="Shape 37"/>
          <p:cNvSpPr/>
          <p:nvPr/>
        </p:nvSpPr>
        <p:spPr>
          <a:xfrm>
            <a:off x="6400800" y="1325880"/>
            <a:ext cx="5486400" cy="1115568"/>
          </a:xfrm>
          <a:prstGeom prst="roundRect">
            <a:avLst>
              <a:gd name="adj" fmla="val 8197"/>
            </a:avLst>
          </a:prstGeom>
          <a:solidFill>
            <a:srgbClr val="E8F4FD"/>
          </a:solidFill>
          <a:ln w="9525">
            <a:solidFill>
              <a:srgbClr val="B71C1C"/>
            </a:solidFill>
            <a:prstDash val="solid"/>
          </a:ln>
        </p:spPr>
      </p:sp>
      <p:sp>
        <p:nvSpPr>
          <p:cNvPr id="40" name="Shape 38"/>
          <p:cNvSpPr/>
          <p:nvPr/>
        </p:nvSpPr>
        <p:spPr>
          <a:xfrm>
            <a:off x="6565392" y="1554480"/>
            <a:ext cx="475488" cy="475488"/>
          </a:xfrm>
          <a:prstGeom prst="ellipse">
            <a:avLst/>
          </a:prstGeom>
          <a:solidFill>
            <a:srgbClr val="B71C1C"/>
          </a:solidFill>
          <a:ln/>
        </p:spPr>
      </p:sp>
      <p:sp>
        <p:nvSpPr>
          <p:cNvPr id="41" name="Text 39"/>
          <p:cNvSpPr/>
          <p:nvPr/>
        </p:nvSpPr>
        <p:spPr>
          <a:xfrm>
            <a:off x="6565392" y="155448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2" name="Shape 40"/>
          <p:cNvSpPr/>
          <p:nvPr/>
        </p:nvSpPr>
        <p:spPr>
          <a:xfrm>
            <a:off x="7150608" y="1581912"/>
            <a:ext cx="438912" cy="438912"/>
          </a:xfrm>
          <a:prstGeom prst="roundRect">
            <a:avLst>
              <a:gd name="adj" fmla="val 12500"/>
            </a:avLst>
          </a:prstGeom>
          <a:solidFill>
            <a:srgbClr val="FFFFFF"/>
          </a:solidFill>
          <a:ln w="6350">
            <a:solidFill>
              <a:srgbClr val="B71C1C"/>
            </a:solidFill>
            <a:prstDash val="solid"/>
          </a:ln>
        </p:spPr>
      </p:sp>
      <p:sp>
        <p:nvSpPr>
          <p:cNvPr id="43" name="Text 41"/>
          <p:cNvSpPr/>
          <p:nvPr/>
        </p:nvSpPr>
        <p:spPr>
          <a:xfrm>
            <a:off x="7150608" y="1581912"/>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4" name="Text 42"/>
          <p:cNvSpPr/>
          <p:nvPr/>
        </p:nvSpPr>
        <p:spPr>
          <a:xfrm>
            <a:off x="7699248" y="1417320"/>
            <a:ext cx="4069080" cy="292608"/>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TLS / JWT Security</a:t>
            </a:r>
            <a:endParaRPr lang="en-US" sz="1200" dirty="0"/>
          </a:p>
        </p:txBody>
      </p:sp>
      <p:sp>
        <p:nvSpPr>
          <p:cNvPr id="45" name="Text 43"/>
          <p:cNvSpPr/>
          <p:nvPr/>
        </p:nvSpPr>
        <p:spPr>
          <a:xfrm>
            <a:off x="7699248" y="1746504"/>
            <a:ext cx="406908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Add TLS certificate pinning on ESP32 and JWT-based API authentication for secure device-to-cloud communication.</a:t>
            </a:r>
            <a:endParaRPr lang="en-US" sz="1000" dirty="0"/>
          </a:p>
        </p:txBody>
      </p:sp>
      <p:sp>
        <p:nvSpPr>
          <p:cNvPr id="46" name="Shape 44"/>
          <p:cNvSpPr/>
          <p:nvPr/>
        </p:nvSpPr>
        <p:spPr>
          <a:xfrm>
            <a:off x="6400800" y="2587752"/>
            <a:ext cx="5486400" cy="1115568"/>
          </a:xfrm>
          <a:prstGeom prst="roundRect">
            <a:avLst>
              <a:gd name="adj" fmla="val 8197"/>
            </a:avLst>
          </a:prstGeom>
          <a:solidFill>
            <a:srgbClr val="E8F4FD"/>
          </a:solidFill>
          <a:ln w="9525">
            <a:solidFill>
              <a:srgbClr val="1976D2"/>
            </a:solidFill>
            <a:prstDash val="solid"/>
          </a:ln>
        </p:spPr>
      </p:sp>
      <p:sp>
        <p:nvSpPr>
          <p:cNvPr id="47" name="Shape 45"/>
          <p:cNvSpPr/>
          <p:nvPr/>
        </p:nvSpPr>
        <p:spPr>
          <a:xfrm>
            <a:off x="6565392" y="2816352"/>
            <a:ext cx="475488" cy="475488"/>
          </a:xfrm>
          <a:prstGeom prst="ellipse">
            <a:avLst/>
          </a:prstGeom>
          <a:solidFill>
            <a:srgbClr val="1976D2"/>
          </a:solidFill>
          <a:ln/>
        </p:spPr>
      </p:sp>
      <p:sp>
        <p:nvSpPr>
          <p:cNvPr id="48" name="Text 46"/>
          <p:cNvSpPr/>
          <p:nvPr/>
        </p:nvSpPr>
        <p:spPr>
          <a:xfrm>
            <a:off x="6565392" y="281635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9" name="Shape 47"/>
          <p:cNvSpPr/>
          <p:nvPr/>
        </p:nvSpPr>
        <p:spPr>
          <a:xfrm>
            <a:off x="7150608" y="2843784"/>
            <a:ext cx="438912" cy="438912"/>
          </a:xfrm>
          <a:prstGeom prst="roundRect">
            <a:avLst>
              <a:gd name="adj" fmla="val 12500"/>
            </a:avLst>
          </a:prstGeom>
          <a:solidFill>
            <a:srgbClr val="FFFFFF"/>
          </a:solidFill>
          <a:ln w="6350">
            <a:solidFill>
              <a:srgbClr val="1976D2"/>
            </a:solidFill>
            <a:prstDash val="solid"/>
          </a:ln>
        </p:spPr>
      </p:sp>
      <p:sp>
        <p:nvSpPr>
          <p:cNvPr id="50" name="Text 48"/>
          <p:cNvSpPr/>
          <p:nvPr/>
        </p:nvSpPr>
        <p:spPr>
          <a:xfrm>
            <a:off x="7150608" y="2843784"/>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1" name="Text 49"/>
          <p:cNvSpPr/>
          <p:nvPr/>
        </p:nvSpPr>
        <p:spPr>
          <a:xfrm>
            <a:off x="7699248" y="2679192"/>
            <a:ext cx="4069080" cy="292608"/>
          </a:xfrm>
          <a:prstGeom prst="rect">
            <a:avLst/>
          </a:prstGeom>
          <a:noFill/>
          <a:ln/>
        </p:spPr>
        <p:txBody>
          <a:bodyPr wrap="square" rtlCol="0" anchor="ctr"/>
          <a:lstStyle/>
          <a:p>
            <a:pPr indent="0" marL="0">
              <a:buNone/>
            </a:pPr>
            <a:r>
              <a:rPr lang="en-US" sz="1200" b="1" dirty="0">
                <a:solidFill>
                  <a:srgbClr val="1976D2"/>
                </a:solidFill>
                <a:latin typeface="Calibri" pitchFamily="34" charset="0"/>
                <a:ea typeface="Calibri" pitchFamily="34" charset="-122"/>
                <a:cs typeface="Calibri" pitchFamily="34" charset="-120"/>
              </a:rPr>
              <a:t>Multi-Room Scalability</a:t>
            </a:r>
            <a:endParaRPr lang="en-US" sz="1200" dirty="0"/>
          </a:p>
        </p:txBody>
      </p:sp>
      <p:sp>
        <p:nvSpPr>
          <p:cNvPr id="52" name="Text 50"/>
          <p:cNvSpPr/>
          <p:nvPr/>
        </p:nvSpPr>
        <p:spPr>
          <a:xfrm>
            <a:off x="7699248" y="3008376"/>
            <a:ext cx="406908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Extend the dashboard to manage multiple ESP32 nodes across rooms with a device registry and floor-plan view.</a:t>
            </a:r>
            <a:endParaRPr lang="en-US" sz="1000" dirty="0"/>
          </a:p>
        </p:txBody>
      </p:sp>
      <p:sp>
        <p:nvSpPr>
          <p:cNvPr id="53" name="Shape 51"/>
          <p:cNvSpPr/>
          <p:nvPr/>
        </p:nvSpPr>
        <p:spPr>
          <a:xfrm>
            <a:off x="6400800" y="3849624"/>
            <a:ext cx="5486400" cy="1115568"/>
          </a:xfrm>
          <a:prstGeom prst="roundRect">
            <a:avLst>
              <a:gd name="adj" fmla="val 8197"/>
            </a:avLst>
          </a:prstGeom>
          <a:solidFill>
            <a:srgbClr val="E8F4FD"/>
          </a:solidFill>
          <a:ln w="9525">
            <a:solidFill>
              <a:srgbClr val="F57F17"/>
            </a:solidFill>
            <a:prstDash val="solid"/>
          </a:ln>
        </p:spPr>
      </p:sp>
      <p:sp>
        <p:nvSpPr>
          <p:cNvPr id="54" name="Shape 52"/>
          <p:cNvSpPr/>
          <p:nvPr/>
        </p:nvSpPr>
        <p:spPr>
          <a:xfrm>
            <a:off x="6565392" y="4078224"/>
            <a:ext cx="475488" cy="475488"/>
          </a:xfrm>
          <a:prstGeom prst="ellipse">
            <a:avLst/>
          </a:prstGeom>
          <a:solidFill>
            <a:srgbClr val="F57F17"/>
          </a:solidFill>
          <a:ln/>
        </p:spPr>
      </p:sp>
      <p:sp>
        <p:nvSpPr>
          <p:cNvPr id="55" name="Text 53"/>
          <p:cNvSpPr/>
          <p:nvPr/>
        </p:nvSpPr>
        <p:spPr>
          <a:xfrm>
            <a:off x="6565392" y="4078224"/>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56" name="Shape 54"/>
          <p:cNvSpPr/>
          <p:nvPr/>
        </p:nvSpPr>
        <p:spPr>
          <a:xfrm>
            <a:off x="7150608" y="4105656"/>
            <a:ext cx="438912" cy="438912"/>
          </a:xfrm>
          <a:prstGeom prst="roundRect">
            <a:avLst>
              <a:gd name="adj" fmla="val 12500"/>
            </a:avLst>
          </a:prstGeom>
          <a:solidFill>
            <a:srgbClr val="FFFFFF"/>
          </a:solidFill>
          <a:ln w="6350">
            <a:solidFill>
              <a:srgbClr val="F57F17"/>
            </a:solidFill>
            <a:prstDash val="solid"/>
          </a:ln>
        </p:spPr>
      </p:sp>
      <p:sp>
        <p:nvSpPr>
          <p:cNvPr id="57" name="Text 55"/>
          <p:cNvSpPr/>
          <p:nvPr/>
        </p:nvSpPr>
        <p:spPr>
          <a:xfrm>
            <a:off x="7150608" y="4105656"/>
            <a:ext cx="438912" cy="43891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8" name="Text 56"/>
          <p:cNvSpPr/>
          <p:nvPr/>
        </p:nvSpPr>
        <p:spPr>
          <a:xfrm>
            <a:off x="7699248" y="3941064"/>
            <a:ext cx="4069080" cy="292608"/>
          </a:xfrm>
          <a:prstGeom prst="rect">
            <a:avLst/>
          </a:prstGeom>
          <a:noFill/>
          <a:ln/>
        </p:spPr>
        <p:txBody>
          <a:bodyPr wrap="square" rtlCol="0" anchor="ctr"/>
          <a:lstStyle/>
          <a:p>
            <a:pPr indent="0" marL="0">
              <a:buNone/>
            </a:pPr>
            <a:r>
              <a:rPr lang="en-US" sz="1200" b="1" dirty="0">
                <a:solidFill>
                  <a:srgbClr val="F57F17"/>
                </a:solidFill>
                <a:latin typeface="Calibri" pitchFamily="34" charset="0"/>
                <a:ea typeface="Calibri" pitchFamily="34" charset="-122"/>
                <a:cs typeface="Calibri" pitchFamily="34" charset="-120"/>
              </a:rPr>
              <a:t>Sensor Calibration</a:t>
            </a:r>
            <a:endParaRPr lang="en-US" sz="1200" dirty="0"/>
          </a:p>
        </p:txBody>
      </p:sp>
      <p:sp>
        <p:nvSpPr>
          <p:cNvPr id="59" name="Text 57"/>
          <p:cNvSpPr/>
          <p:nvPr/>
        </p:nvSpPr>
        <p:spPr>
          <a:xfrm>
            <a:off x="7699248" y="4270248"/>
            <a:ext cx="4069080" cy="594360"/>
          </a:xfrm>
          <a:prstGeom prst="rect">
            <a:avLst/>
          </a:prstGeom>
          <a:noFill/>
          <a:ln/>
        </p:spPr>
        <p:txBody>
          <a:bodyPr wrap="square" rtlCol="0" anchor="ctr"/>
          <a:lstStyle/>
          <a:p>
            <a:pPr indent="0" marL="0">
              <a:buNone/>
            </a:pPr>
            <a:r>
              <a:rPr lang="en-US" sz="1000" dirty="0">
                <a:solidFill>
                  <a:srgbClr val="37474F"/>
                </a:solidFill>
                <a:latin typeface="Calibri" pitchFamily="34" charset="0"/>
                <a:ea typeface="Calibri" pitchFamily="34" charset="-122"/>
                <a:cs typeface="Calibri" pitchFamily="34" charset="-120"/>
              </a:rPr>
              <a:t>Implement per-device lux calibration using a reference BH750 sensor to normalise readings across hardware units.</a:t>
            </a:r>
            <a:endParaRPr lang="en-US" sz="1000" dirty="0"/>
          </a:p>
        </p:txBody>
      </p:sp>
      <p:sp>
        <p:nvSpPr>
          <p:cNvPr id="60" name="Shape 58"/>
          <p:cNvSpPr/>
          <p:nvPr/>
        </p:nvSpPr>
        <p:spPr>
          <a:xfrm>
            <a:off x="9784080" y="987552"/>
            <a:ext cx="2084832" cy="512064"/>
          </a:xfrm>
          <a:prstGeom prst="roundRect">
            <a:avLst>
              <a:gd name="adj" fmla="val 17857"/>
            </a:avLst>
          </a:prstGeom>
          <a:solidFill>
            <a:srgbClr val="E8F5E9"/>
          </a:solidFill>
          <a:ln w="9525">
            <a:solidFill>
              <a:srgbClr val="388E3C"/>
            </a:solidFill>
            <a:prstDash val="solid"/>
          </a:ln>
        </p:spPr>
      </p:sp>
      <p:sp>
        <p:nvSpPr>
          <p:cNvPr id="61" name="Text 59"/>
          <p:cNvSpPr/>
          <p:nvPr/>
        </p:nvSpPr>
        <p:spPr>
          <a:xfrm>
            <a:off x="9829800" y="1033272"/>
            <a:ext cx="1993392" cy="420624"/>
          </a:xfrm>
          <a:prstGeom prst="rect">
            <a:avLst/>
          </a:prstGeom>
          <a:noFill/>
          <a:ln/>
        </p:spPr>
        <p:txBody>
          <a:bodyPr wrap="square" rtlCol="0" anchor="ctr"/>
          <a:lstStyle/>
          <a:p>
            <a:pPr indent="0" marL="0">
              <a:buNone/>
            </a:pPr>
            <a:r>
              <a:rPr lang="en-US" sz="900" b="1" dirty="0">
                <a:solidFill>
                  <a:srgbClr val="1B5E20"/>
                </a:solidFill>
                <a:latin typeface="Calibri" pitchFamily="34" charset="0"/>
                <a:ea typeface="Calibri" pitchFamily="34" charset="-122"/>
                <a:cs typeface="Calibri" pitchFamily="34" charset="-120"/>
              </a:rPr>
              <a:t>🚀  Priority: MQTT  +  Security  +  PCB</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6675120" y="0"/>
            <a:ext cx="5513832" cy="6858000"/>
          </a:xfrm>
          <a:prstGeom prst="rect">
            <a:avLst/>
          </a:prstGeom>
          <a:solidFill>
            <a:srgbClr val="E8F4FD"/>
          </a:solidFill>
          <a:ln w="12700">
            <a:solidFill>
              <a:srgbClr val="E8F4FD"/>
            </a:solidFill>
            <a:prstDash val="solid"/>
          </a:ln>
        </p:spPr>
      </p:sp>
      <p:sp>
        <p:nvSpPr>
          <p:cNvPr id="4" name="Shape 2"/>
          <p:cNvSpPr/>
          <p:nvPr/>
        </p:nvSpPr>
        <p:spPr>
          <a:xfrm>
            <a:off x="0" y="0"/>
            <a:ext cx="12188952" cy="54864"/>
          </a:xfrm>
          <a:prstGeom prst="rect">
            <a:avLst/>
          </a:prstGeom>
          <a:solidFill>
            <a:srgbClr val="42A5F5"/>
          </a:solidFill>
          <a:ln w="12700">
            <a:solidFill>
              <a:srgbClr val="42A5F5"/>
            </a:solidFill>
            <a:prstDash val="solid"/>
          </a:ln>
        </p:spPr>
      </p:sp>
      <p:sp>
        <p:nvSpPr>
          <p:cNvPr id="5" name="Shape 3"/>
          <p:cNvSpPr/>
          <p:nvPr/>
        </p:nvSpPr>
        <p:spPr>
          <a:xfrm>
            <a:off x="0" y="54864"/>
            <a:ext cx="12188952" cy="768096"/>
          </a:xfrm>
          <a:prstGeom prst="rect">
            <a:avLst/>
          </a:prstGeom>
          <a:solidFill>
            <a:srgbClr val="0D2B5E"/>
          </a:solidFill>
          <a:ln w="12700">
            <a:solidFill>
              <a:srgbClr val="0D2B5E"/>
            </a:solidFill>
            <a:prstDash val="solid"/>
          </a:ln>
        </p:spPr>
      </p:sp>
      <p:sp>
        <p:nvSpPr>
          <p:cNvPr id="6" name="Shape 4"/>
          <p:cNvSpPr/>
          <p:nvPr/>
        </p:nvSpPr>
        <p:spPr>
          <a:xfrm>
            <a:off x="256032" y="155448"/>
            <a:ext cx="475488" cy="475488"/>
          </a:xfrm>
          <a:prstGeom prst="ellipse">
            <a:avLst/>
          </a:prstGeom>
          <a:solidFill>
            <a:srgbClr val="42A5F5"/>
          </a:solidFill>
          <a:ln w="6350">
            <a:solidFill>
              <a:srgbClr val="FFFFFF"/>
            </a:solidFill>
            <a:prstDash val="solid"/>
          </a:ln>
        </p:spPr>
      </p:sp>
      <p:sp>
        <p:nvSpPr>
          <p:cNvPr id="7" name="Text 5"/>
          <p:cNvSpPr/>
          <p:nvPr/>
        </p:nvSpPr>
        <p:spPr>
          <a:xfrm>
            <a:off x="256032" y="155448"/>
            <a:ext cx="475488" cy="475488"/>
          </a:xfrm>
          <a:prstGeom prst="rect">
            <a:avLst/>
          </a:prstGeom>
          <a:noFill/>
          <a:ln/>
        </p:spPr>
        <p:txBody>
          <a:bodyPr wrap="square" rtlCol="0" anchor="ctr"/>
          <a:lstStyle/>
          <a:p>
            <a:pPr algn="ctr" indent="0" marL="0">
              <a:buNone/>
            </a:pPr>
            <a:r>
              <a:rPr lang="en-US" sz="1500" b="1" dirty="0">
                <a:solidFill>
                  <a:srgbClr val="0D2B5E"/>
                </a:solidFill>
                <a:latin typeface="Calibri" pitchFamily="34" charset="0"/>
                <a:ea typeface="Calibri" pitchFamily="34" charset="-122"/>
                <a:cs typeface="Calibri" pitchFamily="34" charset="-120"/>
              </a:rPr>
              <a:t>10</a:t>
            </a:r>
            <a:endParaRPr lang="en-US" sz="1500" dirty="0"/>
          </a:p>
        </p:txBody>
      </p:sp>
      <p:sp>
        <p:nvSpPr>
          <p:cNvPr id="8" name="Text 6"/>
          <p:cNvSpPr/>
          <p:nvPr/>
        </p:nvSpPr>
        <p:spPr>
          <a:xfrm>
            <a:off x="877824" y="91440"/>
            <a:ext cx="10698480" cy="60350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9" name="Shape 7"/>
          <p:cNvSpPr/>
          <p:nvPr/>
        </p:nvSpPr>
        <p:spPr>
          <a:xfrm>
            <a:off x="0" y="6693408"/>
            <a:ext cx="12188952" cy="18288"/>
          </a:xfrm>
          <a:prstGeom prst="rect">
            <a:avLst/>
          </a:prstGeom>
          <a:solidFill>
            <a:srgbClr val="BBDEFB"/>
          </a:solidFill>
          <a:ln/>
        </p:spPr>
      </p:sp>
      <p:sp>
        <p:nvSpPr>
          <p:cNvPr id="10" name="Text 8"/>
          <p:cNvSpPr/>
          <p:nvPr/>
        </p:nvSpPr>
        <p:spPr>
          <a:xfrm>
            <a:off x="0" y="6711696"/>
            <a:ext cx="12188952" cy="146304"/>
          </a:xfrm>
          <a:prstGeom prst="rect">
            <a:avLst/>
          </a:prstGeom>
          <a:noFill/>
          <a:ln/>
        </p:spPr>
        <p:txBody>
          <a:bodyPr wrap="square" rtlCol="0" anchor="ctr"/>
          <a:lstStyle/>
          <a:p>
            <a:pPr algn="ctr" indent="0" marL="0">
              <a:buNone/>
            </a:pPr>
            <a:r>
              <a:rPr lang="en-US" sz="750" dirty="0">
                <a:solidFill>
                  <a:srgbClr val="78909C"/>
                </a:solidFill>
                <a:latin typeface="Calibri" pitchFamily="34" charset="0"/>
                <a:ea typeface="Calibri" pitchFamily="34" charset="-122"/>
                <a:cs typeface="Calibri" pitchFamily="34" charset="-120"/>
              </a:rPr>
              <a:t>IoT-Based Light Intensity Monitoring and Smart Control System  ·  Slide 10 of 10</a:t>
            </a:r>
            <a:endParaRPr lang="en-US" sz="750" dirty="0"/>
          </a:p>
        </p:txBody>
      </p:sp>
      <p:sp>
        <p:nvSpPr>
          <p:cNvPr id="11" name="Text 9"/>
          <p:cNvSpPr/>
          <p:nvPr/>
        </p:nvSpPr>
        <p:spPr>
          <a:xfrm>
            <a:off x="365760" y="960120"/>
            <a:ext cx="6035040" cy="347472"/>
          </a:xfrm>
          <a:prstGeom prst="rect">
            <a:avLst/>
          </a:prstGeom>
          <a:noFill/>
          <a:ln/>
        </p:spPr>
        <p:txBody>
          <a:bodyPr wrap="square" rtlCol="0" anchor="ctr"/>
          <a:lstStyle/>
          <a:p>
            <a:pPr indent="0" marL="0">
              <a:buNone/>
            </a:pPr>
            <a:r>
              <a:rPr lang="en-US" sz="1400" b="1" dirty="0">
                <a:solidFill>
                  <a:srgbClr val="0D2B5E"/>
                </a:solidFill>
                <a:latin typeface="Calibri" pitchFamily="34" charset="0"/>
                <a:ea typeface="Calibri" pitchFamily="34" charset="-122"/>
                <a:cs typeface="Calibri" pitchFamily="34" charset="-120"/>
              </a:rPr>
              <a:t>Project Summary</a:t>
            </a:r>
            <a:endParaRPr lang="en-US" sz="1400" dirty="0"/>
          </a:p>
        </p:txBody>
      </p:sp>
      <p:sp>
        <p:nvSpPr>
          <p:cNvPr id="12" name="Shape 10"/>
          <p:cNvSpPr/>
          <p:nvPr/>
        </p:nvSpPr>
        <p:spPr>
          <a:xfrm>
            <a:off x="365760" y="1307592"/>
            <a:ext cx="6035040" cy="16459"/>
          </a:xfrm>
          <a:prstGeom prst="rect">
            <a:avLst/>
          </a:prstGeom>
          <a:solidFill>
            <a:srgbClr val="BBDEFB"/>
          </a:solidFill>
          <a:ln/>
        </p:spPr>
      </p:sp>
      <p:sp>
        <p:nvSpPr>
          <p:cNvPr id="13" name="Shape 11"/>
          <p:cNvSpPr/>
          <p:nvPr/>
        </p:nvSpPr>
        <p:spPr>
          <a:xfrm>
            <a:off x="320040" y="1417320"/>
            <a:ext cx="6035040" cy="1115568"/>
          </a:xfrm>
          <a:prstGeom prst="roundRect">
            <a:avLst>
              <a:gd name="adj" fmla="val 8197"/>
            </a:avLst>
          </a:prstGeom>
          <a:solidFill>
            <a:srgbClr val="E8F4FD"/>
          </a:solidFill>
          <a:ln w="9525">
            <a:solidFill>
              <a:srgbClr val="388E3C"/>
            </a:solidFill>
            <a:prstDash val="solid"/>
          </a:ln>
        </p:spPr>
      </p:sp>
      <p:sp>
        <p:nvSpPr>
          <p:cNvPr id="14" name="Shape 12"/>
          <p:cNvSpPr/>
          <p:nvPr/>
        </p:nvSpPr>
        <p:spPr>
          <a:xfrm>
            <a:off x="320040" y="1417320"/>
            <a:ext cx="594360" cy="1115568"/>
          </a:xfrm>
          <a:prstGeom prst="roundRect">
            <a:avLst>
              <a:gd name="adj" fmla="val 15385"/>
            </a:avLst>
          </a:prstGeom>
          <a:solidFill>
            <a:srgbClr val="388E3C"/>
          </a:solidFill>
          <a:ln w="12700">
            <a:solidFill>
              <a:srgbClr val="388E3C"/>
            </a:solidFill>
            <a:prstDash val="solid"/>
          </a:ln>
        </p:spPr>
      </p:sp>
      <p:sp>
        <p:nvSpPr>
          <p:cNvPr id="15" name="Shape 13"/>
          <p:cNvSpPr/>
          <p:nvPr/>
        </p:nvSpPr>
        <p:spPr>
          <a:xfrm>
            <a:off x="594360" y="1417320"/>
            <a:ext cx="320040" cy="1115568"/>
          </a:xfrm>
          <a:prstGeom prst="rect">
            <a:avLst/>
          </a:prstGeom>
          <a:solidFill>
            <a:srgbClr val="388E3C"/>
          </a:solidFill>
          <a:ln w="12700">
            <a:solidFill>
              <a:srgbClr val="388E3C"/>
            </a:solidFill>
            <a:prstDash val="solid"/>
          </a:ln>
        </p:spPr>
      </p:sp>
      <p:sp>
        <p:nvSpPr>
          <p:cNvPr id="16" name="Text 14"/>
          <p:cNvSpPr/>
          <p:nvPr/>
        </p:nvSpPr>
        <p:spPr>
          <a:xfrm>
            <a:off x="320040" y="1691640"/>
            <a:ext cx="59436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1005840" y="1490472"/>
            <a:ext cx="5212080" cy="320040"/>
          </a:xfrm>
          <a:prstGeom prst="rect">
            <a:avLst/>
          </a:prstGeom>
          <a:noFill/>
          <a:ln/>
        </p:spPr>
        <p:txBody>
          <a:bodyPr wrap="square" rtlCol="0" anchor="ctr"/>
          <a:lstStyle/>
          <a:p>
            <a:pPr indent="0" marL="0">
              <a:buNone/>
            </a:pPr>
            <a:r>
              <a:rPr lang="en-US" sz="1200" b="1" dirty="0">
                <a:solidFill>
                  <a:srgbClr val="388E3C"/>
                </a:solidFill>
                <a:latin typeface="Calibri" pitchFamily="34" charset="0"/>
                <a:ea typeface="Calibri" pitchFamily="34" charset="-122"/>
                <a:cs typeface="Calibri" pitchFamily="34" charset="-120"/>
              </a:rPr>
              <a:t>Successful Smart Lighting Automation</a:t>
            </a:r>
            <a:endParaRPr lang="en-US" sz="1200" dirty="0"/>
          </a:p>
        </p:txBody>
      </p:sp>
      <p:sp>
        <p:nvSpPr>
          <p:cNvPr id="18" name="Text 16"/>
          <p:cNvSpPr/>
          <p:nvPr/>
        </p:nvSpPr>
        <p:spPr>
          <a:xfrm>
            <a:off x="1005840" y="1856232"/>
            <a:ext cx="5212080" cy="59436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The system reliably automates LED control based on real-time ambient light readings, demonstrating energy-efficient smart lighting without manual intervention.</a:t>
            </a:r>
            <a:endParaRPr lang="en-US" sz="1050" dirty="0"/>
          </a:p>
        </p:txBody>
      </p:sp>
      <p:sp>
        <p:nvSpPr>
          <p:cNvPr id="19" name="Shape 17"/>
          <p:cNvSpPr/>
          <p:nvPr/>
        </p:nvSpPr>
        <p:spPr>
          <a:xfrm>
            <a:off x="320040" y="2651760"/>
            <a:ext cx="6035040" cy="1115568"/>
          </a:xfrm>
          <a:prstGeom prst="roundRect">
            <a:avLst>
              <a:gd name="adj" fmla="val 8197"/>
            </a:avLst>
          </a:prstGeom>
          <a:solidFill>
            <a:srgbClr val="E8F4FD"/>
          </a:solidFill>
          <a:ln w="9525">
            <a:solidFill>
              <a:srgbClr val="1565C0"/>
            </a:solidFill>
            <a:prstDash val="solid"/>
          </a:ln>
        </p:spPr>
      </p:sp>
      <p:sp>
        <p:nvSpPr>
          <p:cNvPr id="20" name="Shape 18"/>
          <p:cNvSpPr/>
          <p:nvPr/>
        </p:nvSpPr>
        <p:spPr>
          <a:xfrm>
            <a:off x="320040" y="2651760"/>
            <a:ext cx="594360" cy="1115568"/>
          </a:xfrm>
          <a:prstGeom prst="roundRect">
            <a:avLst>
              <a:gd name="adj" fmla="val 15385"/>
            </a:avLst>
          </a:prstGeom>
          <a:solidFill>
            <a:srgbClr val="1565C0"/>
          </a:solidFill>
          <a:ln w="12700">
            <a:solidFill>
              <a:srgbClr val="1565C0"/>
            </a:solidFill>
            <a:prstDash val="solid"/>
          </a:ln>
        </p:spPr>
      </p:sp>
      <p:sp>
        <p:nvSpPr>
          <p:cNvPr id="21" name="Shape 19"/>
          <p:cNvSpPr/>
          <p:nvPr/>
        </p:nvSpPr>
        <p:spPr>
          <a:xfrm>
            <a:off x="594360" y="2651760"/>
            <a:ext cx="320040" cy="1115568"/>
          </a:xfrm>
          <a:prstGeom prst="rect">
            <a:avLst/>
          </a:prstGeom>
          <a:solidFill>
            <a:srgbClr val="1565C0"/>
          </a:solidFill>
          <a:ln w="12700">
            <a:solidFill>
              <a:srgbClr val="1565C0"/>
            </a:solidFill>
            <a:prstDash val="solid"/>
          </a:ln>
        </p:spPr>
      </p:sp>
      <p:sp>
        <p:nvSpPr>
          <p:cNvPr id="22" name="Text 20"/>
          <p:cNvSpPr/>
          <p:nvPr/>
        </p:nvSpPr>
        <p:spPr>
          <a:xfrm>
            <a:off x="320040" y="2926080"/>
            <a:ext cx="59436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1005840" y="2724912"/>
            <a:ext cx="5212080" cy="32004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Reliable ESP32 + REST API Integration</a:t>
            </a:r>
            <a:endParaRPr lang="en-US" sz="1200" dirty="0"/>
          </a:p>
        </p:txBody>
      </p:sp>
      <p:sp>
        <p:nvSpPr>
          <p:cNvPr id="24" name="Text 22"/>
          <p:cNvSpPr/>
          <p:nvPr/>
        </p:nvSpPr>
        <p:spPr>
          <a:xfrm>
            <a:off x="1005840" y="3090672"/>
            <a:ext cx="5212080" cy="59436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Bidirectional communication between ESP32 firmware and Next.js API routes achieves 98% packet success rate with sub-1-second API latency over Wi-Fi.</a:t>
            </a:r>
            <a:endParaRPr lang="en-US" sz="1050" dirty="0"/>
          </a:p>
        </p:txBody>
      </p:sp>
      <p:sp>
        <p:nvSpPr>
          <p:cNvPr id="25" name="Shape 23"/>
          <p:cNvSpPr/>
          <p:nvPr/>
        </p:nvSpPr>
        <p:spPr>
          <a:xfrm>
            <a:off x="320040" y="3886200"/>
            <a:ext cx="6035040" cy="1115568"/>
          </a:xfrm>
          <a:prstGeom prst="roundRect">
            <a:avLst>
              <a:gd name="adj" fmla="val 8197"/>
            </a:avLst>
          </a:prstGeom>
          <a:solidFill>
            <a:srgbClr val="E8F4FD"/>
          </a:solidFill>
          <a:ln w="9525">
            <a:solidFill>
              <a:srgbClr val="1976D2"/>
            </a:solidFill>
            <a:prstDash val="solid"/>
          </a:ln>
        </p:spPr>
      </p:sp>
      <p:sp>
        <p:nvSpPr>
          <p:cNvPr id="26" name="Shape 24"/>
          <p:cNvSpPr/>
          <p:nvPr/>
        </p:nvSpPr>
        <p:spPr>
          <a:xfrm>
            <a:off x="320040" y="3886200"/>
            <a:ext cx="594360" cy="1115568"/>
          </a:xfrm>
          <a:prstGeom prst="roundRect">
            <a:avLst>
              <a:gd name="adj" fmla="val 15385"/>
            </a:avLst>
          </a:prstGeom>
          <a:solidFill>
            <a:srgbClr val="1976D2"/>
          </a:solidFill>
          <a:ln w="12700">
            <a:solidFill>
              <a:srgbClr val="1976D2"/>
            </a:solidFill>
            <a:prstDash val="solid"/>
          </a:ln>
        </p:spPr>
      </p:sp>
      <p:sp>
        <p:nvSpPr>
          <p:cNvPr id="27" name="Shape 25"/>
          <p:cNvSpPr/>
          <p:nvPr/>
        </p:nvSpPr>
        <p:spPr>
          <a:xfrm>
            <a:off x="594360" y="3886200"/>
            <a:ext cx="320040" cy="1115568"/>
          </a:xfrm>
          <a:prstGeom prst="rect">
            <a:avLst/>
          </a:prstGeom>
          <a:solidFill>
            <a:srgbClr val="1976D2"/>
          </a:solidFill>
          <a:ln w="12700">
            <a:solidFill>
              <a:srgbClr val="1976D2"/>
            </a:solidFill>
            <a:prstDash val="solid"/>
          </a:ln>
        </p:spPr>
      </p:sp>
      <p:sp>
        <p:nvSpPr>
          <p:cNvPr id="28" name="Text 26"/>
          <p:cNvSpPr/>
          <p:nvPr/>
        </p:nvSpPr>
        <p:spPr>
          <a:xfrm>
            <a:off x="320040" y="4160520"/>
            <a:ext cx="59436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9" name="Text 27"/>
          <p:cNvSpPr/>
          <p:nvPr/>
        </p:nvSpPr>
        <p:spPr>
          <a:xfrm>
            <a:off x="1005840" y="3959352"/>
            <a:ext cx="5212080" cy="320040"/>
          </a:xfrm>
          <a:prstGeom prst="rect">
            <a:avLst/>
          </a:prstGeom>
          <a:noFill/>
          <a:ln/>
        </p:spPr>
        <p:txBody>
          <a:bodyPr wrap="square" rtlCol="0" anchor="ctr"/>
          <a:lstStyle/>
          <a:p>
            <a:pPr indent="0" marL="0">
              <a:buNone/>
            </a:pPr>
            <a:r>
              <a:rPr lang="en-US" sz="1200" b="1" dirty="0">
                <a:solidFill>
                  <a:srgbClr val="1976D2"/>
                </a:solidFill>
                <a:latin typeface="Calibri" pitchFamily="34" charset="0"/>
                <a:ea typeface="Calibri" pitchFamily="34" charset="-122"/>
                <a:cs typeface="Calibri" pitchFamily="34" charset="-120"/>
              </a:rPr>
              <a:t>Real-Time Monitoring Achieved</a:t>
            </a:r>
            <a:endParaRPr lang="en-US" sz="1200" dirty="0"/>
          </a:p>
        </p:txBody>
      </p:sp>
      <p:sp>
        <p:nvSpPr>
          <p:cNvPr id="30" name="Text 28"/>
          <p:cNvSpPr/>
          <p:nvPr/>
        </p:nvSpPr>
        <p:spPr>
          <a:xfrm>
            <a:off x="1005840" y="4325112"/>
            <a:ext cx="5212080" cy="59436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The web dashboard provides live charts, KPI analytics, history tables, and system health metrics — all updating automatically every 2.5 seconds.</a:t>
            </a:r>
            <a:endParaRPr lang="en-US" sz="1050" dirty="0"/>
          </a:p>
        </p:txBody>
      </p:sp>
      <p:sp>
        <p:nvSpPr>
          <p:cNvPr id="31" name="Shape 29"/>
          <p:cNvSpPr/>
          <p:nvPr/>
        </p:nvSpPr>
        <p:spPr>
          <a:xfrm>
            <a:off x="320040" y="5120640"/>
            <a:ext cx="6035040" cy="1115568"/>
          </a:xfrm>
          <a:prstGeom prst="roundRect">
            <a:avLst>
              <a:gd name="adj" fmla="val 8197"/>
            </a:avLst>
          </a:prstGeom>
          <a:solidFill>
            <a:srgbClr val="E8F4FD"/>
          </a:solidFill>
          <a:ln w="9525">
            <a:solidFill>
              <a:srgbClr val="0D2B5E"/>
            </a:solidFill>
            <a:prstDash val="solid"/>
          </a:ln>
        </p:spPr>
      </p:sp>
      <p:sp>
        <p:nvSpPr>
          <p:cNvPr id="32" name="Shape 30"/>
          <p:cNvSpPr/>
          <p:nvPr/>
        </p:nvSpPr>
        <p:spPr>
          <a:xfrm>
            <a:off x="320040" y="5120640"/>
            <a:ext cx="594360" cy="1115568"/>
          </a:xfrm>
          <a:prstGeom prst="roundRect">
            <a:avLst>
              <a:gd name="adj" fmla="val 15385"/>
            </a:avLst>
          </a:prstGeom>
          <a:solidFill>
            <a:srgbClr val="0D2B5E"/>
          </a:solidFill>
          <a:ln w="12700">
            <a:solidFill>
              <a:srgbClr val="0D2B5E"/>
            </a:solidFill>
            <a:prstDash val="solid"/>
          </a:ln>
        </p:spPr>
      </p:sp>
      <p:sp>
        <p:nvSpPr>
          <p:cNvPr id="33" name="Shape 31"/>
          <p:cNvSpPr/>
          <p:nvPr/>
        </p:nvSpPr>
        <p:spPr>
          <a:xfrm>
            <a:off x="594360" y="5120640"/>
            <a:ext cx="320040" cy="1115568"/>
          </a:xfrm>
          <a:prstGeom prst="rect">
            <a:avLst/>
          </a:prstGeom>
          <a:solidFill>
            <a:srgbClr val="0D2B5E"/>
          </a:solidFill>
          <a:ln w="12700">
            <a:solidFill>
              <a:srgbClr val="0D2B5E"/>
            </a:solidFill>
            <a:prstDash val="solid"/>
          </a:ln>
        </p:spPr>
      </p:sp>
      <p:sp>
        <p:nvSpPr>
          <p:cNvPr id="34" name="Text 32"/>
          <p:cNvSpPr/>
          <p:nvPr/>
        </p:nvSpPr>
        <p:spPr>
          <a:xfrm>
            <a:off x="320040" y="5394960"/>
            <a:ext cx="59436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5" name="Text 33"/>
          <p:cNvSpPr/>
          <p:nvPr/>
        </p:nvSpPr>
        <p:spPr>
          <a:xfrm>
            <a:off x="1005840" y="5193792"/>
            <a:ext cx="5212080" cy="320040"/>
          </a:xfrm>
          <a:prstGeom prst="rect">
            <a:avLst/>
          </a:prstGeom>
          <a:noFill/>
          <a:ln/>
        </p:spPr>
        <p:txBody>
          <a:bodyPr wrap="square"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Foundation for Smart Environments</a:t>
            </a:r>
            <a:endParaRPr lang="en-US" sz="1200" dirty="0"/>
          </a:p>
        </p:txBody>
      </p:sp>
      <p:sp>
        <p:nvSpPr>
          <p:cNvPr id="36" name="Text 34"/>
          <p:cNvSpPr/>
          <p:nvPr/>
        </p:nvSpPr>
        <p:spPr>
          <a:xfrm>
            <a:off x="1005840" y="5559552"/>
            <a:ext cx="5212080" cy="594360"/>
          </a:xfrm>
          <a:prstGeom prst="rect">
            <a:avLst/>
          </a:prstGeom>
          <a:noFill/>
          <a:ln/>
        </p:spPr>
        <p:txBody>
          <a:bodyPr wrap="square"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This prototype demonstrates a scalable architecture suitable for expansion to smart homes, classrooms, campuses, and commercial buildings.</a:t>
            </a:r>
            <a:endParaRPr lang="en-US" sz="1050" dirty="0"/>
          </a:p>
        </p:txBody>
      </p:sp>
      <p:sp>
        <p:nvSpPr>
          <p:cNvPr id="37" name="Text 35"/>
          <p:cNvSpPr/>
          <p:nvPr/>
        </p:nvSpPr>
        <p:spPr>
          <a:xfrm>
            <a:off x="6858000" y="960120"/>
            <a:ext cx="5029200" cy="347472"/>
          </a:xfrm>
          <a:prstGeom prst="rect">
            <a:avLst/>
          </a:prstGeom>
          <a:noFill/>
          <a:ln/>
        </p:spPr>
        <p:txBody>
          <a:bodyPr wrap="square" rtlCol="0" anchor="ctr"/>
          <a:lstStyle/>
          <a:p>
            <a:pPr algn="ctr" indent="0" marL="0">
              <a:buNone/>
            </a:pPr>
            <a:r>
              <a:rPr lang="en-US" sz="1400" b="1" dirty="0">
                <a:solidFill>
                  <a:srgbClr val="0D2B5E"/>
                </a:solidFill>
                <a:latin typeface="Calibri" pitchFamily="34" charset="0"/>
                <a:ea typeface="Calibri" pitchFamily="34" charset="-122"/>
                <a:cs typeface="Calibri" pitchFamily="34" charset="-120"/>
              </a:rPr>
              <a:t>Project At a Glance</a:t>
            </a:r>
            <a:endParaRPr lang="en-US" sz="1400" dirty="0"/>
          </a:p>
        </p:txBody>
      </p:sp>
      <p:sp>
        <p:nvSpPr>
          <p:cNvPr id="38" name="Shape 36"/>
          <p:cNvSpPr/>
          <p:nvPr/>
        </p:nvSpPr>
        <p:spPr>
          <a:xfrm>
            <a:off x="6858000" y="1307592"/>
            <a:ext cx="5029200" cy="16459"/>
          </a:xfrm>
          <a:prstGeom prst="rect">
            <a:avLst/>
          </a:prstGeom>
          <a:solidFill>
            <a:srgbClr val="BBDEFB"/>
          </a:solidFill>
          <a:ln/>
        </p:spPr>
      </p:sp>
      <p:sp>
        <p:nvSpPr>
          <p:cNvPr id="39" name="Shape 37"/>
          <p:cNvSpPr/>
          <p:nvPr/>
        </p:nvSpPr>
        <p:spPr>
          <a:xfrm>
            <a:off x="6903720" y="1417320"/>
            <a:ext cx="2286000" cy="804672"/>
          </a:xfrm>
          <a:prstGeom prst="roundRect">
            <a:avLst>
              <a:gd name="adj" fmla="val 11364"/>
            </a:avLst>
          </a:prstGeom>
          <a:solidFill>
            <a:srgbClr val="FFFFFF"/>
          </a:solidFill>
          <a:ln w="12700">
            <a:solidFill>
              <a:srgbClr val="388E3C"/>
            </a:solidFill>
            <a:prstDash val="solid"/>
          </a:ln>
        </p:spPr>
      </p:sp>
      <p:sp>
        <p:nvSpPr>
          <p:cNvPr id="40" name="Text 38"/>
          <p:cNvSpPr/>
          <p:nvPr/>
        </p:nvSpPr>
        <p:spPr>
          <a:xfrm>
            <a:off x="6903720" y="1472184"/>
            <a:ext cx="2286000" cy="384048"/>
          </a:xfrm>
          <a:prstGeom prst="rect">
            <a:avLst/>
          </a:prstGeom>
          <a:noFill/>
          <a:ln/>
        </p:spPr>
        <p:txBody>
          <a:bodyPr wrap="square" rtlCol="0" anchor="ctr"/>
          <a:lstStyle/>
          <a:p>
            <a:pPr algn="ctr" indent="0" marL="0">
              <a:buNone/>
            </a:pPr>
            <a:r>
              <a:rPr lang="en-US" sz="2200" b="1" dirty="0">
                <a:solidFill>
                  <a:srgbClr val="388E3C"/>
                </a:solidFill>
                <a:latin typeface="Calibri" pitchFamily="34" charset="0"/>
                <a:ea typeface="Calibri" pitchFamily="34" charset="-122"/>
                <a:cs typeface="Calibri" pitchFamily="34" charset="-120"/>
              </a:rPr>
              <a:t>98%</a:t>
            </a:r>
            <a:endParaRPr lang="en-US" sz="2200" dirty="0"/>
          </a:p>
        </p:txBody>
      </p:sp>
      <p:sp>
        <p:nvSpPr>
          <p:cNvPr id="41" name="Text 39"/>
          <p:cNvSpPr/>
          <p:nvPr/>
        </p:nvSpPr>
        <p:spPr>
          <a:xfrm>
            <a:off x="6903720" y="1892808"/>
            <a:ext cx="2286000" cy="256032"/>
          </a:xfrm>
          <a:prstGeom prst="rect">
            <a:avLst/>
          </a:prstGeom>
          <a:noFill/>
          <a:ln/>
        </p:spPr>
        <p:txBody>
          <a:bodyPr wrap="square" rtlCol="0" anchor="ctr"/>
          <a:lstStyle/>
          <a:p>
            <a:pPr algn="ctr" indent="0" marL="0">
              <a:buNone/>
            </a:pPr>
            <a:r>
              <a:rPr lang="en-US" sz="900" dirty="0">
                <a:solidFill>
                  <a:srgbClr val="78909C"/>
                </a:solidFill>
                <a:latin typeface="Calibri" pitchFamily="34" charset="0"/>
                <a:ea typeface="Calibri" pitchFamily="34" charset="-122"/>
                <a:cs typeface="Calibri" pitchFamily="34" charset="-120"/>
              </a:rPr>
              <a:t>Packet Success Rate</a:t>
            </a:r>
            <a:endParaRPr lang="en-US" sz="900" dirty="0"/>
          </a:p>
        </p:txBody>
      </p:sp>
      <p:sp>
        <p:nvSpPr>
          <p:cNvPr id="42" name="Shape 40"/>
          <p:cNvSpPr/>
          <p:nvPr/>
        </p:nvSpPr>
        <p:spPr>
          <a:xfrm>
            <a:off x="9418320" y="1417320"/>
            <a:ext cx="2286000" cy="804672"/>
          </a:xfrm>
          <a:prstGeom prst="roundRect">
            <a:avLst>
              <a:gd name="adj" fmla="val 11364"/>
            </a:avLst>
          </a:prstGeom>
          <a:solidFill>
            <a:srgbClr val="FFFFFF"/>
          </a:solidFill>
          <a:ln w="12700">
            <a:solidFill>
              <a:srgbClr val="1565C0"/>
            </a:solidFill>
            <a:prstDash val="solid"/>
          </a:ln>
        </p:spPr>
      </p:sp>
      <p:sp>
        <p:nvSpPr>
          <p:cNvPr id="43" name="Text 41"/>
          <p:cNvSpPr/>
          <p:nvPr/>
        </p:nvSpPr>
        <p:spPr>
          <a:xfrm>
            <a:off x="9418320" y="1472184"/>
            <a:ext cx="2286000" cy="384048"/>
          </a:xfrm>
          <a:prstGeom prst="rect">
            <a:avLst/>
          </a:prstGeom>
          <a:noFill/>
          <a:ln/>
        </p:spPr>
        <p:txBody>
          <a:bodyPr wrap="square" rtlCol="0" anchor="ctr"/>
          <a:lstStyle/>
          <a:p>
            <a:pPr algn="ctr" indent="0" marL="0">
              <a:buNone/>
            </a:pPr>
            <a:r>
              <a:rPr lang="en-US" sz="2200" b="1" dirty="0">
                <a:solidFill>
                  <a:srgbClr val="1565C0"/>
                </a:solidFill>
                <a:latin typeface="Calibri" pitchFamily="34" charset="0"/>
                <a:ea typeface="Calibri" pitchFamily="34" charset="-122"/>
                <a:cs typeface="Calibri" pitchFamily="34" charset="-120"/>
              </a:rPr>
              <a:t>1.2s</a:t>
            </a:r>
            <a:endParaRPr lang="en-US" sz="2200" dirty="0"/>
          </a:p>
        </p:txBody>
      </p:sp>
      <p:sp>
        <p:nvSpPr>
          <p:cNvPr id="44" name="Text 42"/>
          <p:cNvSpPr/>
          <p:nvPr/>
        </p:nvSpPr>
        <p:spPr>
          <a:xfrm>
            <a:off x="9418320" y="1892808"/>
            <a:ext cx="2286000" cy="256032"/>
          </a:xfrm>
          <a:prstGeom prst="rect">
            <a:avLst/>
          </a:prstGeom>
          <a:noFill/>
          <a:ln/>
        </p:spPr>
        <p:txBody>
          <a:bodyPr wrap="square" rtlCol="0" anchor="ctr"/>
          <a:lstStyle/>
          <a:p>
            <a:pPr algn="ctr" indent="0" marL="0">
              <a:buNone/>
            </a:pPr>
            <a:r>
              <a:rPr lang="en-US" sz="900" dirty="0">
                <a:solidFill>
                  <a:srgbClr val="78909C"/>
                </a:solidFill>
                <a:latin typeface="Calibri" pitchFamily="34" charset="0"/>
                <a:ea typeface="Calibri" pitchFamily="34" charset="-122"/>
                <a:cs typeface="Calibri" pitchFamily="34" charset="-120"/>
              </a:rPr>
              <a:t>API Latency</a:t>
            </a:r>
            <a:endParaRPr lang="en-US" sz="900" dirty="0"/>
          </a:p>
        </p:txBody>
      </p:sp>
      <p:sp>
        <p:nvSpPr>
          <p:cNvPr id="45" name="Shape 43"/>
          <p:cNvSpPr/>
          <p:nvPr/>
        </p:nvSpPr>
        <p:spPr>
          <a:xfrm>
            <a:off x="6903720" y="2377440"/>
            <a:ext cx="2286000" cy="804672"/>
          </a:xfrm>
          <a:prstGeom prst="roundRect">
            <a:avLst>
              <a:gd name="adj" fmla="val 11364"/>
            </a:avLst>
          </a:prstGeom>
          <a:solidFill>
            <a:srgbClr val="FFFFFF"/>
          </a:solidFill>
          <a:ln w="12700">
            <a:solidFill>
              <a:srgbClr val="D84315"/>
            </a:solidFill>
            <a:prstDash val="solid"/>
          </a:ln>
        </p:spPr>
      </p:sp>
      <p:sp>
        <p:nvSpPr>
          <p:cNvPr id="46" name="Text 44"/>
          <p:cNvSpPr/>
          <p:nvPr/>
        </p:nvSpPr>
        <p:spPr>
          <a:xfrm>
            <a:off x="6903720" y="2432304"/>
            <a:ext cx="2286000" cy="384048"/>
          </a:xfrm>
          <a:prstGeom prst="rect">
            <a:avLst/>
          </a:prstGeom>
          <a:noFill/>
          <a:ln/>
        </p:spPr>
        <p:txBody>
          <a:bodyPr wrap="square" rtlCol="0" anchor="ctr"/>
          <a:lstStyle/>
          <a:p>
            <a:pPr algn="ctr" indent="0" marL="0">
              <a:buNone/>
            </a:pPr>
            <a:r>
              <a:rPr lang="en-US" sz="2200" b="1" dirty="0">
                <a:solidFill>
                  <a:srgbClr val="D84315"/>
                </a:solidFill>
                <a:latin typeface="Calibri" pitchFamily="34" charset="0"/>
                <a:ea typeface="Calibri" pitchFamily="34" charset="-122"/>
                <a:cs typeface="Calibri" pitchFamily="34" charset="-120"/>
              </a:rPr>
              <a:t>300ms</a:t>
            </a:r>
            <a:endParaRPr lang="en-US" sz="2200" dirty="0"/>
          </a:p>
        </p:txBody>
      </p:sp>
      <p:sp>
        <p:nvSpPr>
          <p:cNvPr id="47" name="Text 45"/>
          <p:cNvSpPr/>
          <p:nvPr/>
        </p:nvSpPr>
        <p:spPr>
          <a:xfrm>
            <a:off x="6903720" y="2852928"/>
            <a:ext cx="2286000" cy="256032"/>
          </a:xfrm>
          <a:prstGeom prst="rect">
            <a:avLst/>
          </a:prstGeom>
          <a:noFill/>
          <a:ln/>
        </p:spPr>
        <p:txBody>
          <a:bodyPr wrap="square" rtlCol="0" anchor="ctr"/>
          <a:lstStyle/>
          <a:p>
            <a:pPr algn="ctr" indent="0" marL="0">
              <a:buNone/>
            </a:pPr>
            <a:r>
              <a:rPr lang="en-US" sz="900" dirty="0">
                <a:solidFill>
                  <a:srgbClr val="78909C"/>
                </a:solidFill>
                <a:latin typeface="Calibri" pitchFamily="34" charset="0"/>
                <a:ea typeface="Calibri" pitchFamily="34" charset="-122"/>
                <a:cs typeface="Calibri" pitchFamily="34" charset="-120"/>
              </a:rPr>
              <a:t>LED Response</a:t>
            </a:r>
            <a:endParaRPr lang="en-US" sz="900" dirty="0"/>
          </a:p>
        </p:txBody>
      </p:sp>
      <p:sp>
        <p:nvSpPr>
          <p:cNvPr id="48" name="Shape 46"/>
          <p:cNvSpPr/>
          <p:nvPr/>
        </p:nvSpPr>
        <p:spPr>
          <a:xfrm>
            <a:off x="9418320" y="2377440"/>
            <a:ext cx="2286000" cy="804672"/>
          </a:xfrm>
          <a:prstGeom prst="roundRect">
            <a:avLst>
              <a:gd name="adj" fmla="val 11364"/>
            </a:avLst>
          </a:prstGeom>
          <a:solidFill>
            <a:srgbClr val="FFFFFF"/>
          </a:solidFill>
          <a:ln w="12700">
            <a:solidFill>
              <a:srgbClr val="1976D2"/>
            </a:solidFill>
            <a:prstDash val="solid"/>
          </a:ln>
        </p:spPr>
      </p:sp>
      <p:sp>
        <p:nvSpPr>
          <p:cNvPr id="49" name="Text 47"/>
          <p:cNvSpPr/>
          <p:nvPr/>
        </p:nvSpPr>
        <p:spPr>
          <a:xfrm>
            <a:off x="9418320" y="2432304"/>
            <a:ext cx="2286000" cy="384048"/>
          </a:xfrm>
          <a:prstGeom prst="rect">
            <a:avLst/>
          </a:prstGeom>
          <a:noFill/>
          <a:ln/>
        </p:spPr>
        <p:txBody>
          <a:bodyPr wrap="square" rtlCol="0" anchor="ctr"/>
          <a:lstStyle/>
          <a:p>
            <a:pPr algn="ctr" indent="0" marL="0">
              <a:buNone/>
            </a:pPr>
            <a:r>
              <a:rPr lang="en-US" sz="2200" b="1" dirty="0">
                <a:solidFill>
                  <a:srgbClr val="1976D2"/>
                </a:solidFill>
                <a:latin typeface="Calibri" pitchFamily="34" charset="0"/>
                <a:ea typeface="Calibri" pitchFamily="34" charset="-122"/>
                <a:cs typeface="Calibri" pitchFamily="34" charset="-120"/>
              </a:rPr>
              <a:t>2.5s</a:t>
            </a:r>
            <a:endParaRPr lang="en-US" sz="2200" dirty="0"/>
          </a:p>
        </p:txBody>
      </p:sp>
      <p:sp>
        <p:nvSpPr>
          <p:cNvPr id="50" name="Text 48"/>
          <p:cNvSpPr/>
          <p:nvPr/>
        </p:nvSpPr>
        <p:spPr>
          <a:xfrm>
            <a:off x="9418320" y="2852928"/>
            <a:ext cx="2286000" cy="256032"/>
          </a:xfrm>
          <a:prstGeom prst="rect">
            <a:avLst/>
          </a:prstGeom>
          <a:noFill/>
          <a:ln/>
        </p:spPr>
        <p:txBody>
          <a:bodyPr wrap="square" rtlCol="0" anchor="ctr"/>
          <a:lstStyle/>
          <a:p>
            <a:pPr algn="ctr" indent="0" marL="0">
              <a:buNone/>
            </a:pPr>
            <a:r>
              <a:rPr lang="en-US" sz="900" dirty="0">
                <a:solidFill>
                  <a:srgbClr val="78909C"/>
                </a:solidFill>
                <a:latin typeface="Calibri" pitchFamily="34" charset="0"/>
                <a:ea typeface="Calibri" pitchFamily="34" charset="-122"/>
                <a:cs typeface="Calibri" pitchFamily="34" charset="-120"/>
              </a:rPr>
              <a:t>Dashboard Refresh</a:t>
            </a:r>
            <a:endParaRPr lang="en-US" sz="900" dirty="0"/>
          </a:p>
        </p:txBody>
      </p:sp>
      <p:sp>
        <p:nvSpPr>
          <p:cNvPr id="51" name="Text 49"/>
          <p:cNvSpPr/>
          <p:nvPr/>
        </p:nvSpPr>
        <p:spPr>
          <a:xfrm>
            <a:off x="6858000" y="3456432"/>
            <a:ext cx="5029200" cy="274320"/>
          </a:xfrm>
          <a:prstGeom prst="rect">
            <a:avLst/>
          </a:prstGeom>
          <a:noFill/>
          <a:ln/>
        </p:spPr>
        <p:txBody>
          <a:bodyPr wrap="square" rtlCol="0" anchor="ctr"/>
          <a:lstStyle/>
          <a:p>
            <a:pPr algn="ctr" indent="0" marL="0">
              <a:buNone/>
            </a:pPr>
            <a:r>
              <a:rPr lang="en-US" sz="1100" b="1" dirty="0">
                <a:solidFill>
                  <a:srgbClr val="0D2B5E"/>
                </a:solidFill>
                <a:latin typeface="Calibri" pitchFamily="34" charset="0"/>
                <a:ea typeface="Calibri" pitchFamily="34" charset="-122"/>
                <a:cs typeface="Calibri" pitchFamily="34" charset="-120"/>
              </a:rPr>
              <a:t>Technologies Used</a:t>
            </a:r>
            <a:endParaRPr lang="en-US" sz="1100" dirty="0"/>
          </a:p>
        </p:txBody>
      </p:sp>
      <p:sp>
        <p:nvSpPr>
          <p:cNvPr id="52" name="Shape 50"/>
          <p:cNvSpPr/>
          <p:nvPr/>
        </p:nvSpPr>
        <p:spPr>
          <a:xfrm>
            <a:off x="6903720" y="3794760"/>
            <a:ext cx="1508760" cy="685800"/>
          </a:xfrm>
          <a:prstGeom prst="roundRect">
            <a:avLst>
              <a:gd name="adj" fmla="val 13333"/>
            </a:avLst>
          </a:prstGeom>
          <a:solidFill>
            <a:srgbClr val="FFFFFF"/>
          </a:solidFill>
          <a:ln w="9525">
            <a:solidFill>
              <a:srgbClr val="D84315"/>
            </a:solidFill>
            <a:prstDash val="solid"/>
          </a:ln>
        </p:spPr>
      </p:sp>
      <p:sp>
        <p:nvSpPr>
          <p:cNvPr id="53" name="Text 51"/>
          <p:cNvSpPr/>
          <p:nvPr/>
        </p:nvSpPr>
        <p:spPr>
          <a:xfrm>
            <a:off x="6903720" y="383133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4" name="Text 52"/>
          <p:cNvSpPr/>
          <p:nvPr/>
        </p:nvSpPr>
        <p:spPr>
          <a:xfrm>
            <a:off x="7379208" y="3904488"/>
            <a:ext cx="960120" cy="457200"/>
          </a:xfrm>
          <a:prstGeom prst="rect">
            <a:avLst/>
          </a:prstGeom>
          <a:noFill/>
          <a:ln/>
        </p:spPr>
        <p:txBody>
          <a:bodyPr wrap="square" rtlCol="0" anchor="ctr"/>
          <a:lstStyle/>
          <a:p>
            <a:pPr indent="0" marL="0">
              <a:buNone/>
            </a:pPr>
            <a:r>
              <a:rPr lang="en-US" sz="1100" b="1" dirty="0">
                <a:solidFill>
                  <a:srgbClr val="D84315"/>
                </a:solidFill>
                <a:latin typeface="Calibri" pitchFamily="34" charset="0"/>
                <a:ea typeface="Calibri" pitchFamily="34" charset="-122"/>
                <a:cs typeface="Calibri" pitchFamily="34" charset="-120"/>
              </a:rPr>
              <a:t>ESP32</a:t>
            </a:r>
            <a:endParaRPr lang="en-US" sz="1100" dirty="0"/>
          </a:p>
        </p:txBody>
      </p:sp>
      <p:sp>
        <p:nvSpPr>
          <p:cNvPr id="55" name="Shape 53"/>
          <p:cNvSpPr/>
          <p:nvPr/>
        </p:nvSpPr>
        <p:spPr>
          <a:xfrm>
            <a:off x="8595360" y="3794760"/>
            <a:ext cx="1508760" cy="685800"/>
          </a:xfrm>
          <a:prstGeom prst="roundRect">
            <a:avLst>
              <a:gd name="adj" fmla="val 13333"/>
            </a:avLst>
          </a:prstGeom>
          <a:solidFill>
            <a:srgbClr val="FFFFFF"/>
          </a:solidFill>
          <a:ln w="9525">
            <a:solidFill>
              <a:srgbClr val="F57F17"/>
            </a:solidFill>
            <a:prstDash val="solid"/>
          </a:ln>
        </p:spPr>
      </p:sp>
      <p:sp>
        <p:nvSpPr>
          <p:cNvPr id="56" name="Text 54"/>
          <p:cNvSpPr/>
          <p:nvPr/>
        </p:nvSpPr>
        <p:spPr>
          <a:xfrm>
            <a:off x="8595360" y="383133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7" name="Text 55"/>
          <p:cNvSpPr/>
          <p:nvPr/>
        </p:nvSpPr>
        <p:spPr>
          <a:xfrm>
            <a:off x="9070848" y="3904488"/>
            <a:ext cx="960120" cy="457200"/>
          </a:xfrm>
          <a:prstGeom prst="rect">
            <a:avLst/>
          </a:prstGeom>
          <a:noFill/>
          <a:ln/>
        </p:spPr>
        <p:txBody>
          <a:bodyPr wrap="square" rtlCol="0" anchor="ctr"/>
          <a:lstStyle/>
          <a:p>
            <a:pPr indent="0" marL="0">
              <a:buNone/>
            </a:pPr>
            <a:r>
              <a:rPr lang="en-US" sz="1100" b="1" dirty="0">
                <a:solidFill>
                  <a:srgbClr val="F57F17"/>
                </a:solidFill>
                <a:latin typeface="Calibri" pitchFamily="34" charset="0"/>
                <a:ea typeface="Calibri" pitchFamily="34" charset="-122"/>
                <a:cs typeface="Calibri" pitchFamily="34" charset="-120"/>
              </a:rPr>
              <a:t>LDR</a:t>
            </a:r>
            <a:endParaRPr lang="en-US" sz="1100" dirty="0"/>
          </a:p>
        </p:txBody>
      </p:sp>
      <p:sp>
        <p:nvSpPr>
          <p:cNvPr id="58" name="Shape 56"/>
          <p:cNvSpPr/>
          <p:nvPr/>
        </p:nvSpPr>
        <p:spPr>
          <a:xfrm>
            <a:off x="10287000" y="3794760"/>
            <a:ext cx="1508760" cy="685800"/>
          </a:xfrm>
          <a:prstGeom prst="roundRect">
            <a:avLst>
              <a:gd name="adj" fmla="val 13333"/>
            </a:avLst>
          </a:prstGeom>
          <a:solidFill>
            <a:srgbClr val="FFFFFF"/>
          </a:solidFill>
          <a:ln w="9525">
            <a:solidFill>
              <a:srgbClr val="0D2B5E"/>
            </a:solidFill>
            <a:prstDash val="solid"/>
          </a:ln>
        </p:spPr>
      </p:sp>
      <p:sp>
        <p:nvSpPr>
          <p:cNvPr id="59" name="Text 57"/>
          <p:cNvSpPr/>
          <p:nvPr/>
        </p:nvSpPr>
        <p:spPr>
          <a:xfrm>
            <a:off x="10287000" y="383133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0" name="Text 58"/>
          <p:cNvSpPr/>
          <p:nvPr/>
        </p:nvSpPr>
        <p:spPr>
          <a:xfrm>
            <a:off x="10762488" y="3904488"/>
            <a:ext cx="960120" cy="457200"/>
          </a:xfrm>
          <a:prstGeom prst="rect">
            <a:avLst/>
          </a:prstGeom>
          <a:noFill/>
          <a:ln/>
        </p:spPr>
        <p:txBody>
          <a:bodyPr wrap="square" rtlCol="0" anchor="ctr"/>
          <a:lstStyle/>
          <a:p>
            <a:pPr indent="0" marL="0">
              <a:buNone/>
            </a:pPr>
            <a:r>
              <a:rPr lang="en-US" sz="1100" b="1" dirty="0">
                <a:solidFill>
                  <a:srgbClr val="0D2B5E"/>
                </a:solidFill>
                <a:latin typeface="Calibri" pitchFamily="34" charset="0"/>
                <a:ea typeface="Calibri" pitchFamily="34" charset="-122"/>
                <a:cs typeface="Calibri" pitchFamily="34" charset="-120"/>
              </a:rPr>
              <a:t>Next.js</a:t>
            </a:r>
            <a:endParaRPr lang="en-US" sz="1100" dirty="0"/>
          </a:p>
        </p:txBody>
      </p:sp>
      <p:sp>
        <p:nvSpPr>
          <p:cNvPr id="61" name="Shape 59"/>
          <p:cNvSpPr/>
          <p:nvPr/>
        </p:nvSpPr>
        <p:spPr>
          <a:xfrm>
            <a:off x="6903720" y="4617720"/>
            <a:ext cx="1508760" cy="685800"/>
          </a:xfrm>
          <a:prstGeom prst="roundRect">
            <a:avLst>
              <a:gd name="adj" fmla="val 13333"/>
            </a:avLst>
          </a:prstGeom>
          <a:solidFill>
            <a:srgbClr val="FFFFFF"/>
          </a:solidFill>
          <a:ln w="9525">
            <a:solidFill>
              <a:srgbClr val="388E3C"/>
            </a:solidFill>
            <a:prstDash val="solid"/>
          </a:ln>
        </p:spPr>
      </p:sp>
      <p:sp>
        <p:nvSpPr>
          <p:cNvPr id="62" name="Text 60"/>
          <p:cNvSpPr/>
          <p:nvPr/>
        </p:nvSpPr>
        <p:spPr>
          <a:xfrm>
            <a:off x="6903720" y="465429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3" name="Text 61"/>
          <p:cNvSpPr/>
          <p:nvPr/>
        </p:nvSpPr>
        <p:spPr>
          <a:xfrm>
            <a:off x="7379208" y="4727448"/>
            <a:ext cx="960120" cy="457200"/>
          </a:xfrm>
          <a:prstGeom prst="rect">
            <a:avLst/>
          </a:prstGeom>
          <a:noFill/>
          <a:ln/>
        </p:spPr>
        <p:txBody>
          <a:bodyPr wrap="square" rtlCol="0" anchor="ctr"/>
          <a:lstStyle/>
          <a:p>
            <a:pPr indent="0" marL="0">
              <a:buNone/>
            </a:pPr>
            <a:r>
              <a:rPr lang="en-US" sz="1100" b="1" dirty="0">
                <a:solidFill>
                  <a:srgbClr val="388E3C"/>
                </a:solidFill>
                <a:latin typeface="Calibri" pitchFamily="34" charset="0"/>
                <a:ea typeface="Calibri" pitchFamily="34" charset="-122"/>
                <a:cs typeface="Calibri" pitchFamily="34" charset="-120"/>
              </a:rPr>
              <a:t>MongoDB</a:t>
            </a:r>
            <a:endParaRPr lang="en-US" sz="1100" dirty="0"/>
          </a:p>
        </p:txBody>
      </p:sp>
      <p:sp>
        <p:nvSpPr>
          <p:cNvPr id="64" name="Shape 62"/>
          <p:cNvSpPr/>
          <p:nvPr/>
        </p:nvSpPr>
        <p:spPr>
          <a:xfrm>
            <a:off x="8595360" y="4617720"/>
            <a:ext cx="1508760" cy="685800"/>
          </a:xfrm>
          <a:prstGeom prst="roundRect">
            <a:avLst>
              <a:gd name="adj" fmla="val 13333"/>
            </a:avLst>
          </a:prstGeom>
          <a:solidFill>
            <a:srgbClr val="FFFFFF"/>
          </a:solidFill>
          <a:ln w="9525">
            <a:solidFill>
              <a:srgbClr val="1565C0"/>
            </a:solidFill>
            <a:prstDash val="solid"/>
          </a:ln>
        </p:spPr>
      </p:sp>
      <p:sp>
        <p:nvSpPr>
          <p:cNvPr id="65" name="Text 63"/>
          <p:cNvSpPr/>
          <p:nvPr/>
        </p:nvSpPr>
        <p:spPr>
          <a:xfrm>
            <a:off x="8595360" y="465429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6" name="Text 64"/>
          <p:cNvSpPr/>
          <p:nvPr/>
        </p:nvSpPr>
        <p:spPr>
          <a:xfrm>
            <a:off x="9070848" y="4727448"/>
            <a:ext cx="960120" cy="45720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REST</a:t>
            </a:r>
            <a:endParaRPr lang="en-US" sz="1100" dirty="0"/>
          </a:p>
        </p:txBody>
      </p:sp>
      <p:sp>
        <p:nvSpPr>
          <p:cNvPr id="67" name="Shape 65"/>
          <p:cNvSpPr/>
          <p:nvPr/>
        </p:nvSpPr>
        <p:spPr>
          <a:xfrm>
            <a:off x="10287000" y="4617720"/>
            <a:ext cx="1508760" cy="685800"/>
          </a:xfrm>
          <a:prstGeom prst="roundRect">
            <a:avLst>
              <a:gd name="adj" fmla="val 13333"/>
            </a:avLst>
          </a:prstGeom>
          <a:solidFill>
            <a:srgbClr val="FFFFFF"/>
          </a:solidFill>
          <a:ln w="9525">
            <a:solidFill>
              <a:srgbClr val="1976D2"/>
            </a:solidFill>
            <a:prstDash val="solid"/>
          </a:ln>
        </p:spPr>
      </p:sp>
      <p:sp>
        <p:nvSpPr>
          <p:cNvPr id="68" name="Text 66"/>
          <p:cNvSpPr/>
          <p:nvPr/>
        </p:nvSpPr>
        <p:spPr>
          <a:xfrm>
            <a:off x="10287000" y="4654296"/>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69" name="Text 67"/>
          <p:cNvSpPr/>
          <p:nvPr/>
        </p:nvSpPr>
        <p:spPr>
          <a:xfrm>
            <a:off x="10762488" y="4727448"/>
            <a:ext cx="960120" cy="457200"/>
          </a:xfrm>
          <a:prstGeom prst="rect">
            <a:avLst/>
          </a:prstGeom>
          <a:noFill/>
          <a:ln/>
        </p:spPr>
        <p:txBody>
          <a:bodyPr wrap="square" rtlCol="0" anchor="ctr"/>
          <a:lstStyle/>
          <a:p>
            <a:pPr indent="0" marL="0">
              <a:buNone/>
            </a:pPr>
            <a:r>
              <a:rPr lang="en-US" sz="1100" b="1" dirty="0">
                <a:solidFill>
                  <a:srgbClr val="1976D2"/>
                </a:solidFill>
                <a:latin typeface="Calibri" pitchFamily="34" charset="0"/>
                <a:ea typeface="Calibri" pitchFamily="34" charset="-122"/>
                <a:cs typeface="Calibri" pitchFamily="34" charset="-120"/>
              </a:rPr>
              <a:t>Vercel</a:t>
            </a:r>
            <a:endParaRPr lang="en-US" sz="1100" dirty="0"/>
          </a:p>
        </p:txBody>
      </p:sp>
      <p:sp>
        <p:nvSpPr>
          <p:cNvPr id="70" name="Shape 68"/>
          <p:cNvSpPr/>
          <p:nvPr/>
        </p:nvSpPr>
        <p:spPr>
          <a:xfrm>
            <a:off x="6812280" y="5468112"/>
            <a:ext cx="5120640" cy="713232"/>
          </a:xfrm>
          <a:prstGeom prst="roundRect">
            <a:avLst>
              <a:gd name="adj" fmla="val 12821"/>
            </a:avLst>
          </a:prstGeom>
          <a:solidFill>
            <a:srgbClr val="0D2B5E"/>
          </a:solidFill>
          <a:ln w="9525">
            <a:solidFill>
              <a:srgbClr val="0D2B5E"/>
            </a:solidFill>
            <a:prstDash val="solid"/>
          </a:ln>
        </p:spPr>
      </p:sp>
      <p:sp>
        <p:nvSpPr>
          <p:cNvPr id="71" name="Text 69"/>
          <p:cNvSpPr/>
          <p:nvPr/>
        </p:nvSpPr>
        <p:spPr>
          <a:xfrm>
            <a:off x="6949440" y="5522976"/>
            <a:ext cx="4846320" cy="228600"/>
          </a:xfrm>
          <a:prstGeom prst="rect">
            <a:avLst/>
          </a:prstGeom>
          <a:noFill/>
          <a:ln/>
        </p:spPr>
        <p:txBody>
          <a:bodyPr wrap="square" rtlCol="0" anchor="ctr"/>
          <a:lstStyle/>
          <a:p>
            <a:pPr indent="0" marL="0">
              <a:buNone/>
            </a:pPr>
            <a:r>
              <a:rPr lang="en-US" sz="1000" b="1" dirty="0">
                <a:solidFill>
                  <a:srgbClr val="42A5F5"/>
                </a:solidFill>
                <a:latin typeface="Calibri" pitchFamily="34" charset="0"/>
                <a:ea typeface="Calibri" pitchFamily="34" charset="-122"/>
                <a:cs typeface="Calibri" pitchFamily="34" charset="-120"/>
              </a:rPr>
              <a:t>🔗  Project Links</a:t>
            </a:r>
            <a:endParaRPr lang="en-US" sz="1000" dirty="0"/>
          </a:p>
        </p:txBody>
      </p:sp>
      <p:sp>
        <p:nvSpPr>
          <p:cNvPr id="72" name="Text 70"/>
          <p:cNvSpPr/>
          <p:nvPr/>
        </p:nvSpPr>
        <p:spPr>
          <a:xfrm>
            <a:off x="6949440" y="5760720"/>
            <a:ext cx="4846320" cy="182880"/>
          </a:xfrm>
          <a:prstGeom prst="rect">
            <a:avLst/>
          </a:prstGeom>
          <a:noFill/>
          <a:ln/>
        </p:spPr>
        <p:txBody>
          <a:bodyPr wrap="square" rtlCol="0" anchor="ctr"/>
          <a:lstStyle/>
          <a:p>
            <a:pPr indent="0" marL="0">
              <a:buNone/>
            </a:pPr>
            <a:r>
              <a:rPr lang="en-US" sz="900" dirty="0">
                <a:solidFill>
                  <a:srgbClr val="BBDEFB"/>
                </a:solidFill>
                <a:latin typeface="Calibri" pitchFamily="34" charset="0"/>
                <a:ea typeface="Calibri" pitchFamily="34" charset="-122"/>
                <a:cs typeface="Calibri" pitchFamily="34" charset="-120"/>
              </a:rPr>
              <a:t>Wokwi Simulation:  wokwi.com/projects/464159002953560065</a:t>
            </a:r>
            <a:endParaRPr lang="en-US" sz="900" dirty="0"/>
          </a:p>
        </p:txBody>
      </p:sp>
      <p:sp>
        <p:nvSpPr>
          <p:cNvPr id="73" name="Text 71"/>
          <p:cNvSpPr/>
          <p:nvPr/>
        </p:nvSpPr>
        <p:spPr>
          <a:xfrm>
            <a:off x="6949440" y="5943600"/>
            <a:ext cx="4846320" cy="182880"/>
          </a:xfrm>
          <a:prstGeom prst="rect">
            <a:avLst/>
          </a:prstGeom>
          <a:noFill/>
          <a:ln/>
        </p:spPr>
        <p:txBody>
          <a:bodyPr wrap="square" rtlCol="0" anchor="ctr"/>
          <a:lstStyle/>
          <a:p>
            <a:pPr indent="0" marL="0">
              <a:buNone/>
            </a:pPr>
            <a:r>
              <a:rPr lang="en-US" sz="900" dirty="0">
                <a:solidFill>
                  <a:srgbClr val="BBDEFB"/>
                </a:solidFill>
                <a:latin typeface="Calibri" pitchFamily="34" charset="0"/>
                <a:ea typeface="Calibri" pitchFamily="34" charset="-122"/>
                <a:cs typeface="Calibri" pitchFamily="34" charset="-120"/>
              </a:rPr>
              <a:t>Web Dashboard:  ietp-prototype.vercel.app/light</a:t>
            </a:r>
            <a:endParaRPr lang="en-US" sz="900" dirty="0"/>
          </a:p>
        </p:txBody>
      </p:sp>
      <p:sp>
        <p:nvSpPr>
          <p:cNvPr id="74" name="Text 72"/>
          <p:cNvSpPr/>
          <p:nvPr/>
        </p:nvSpPr>
        <p:spPr>
          <a:xfrm>
            <a:off x="320040" y="6400800"/>
            <a:ext cx="6035040" cy="274320"/>
          </a:xfrm>
          <a:prstGeom prst="rect">
            <a:avLst/>
          </a:prstGeom>
          <a:noFill/>
          <a:ln/>
        </p:spPr>
        <p:txBody>
          <a:bodyPr wrap="square" rtlCol="0" anchor="ctr"/>
          <a:lstStyle/>
          <a:p>
            <a:pPr algn="ctr" indent="0" marL="0">
              <a:buNone/>
            </a:pPr>
            <a:r>
              <a:rPr lang="en-US" sz="1500" b="1" i="1" dirty="0">
                <a:solidFill>
                  <a:srgbClr val="0D2B5E"/>
                </a:solidFill>
                <a:latin typeface="Calibri" pitchFamily="34" charset="0"/>
                <a:ea typeface="Calibri" pitchFamily="34" charset="-122"/>
                <a:cs typeface="Calibri" pitchFamily="34" charset="-120"/>
              </a:rPr>
              <a:t>Thank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2026-05-20T19:41:09Z</dcterms:created>
  <dcterms:modified xsi:type="dcterms:W3CDTF">2026-05-20T19:41:09Z</dcterms:modified>
</cp:coreProperties>
</file>